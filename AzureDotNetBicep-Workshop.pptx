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0" r:id="rId1"/>
  </p:sldMasterIdLst>
  <p:notesMasterIdLst>
    <p:notesMasterId r:id="rId62"/>
  </p:notesMasterIdLst>
  <p:sldIdLst>
    <p:sldId id="257" r:id="rId2"/>
    <p:sldId id="285" r:id="rId3"/>
    <p:sldId id="569" r:id="rId4"/>
    <p:sldId id="531" r:id="rId5"/>
    <p:sldId id="570" r:id="rId6"/>
    <p:sldId id="326" r:id="rId7"/>
    <p:sldId id="369" r:id="rId8"/>
    <p:sldId id="410" r:id="rId9"/>
    <p:sldId id="533" r:id="rId10"/>
    <p:sldId id="534" r:id="rId11"/>
    <p:sldId id="571" r:id="rId12"/>
    <p:sldId id="568" r:id="rId13"/>
    <p:sldId id="572" r:id="rId14"/>
    <p:sldId id="541" r:id="rId15"/>
    <p:sldId id="463" r:id="rId16"/>
    <p:sldId id="573" r:id="rId17"/>
    <p:sldId id="543" r:id="rId18"/>
    <p:sldId id="544" r:id="rId19"/>
    <p:sldId id="551" r:id="rId20"/>
    <p:sldId id="574" r:id="rId21"/>
    <p:sldId id="537" r:id="rId22"/>
    <p:sldId id="542" r:id="rId23"/>
    <p:sldId id="535" r:id="rId24"/>
    <p:sldId id="575" r:id="rId25"/>
    <p:sldId id="576" r:id="rId26"/>
    <p:sldId id="577" r:id="rId27"/>
    <p:sldId id="578" r:id="rId28"/>
    <p:sldId id="579" r:id="rId29"/>
    <p:sldId id="536" r:id="rId30"/>
    <p:sldId id="580" r:id="rId31"/>
    <p:sldId id="539" r:id="rId32"/>
    <p:sldId id="538" r:id="rId33"/>
    <p:sldId id="582" r:id="rId34"/>
    <p:sldId id="581" r:id="rId35"/>
    <p:sldId id="540" r:id="rId36"/>
    <p:sldId id="583" r:id="rId37"/>
    <p:sldId id="555" r:id="rId38"/>
    <p:sldId id="557" r:id="rId39"/>
    <p:sldId id="558" r:id="rId40"/>
    <p:sldId id="559" r:id="rId41"/>
    <p:sldId id="553" r:id="rId42"/>
    <p:sldId id="556" r:id="rId43"/>
    <p:sldId id="554" r:id="rId44"/>
    <p:sldId id="546" r:id="rId45"/>
    <p:sldId id="584" r:id="rId46"/>
    <p:sldId id="566" r:id="rId47"/>
    <p:sldId id="545" r:id="rId48"/>
    <p:sldId id="547" r:id="rId49"/>
    <p:sldId id="550" r:id="rId50"/>
    <p:sldId id="548" r:id="rId51"/>
    <p:sldId id="549" r:id="rId52"/>
    <p:sldId id="561" r:id="rId53"/>
    <p:sldId id="563" r:id="rId54"/>
    <p:sldId id="564" r:id="rId55"/>
    <p:sldId id="565" r:id="rId56"/>
    <p:sldId id="567" r:id="rId57"/>
    <p:sldId id="368" r:id="rId58"/>
    <p:sldId id="490" r:id="rId59"/>
    <p:sldId id="400" r:id="rId60"/>
    <p:sldId id="337" r:id="rId6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69B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66" autoAdjust="0"/>
    <p:restoredTop sz="85000" autoAdjust="0"/>
  </p:normalViewPr>
  <p:slideViewPr>
    <p:cSldViewPr snapToGrid="0">
      <p:cViewPr>
        <p:scale>
          <a:sx n="78" d="100"/>
          <a:sy n="78" d="100"/>
        </p:scale>
        <p:origin x="-1455" y="435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BF47D1-607F-45EE-AE63-C10CF3AC8DD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074461-D808-4EBD-B8B3-953FBFCC6E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712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8173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5822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B5EFC-789D-DB08-EA8A-771BF87AA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DC4CF8-8FB3-4AF6-E6FC-4714EA5FF8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DBC9FA-497E-A4E6-0605-3C056986B3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07AA21-3ABE-EE35-EEBC-5D3BDC33EFD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18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8390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5AFE2E-4FF1-34AA-1E0C-B13FC4E55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532EFA-4CEB-0975-CC72-A667A76715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243F7E-04E5-106C-63BA-C6E78A7377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F01EFB-C965-E8ED-E195-AC9761D3C5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35354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7642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053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7374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3649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4006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57AE3-6738-A0D7-BE77-3B109ADEC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495731-CDF4-20F6-1C2A-4FD7D7AFC1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932387-A611-2D70-84D3-E3D8892A3B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31E8EE-6C99-0AC9-87FB-9DFB62E71B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17694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8653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DD25A-774C-CB9F-5369-203E2724F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E2FB7C-5A14-FFA4-580A-A57453FFA4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53CFA5-6663-B4D9-65BA-9C5ED6A316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DA840A-5B1D-87DE-A96F-D167411B41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31710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9048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151412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045277-B5AC-E8AA-1B3B-62E4B9DE9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683564-6FC9-E80F-1523-1E749CEF1C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2E9456-C17F-F1BB-32CE-A70D53DE23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0A6745-B12E-1174-378F-1B090EA060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44138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63639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49222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751644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363B85-5CCA-8D12-4BDD-A63C0F960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5FFA1C-2D79-5F25-CC1B-93B39AAFB5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2A04AB-5242-51A5-3609-59015F3082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82350F-7547-AA00-BA4D-6413C94DC4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54716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91208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708079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27378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1BAD4D-7957-E104-FF56-F5785B8D8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192B5D-BC31-03C6-520C-2C5B634AA8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53B6FC-A06E-A9B4-89B6-70C7F558FA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620C1B-772E-D5D2-E0CF-1A19A2AFB45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18263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F2444D-B284-3BB3-7FA0-12AB5D6F7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24EEA4-7CD2-27DD-B291-F6EAACC473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732AA5-02B2-E9CC-EFAF-3B030F412A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16A08-766F-666C-B025-F295F68303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74502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95C56-B73D-4D5B-1FA8-CEA69A3094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B4BD6A-AC0E-8D18-DB79-7926413B7A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EF2834-24F4-91F3-4523-E234B947AE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2BB875-4C56-4A79-3A41-93796BF1C0F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15390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6677D2-39DB-4C8F-039C-127A1F616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372A27-BD41-EBAB-993C-8DBE92301F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564CA9-0945-FD61-399F-0FDCFC83FD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D0CE94-BE21-9E67-F09A-346E238F8A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28683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8BB158-ED0D-CA0D-A40C-54DB7C978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D0DF5D-F32C-2C05-EDC8-E6C6855200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5B460B-9A62-D046-D9A2-66247F0E1A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5FD24A-D52B-607D-8CC0-35C988F346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011378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D1D2D3"/>
                </a:solidFill>
                <a:effectLst/>
                <a:latin typeface="Slack-Lato"/>
              </a:rPr>
              <a:t>- app service plan in relation to app services</a:t>
            </a:r>
          </a:p>
          <a:p>
            <a:pPr algn="l"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D1D2D3"/>
                </a:solidFill>
                <a:effectLst/>
                <a:latin typeface="Slack-Lato"/>
              </a:rPr>
              <a:t>- PaaS nature and all that it handles (server patches, OS patches, Certs, custom domains, </a:t>
            </a:r>
            <a:r>
              <a:rPr lang="en-US" b="0" i="0" dirty="0" err="1">
                <a:solidFill>
                  <a:srgbClr val="D1D2D3"/>
                </a:solidFill>
                <a:effectLst/>
                <a:latin typeface="Slack-Lato"/>
              </a:rPr>
              <a:t>etc</a:t>
            </a:r>
            <a:r>
              <a:rPr lang="en-US" b="0" i="0" dirty="0">
                <a:solidFill>
                  <a:srgbClr val="D1D2D3"/>
                </a:solidFill>
                <a:effectLst/>
                <a:latin typeface="Slack-Lato"/>
              </a:rPr>
              <a:t>)</a:t>
            </a:r>
          </a:p>
          <a:p>
            <a:pPr algn="l"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D1D2D3"/>
                </a:solidFill>
                <a:effectLst/>
                <a:latin typeface="Slack-Lato"/>
              </a:rPr>
              <a:t>- Env vars</a:t>
            </a:r>
          </a:p>
          <a:p>
            <a:pPr algn="l"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D1D2D3"/>
                </a:solidFill>
                <a:effectLst/>
                <a:latin typeface="Slack-Lato"/>
              </a:rPr>
              <a:t>- what slots are</a:t>
            </a:r>
          </a:p>
          <a:p>
            <a:pPr algn="l"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D1D2D3"/>
                </a:solidFill>
                <a:effectLst/>
                <a:latin typeface="Slack-Lato"/>
              </a:rPr>
              <a:t>- Kudu is a thing that exists and why it’s useful</a:t>
            </a:r>
          </a:p>
          <a:p>
            <a:pPr algn="l"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D1D2D3"/>
                </a:solidFill>
                <a:effectLst/>
                <a:latin typeface="Slack-Lato"/>
              </a:rPr>
              <a:t>- Log stream for really bad stuff going down </a:t>
            </a:r>
            <a:r>
              <a:rPr lang="en-US" b="0" i="0" dirty="0" err="1">
                <a:solidFill>
                  <a:srgbClr val="D1D2D3"/>
                </a:solidFill>
                <a:effectLst/>
                <a:latin typeface="Slack-Lato"/>
              </a:rPr>
              <a:t>bc</a:t>
            </a:r>
            <a:r>
              <a:rPr lang="en-US" b="0" i="0" dirty="0">
                <a:solidFill>
                  <a:srgbClr val="D1D2D3"/>
                </a:solidFill>
                <a:effectLst/>
                <a:latin typeface="Slack-Lato"/>
              </a:rPr>
              <a:t> ideally you’re using AppInsights or Log Analytics</a:t>
            </a:r>
          </a:p>
          <a:p>
            <a:pPr marL="171450" indent="-171450" algn="l">
              <a:buFontTx/>
              <a:buChar char="-"/>
            </a:pPr>
            <a:r>
              <a:rPr lang="en-US" b="0" i="0" dirty="0">
                <a:solidFill>
                  <a:srgbClr val="D1D2D3"/>
                </a:solidFill>
                <a:effectLst/>
                <a:latin typeface="Slack-Lato"/>
              </a:rPr>
              <a:t>The app running at a URL</a:t>
            </a:r>
          </a:p>
          <a:p>
            <a:pPr marL="171450" indent="-171450" algn="l">
              <a:buFontTx/>
              <a:buChar char="-"/>
            </a:pPr>
            <a:r>
              <a:rPr lang="en-US" b="0" i="0" dirty="0">
                <a:solidFill>
                  <a:srgbClr val="D1D2D3"/>
                </a:solidFill>
                <a:effectLst/>
                <a:latin typeface="Slack-Lato"/>
              </a:rPr>
              <a:t>Click on it and go to /</a:t>
            </a:r>
            <a:r>
              <a:rPr lang="en-US" b="0" i="0" dirty="0" err="1">
                <a:solidFill>
                  <a:srgbClr val="D1D2D3"/>
                </a:solidFill>
                <a:effectLst/>
                <a:latin typeface="Slack-Lato"/>
              </a:rPr>
              <a:t>api</a:t>
            </a:r>
            <a:r>
              <a:rPr lang="en-US" b="0" i="0" dirty="0">
                <a:solidFill>
                  <a:srgbClr val="D1D2D3"/>
                </a:solidFill>
                <a:effectLst/>
                <a:latin typeface="Slack-Lato"/>
              </a:rPr>
              <a:t>/</a:t>
            </a:r>
            <a:r>
              <a:rPr lang="en-US" b="0" i="0" dirty="0" err="1">
                <a:solidFill>
                  <a:srgbClr val="D1D2D3"/>
                </a:solidFill>
                <a:effectLst/>
                <a:latin typeface="Slack-Lato"/>
              </a:rPr>
              <a:t>weatherforecast</a:t>
            </a:r>
            <a:r>
              <a:rPr lang="en-US" b="0" i="0" dirty="0">
                <a:solidFill>
                  <a:srgbClr val="D1D2D3"/>
                </a:solidFill>
                <a:effectLst/>
                <a:latin typeface="Slack-Lato"/>
              </a:rPr>
              <a:t> and /</a:t>
            </a:r>
            <a:r>
              <a:rPr lang="en-US" b="0" i="0" dirty="0" err="1">
                <a:solidFill>
                  <a:srgbClr val="D1D2D3"/>
                </a:solidFill>
                <a:effectLst/>
                <a:latin typeface="Slack-Lato"/>
              </a:rPr>
              <a:t>api</a:t>
            </a:r>
            <a:r>
              <a:rPr lang="en-US" b="0" i="0" dirty="0">
                <a:solidFill>
                  <a:srgbClr val="D1D2D3"/>
                </a:solidFill>
                <a:effectLst/>
                <a:latin typeface="Slack-Lato"/>
              </a:rPr>
              <a:t>/</a:t>
            </a:r>
            <a:r>
              <a:rPr lang="en-US" b="0" i="0" dirty="0" err="1">
                <a:solidFill>
                  <a:srgbClr val="D1D2D3"/>
                </a:solidFill>
                <a:effectLst/>
                <a:latin typeface="Slack-Lato"/>
              </a:rPr>
              <a:t>weatherforecast</a:t>
            </a:r>
            <a:r>
              <a:rPr lang="en-US" b="0" i="0" dirty="0">
                <a:solidFill>
                  <a:srgbClr val="D1D2D3"/>
                </a:solidFill>
                <a:effectLst/>
                <a:latin typeface="Slack-Lato"/>
              </a:rPr>
              <a:t>/slow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023480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52A57-FC26-9289-7EC1-17AE9A9EA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92635C-59CB-F6D9-99C7-35FC08419A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6FC761-A86F-089A-D9B8-AE901F52EF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7B5114-DD40-73C1-DB34-D8D75D53BD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200449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222862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04983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FBF3CF-9460-5E61-E03A-E34F81DF9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D52087-79D1-58CF-1CCD-8F152A1378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E8FFF2-3107-F936-2FB9-3AE8E76D19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C4631D-9D4E-D465-A315-783870F325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845677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D84AD2-E88E-1F23-0133-325E8DAA9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275FBF-E3E9-24E1-562A-07711B95C6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A6B049-DACB-4808-9C7A-B490FF2A07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14DF40-F17E-585E-9ACA-4806620733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31687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02905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1E19EE-BF31-751A-0595-F6594C059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A426E1-1BA1-B106-A063-EC3390C271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45E2E2-8E32-E68C-2D0F-22E3611BC5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CEB1BB-AB92-0F6E-34F0-507A24EEF2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27881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we can reference resources from one another</a:t>
            </a:r>
          </a:p>
          <a:p>
            <a:endParaRPr lang="en-US" dirty="0"/>
          </a:p>
          <a:p>
            <a:r>
              <a:rPr lang="en-US" dirty="0"/>
              <a:t>This also tells Bicep – create the App Service Plan first before creating the App Service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25351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 with the previous example is those names are hardcoded right. But we probably want like a Dev + Prod name</a:t>
            </a:r>
          </a:p>
          <a:p>
            <a:endParaRPr lang="en-US" dirty="0"/>
          </a:p>
          <a:p>
            <a:r>
              <a:rPr lang="en-US" dirty="0"/>
              <a:t>But how do we create this name dynamically?</a:t>
            </a:r>
          </a:p>
          <a:p>
            <a:endParaRPr lang="en-US" dirty="0"/>
          </a:p>
          <a:p>
            <a:r>
              <a:rPr lang="en-US" dirty="0"/>
              <a:t>Enter Parameter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146271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can store all your Dev values together in a single file</a:t>
            </a:r>
          </a:p>
          <a:p>
            <a:endParaRPr lang="en-US" dirty="0"/>
          </a:p>
          <a:p>
            <a:r>
              <a:rPr lang="en-US" dirty="0"/>
              <a:t>The using tells it what parameters are required and even works with the @allowed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01422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23065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50855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085891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48806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28494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4A7C5-B595-A7C2-2D35-FEC9A1EE1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25DCEC-A6AF-88F7-55E6-FC98613DAC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41934D-D8AF-162B-9422-FC1EA0F7D3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9CD28B-D329-4E3F-8B89-9FA1301F75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76673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413461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37152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175136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4602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92726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665314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91713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150387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54164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86451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930557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301256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859853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074461-D808-4EBD-B8B3-953FBFCC6ED3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6115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70D549-F609-4ED3-8963-AF0CBF3680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CAA17A-1098-419A-8585-E680D81178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9A151D-61BD-48D1-8C67-4C327383A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F2526-C75C-47BE-928B-0135A92A66B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72C576-331D-4E09-88E2-6EB25C684F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359541-EA62-4109-ABD5-F105A295B7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E6D87-DEBB-4D35-A363-8431759C7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211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95D01-CAFE-4A1A-A804-F23913EB3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DBD820-3F0E-466E-9035-C5A24E697D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D017A9-4DF9-4FBC-8DFE-1AF8ABE96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F2526-C75C-47BE-928B-0135A92A66B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C97CE-189D-45E0-91B2-04695DE2E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86EDA0-DDF2-410C-A702-40E5C32C2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E6D87-DEBB-4D35-A363-8431759C7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285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D84772-8467-4E19-8A52-A529C7B3DE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8A9D6B-AA2E-41FA-BDFC-46C87BDCF8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B5F044-85E8-449D-A4F3-7EAC9AD07B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F2526-C75C-47BE-928B-0135A92A66B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068485-216E-4AEA-8404-05B4ACF615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557587-3E1F-480C-81BD-741C81CE4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E6D87-DEBB-4D35-A363-8431759C7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8658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F0DC6-DE10-4E0B-BCBA-32E711C8A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C68941-20E5-4343-8250-265C6DAC54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677973-E72E-4CC0-8D61-FCCC8406C1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EFF417-B339-40DE-B352-1ECEDBB7B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F2526-C75C-47BE-928B-0135A92A66B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45B31E-728B-4DBE-8BD9-E37BC320A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D743D7-ECE6-4EEE-A8EE-EFB4DBFE5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E6D87-DEBB-4D35-A363-8431759C7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46457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55A82E-579C-45F5-A951-1E10C98D14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672278-8C31-4955-BCB5-81132BB5FB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B4B5AF-BC8F-4D55-B34E-3947255AEB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8C4CE63-7562-4D15-BD15-363CDC2145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0026435-DAAC-4A88-8E75-D1C9066E3A8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66F1FBD-42A5-4A9E-8F95-934AAA624C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F2526-C75C-47BE-928B-0135A92A66B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63529DF-CBEB-4F8A-AE4A-1E17ED0E3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A11928E-44C3-496F-B06D-DE65B8B56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E6D87-DEBB-4D35-A363-8431759C7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2585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1837D-0203-44E9-A800-75FB3F0C90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7691E0-63A3-4F58-8784-3CF3D4825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F2526-C75C-47BE-928B-0135A92A66B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43B4FF-56D4-4561-8AA0-715AC2EF1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24245B-8F4F-4989-8B66-F14D9F460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E6D87-DEBB-4D35-A363-8431759C7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14748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597D826-C0CD-4DA3-9804-3B37794D9B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F2526-C75C-47BE-928B-0135A92A66B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B73DFA2-D509-44F1-BB96-FF03916E0E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BF2E06-E28D-4612-9A89-EBD147748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E6D87-DEBB-4D35-A363-8431759C7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92002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9EA060-F102-4A2F-A00A-664EF54800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9E5B43-3611-4819-A036-8C5F1E42B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EA2AB7-BFE4-490A-AFEB-5A016701BA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585B19-24B8-4C1F-89D6-5412D09275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F2526-C75C-47BE-928B-0135A92A66B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179F1F-F5FB-498D-A4C7-6EDC1DD78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A78AB6-BF35-4C0B-B331-22ED520AE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E6D87-DEBB-4D35-A363-8431759C7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8721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6FE43-BAB1-41F0-BFF0-94DD8B3F4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2C826E6-5590-4624-A426-EE1A424BC7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D4AF21-041F-4FA7-87E4-B870EDA36B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47AF2C-DB15-4789-9385-B5DB533244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F2526-C75C-47BE-928B-0135A92A66B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F65690-CB51-4930-B426-18021D38F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4FFDAB-4B46-4100-A689-0064DB52B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E6D87-DEBB-4D35-A363-8431759C7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07250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74FE6-F914-41AA-88EC-E4EB246CE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76D8E4-7B81-43C8-9E0C-E6D9BBE6A4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C0A446-E986-479F-865A-253DDD95A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F2526-C75C-47BE-928B-0135A92A66B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962C5E-6BC2-4157-896F-20C3B395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2CA8BB-B7DC-49ED-A1F9-454493196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E6D87-DEBB-4D35-A363-8431759C7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9139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1BD8934-B74E-4AE0-B765-ECE3C9A074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A56AB3-C0E0-4C3D-B3A4-916BF6C313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742220-AFF0-42C5-AF12-AD2AC57698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F2526-C75C-47BE-928B-0135A92A66B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BED1E5-E582-4C65-900E-24E56C3987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9EE9A6-F609-4B8B-AE51-59399BB00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E6D87-DEBB-4D35-A363-8431759C7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5957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8D6E2E7-5F4D-4B43-B201-1C682CF80B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CA8DF1-9081-4F65-B36D-44EAFBA9C7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3121AD-9DC3-463F-98F7-B2E1CA5400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BF2526-C75C-47BE-928B-0135A92A66B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00C0D7-400D-4BA6-BC06-CFC5FBDCFC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2E6C9D-08DD-4E4B-8A70-A4B32C36A2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CE6D87-DEBB-4D35-A363-8431759C7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3254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cottsauber/workshop-dotnet-azure-github-bicep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hyperlink" Target="https://dot.net/" TargetMode="External"/><Relationship Id="rId4" Type="http://schemas.openxmlformats.org/officeDocument/2006/relationships/hyperlink" Target="mailto:scott@saubersoftware.com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hyperlink" Target="https://leantechniques.com/" TargetMode="External"/><Relationship Id="rId7" Type="http://schemas.openxmlformats.org/officeDocument/2006/relationships/hyperlink" Target="https://www.red-gate.com/hub/events/friends-of-rg/friend/ScottSauber" TargetMode="External"/><Relationship Id="rId12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meetup.com/iadnug/" TargetMode="External"/><Relationship Id="rId11" Type="http://schemas.openxmlformats.org/officeDocument/2006/relationships/image" Target="../media/image6.jpeg"/><Relationship Id="rId5" Type="http://schemas.openxmlformats.org/officeDocument/2006/relationships/hyperlink" Target="https://dometrain.com/author/scott-sauber/" TargetMode="External"/><Relationship Id="rId10" Type="http://schemas.openxmlformats.org/officeDocument/2006/relationships/image" Target="../media/image5.jpeg"/><Relationship Id="rId4" Type="http://schemas.openxmlformats.org/officeDocument/2006/relationships/hyperlink" Target="https://mvp.microsoft.com/en-us/PublicProfile/5005146?fullName=Scott%20%20Sauber" TargetMode="External"/><Relationship Id="rId9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azure/cloud-adoption-framework/ready/azure-best-practices/resource-abbreviations#compute-and-web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ora.dev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hyperlink" Target="https://dora.dev/capabilities/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sv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azure/templates/microsoft.web/sites?pivots=deployment-language-bicep" TargetMode="Externa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cottsauber/workshop-dotnet-azure-github-bicep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cottsauber/workshop-dotnet-azure-github-bicep" TargetMode="External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E7171-AFDD-4862-9A69-284665CD33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1532573"/>
            <a:ext cx="12192000" cy="3655653"/>
          </a:xfrm>
        </p:spPr>
        <p:txBody>
          <a:bodyPr>
            <a:noAutofit/>
          </a:bodyPr>
          <a:lstStyle/>
          <a:p>
            <a:r>
              <a:rPr lang="en-US" sz="80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Deploying a .NET 10 App</a:t>
            </a:r>
            <a:br>
              <a:rPr lang="en-US" sz="80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80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to Azure using </a:t>
            </a:r>
            <a:br>
              <a:rPr lang="en-US" sz="80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80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Bicep and GitHub Actions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938EF936-BB12-46CA-86F7-049CEBB8D2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7446" y="6295281"/>
            <a:ext cx="12192000" cy="525294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Slides at scottsauber.com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8F464C5-3076-4402-9791-59D524AC8DC8}"/>
              </a:ext>
            </a:extLst>
          </p:cNvPr>
          <p:cNvGrpSpPr/>
          <p:nvPr/>
        </p:nvGrpSpPr>
        <p:grpSpPr>
          <a:xfrm>
            <a:off x="10085456" y="6295281"/>
            <a:ext cx="2106544" cy="474323"/>
            <a:chOff x="9994831" y="6185410"/>
            <a:chExt cx="2106544" cy="474323"/>
          </a:xfrm>
        </p:grpSpPr>
        <p:pic>
          <p:nvPicPr>
            <p:cNvPr id="6" name="Picture 2" descr="Image result for twitter logo">
              <a:extLst>
                <a:ext uri="{FF2B5EF4-FFF2-40B4-BE49-F238E27FC236}">
                  <a16:creationId xmlns:a16="http://schemas.microsoft.com/office/drawing/2014/main" id="{BF5CBA11-98FF-4FEC-A8EF-50E5FADF0F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94831" y="6267602"/>
              <a:ext cx="328512" cy="2667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Subtitle 2">
              <a:extLst>
                <a:ext uri="{FF2B5EF4-FFF2-40B4-BE49-F238E27FC236}">
                  <a16:creationId xmlns:a16="http://schemas.microsoft.com/office/drawing/2014/main" id="{9B9DABC1-AB03-4BB4-80DE-954141378043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/>
                  </a:solidFill>
                </a:rPr>
                <a:t>scottsauber</a:t>
              </a:r>
              <a:endParaRPr lang="en-US" dirty="0">
                <a:solidFill>
                  <a:schemeClr val="bg1"/>
                </a:solidFill>
              </a:endParaRPr>
            </a:p>
          </p:txBody>
        </p:sp>
        <p:pic>
          <p:nvPicPr>
            <p:cNvPr id="8" name="Picture 2" descr="Image result for twitter logo">
              <a:extLst>
                <a:ext uri="{FF2B5EF4-FFF2-40B4-BE49-F238E27FC236}">
                  <a16:creationId xmlns:a16="http://schemas.microsoft.com/office/drawing/2014/main" id="{9312450C-A15A-4CF9-8CFC-DDCA027CB85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94831" y="6290606"/>
              <a:ext cx="328512" cy="2667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4306798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What you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929403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Required:</a:t>
            </a:r>
          </a:p>
          <a:p>
            <a:pPr lvl="1"/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An editor of some sort</a:t>
            </a:r>
          </a:p>
          <a:p>
            <a:pPr lvl="1"/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GitHub account</a:t>
            </a:r>
          </a:p>
          <a:p>
            <a:pPr lvl="1"/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Some basic Git experience (clone, commit, push, pull)</a:t>
            </a:r>
          </a:p>
          <a:p>
            <a:pPr lvl="1"/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Fork this repo: </a:t>
            </a:r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  <a:hlinkClick r:id="rId3"/>
              </a:rPr>
              <a:t>https://github.com/scottsauber/workshop-dotnet-azure-github-bicep</a:t>
            </a:r>
            <a:endParaRPr lang="en-US" dirty="0"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Email </a:t>
            </a:r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  <a:hlinkClick r:id="rId4"/>
              </a:rPr>
              <a:t>scott@saubersoftware.com</a:t>
            </a:r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 if you’re doing hands on to get free Azure access</a:t>
            </a:r>
          </a:p>
          <a:p>
            <a:pPr lvl="1"/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Email you will use for Azure</a:t>
            </a:r>
          </a:p>
          <a:p>
            <a:pPr lvl="1"/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GitHub username</a:t>
            </a:r>
          </a:p>
          <a:p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Optional:</a:t>
            </a:r>
          </a:p>
          <a:p>
            <a:pPr lvl="1"/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.NET 10 (</a:t>
            </a:r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  <a:hlinkClick r:id="rId5"/>
              </a:rPr>
              <a:t>https://dot.net</a:t>
            </a:r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) </a:t>
            </a:r>
          </a:p>
          <a:p>
            <a:pPr lvl="1"/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Editor/IDE that supports .NET 10 (Rider 2025.3+, VS 2026+, VS Code)</a:t>
            </a:r>
          </a:p>
          <a:p>
            <a:pPr lvl="1"/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Bicep extensions are recommended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7E530A9-A079-9015-8E7F-D7E9526B55AF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C277CDDD-BFE1-7D75-B431-61E190B8E121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4D9DCB6-52BD-64A7-D767-D4190FF85625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6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7641058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55639-B52D-B298-21C0-B0A055468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B5596-AF0A-76AA-470D-FC334FD3A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What we all need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7129BF-F744-AFE7-95A7-DDDF3C2329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929403"/>
          </a:xfrm>
        </p:spPr>
        <p:txBody>
          <a:bodyPr>
            <a:normAutofit/>
          </a:bodyPr>
          <a:lstStyle/>
          <a:p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Azure to not go down</a:t>
            </a:r>
          </a:p>
          <a:p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GitHub to not go down</a:t>
            </a:r>
          </a:p>
          <a:p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GitHub Actions to not go down</a:t>
            </a:r>
          </a:p>
          <a:p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The conference interest to not go down</a:t>
            </a:r>
          </a:p>
          <a:p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🙏🙏🙏🙏🙏</a:t>
            </a:r>
          </a:p>
          <a:p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(I do have recordings if needed but that’s less fun)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8E87BA7-AFC2-6298-74B9-0E0C8249D68E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DBFC745B-37CD-BC28-8A4F-4B4A8595F3E9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CC1C59B-C48D-6B97-95BC-B985CD5DAED3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31229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Audience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79637"/>
          </a:xfrm>
        </p:spPr>
        <p:txBody>
          <a:bodyPr>
            <a:normAutofit/>
          </a:bodyPr>
          <a:lstStyle/>
          <a:p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Anyone interested in Azure, GitHub, or Bicep</a:t>
            </a:r>
          </a:p>
          <a:p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.NET Developers</a:t>
            </a:r>
          </a:p>
          <a:p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People interested in DevOps, but never got to do it</a:t>
            </a:r>
          </a:p>
          <a:p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People willing to ask questions – ask away – don’t wait!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7E530A9-A079-9015-8E7F-D7E9526B55AF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C277CDDD-BFE1-7D75-B431-61E190B8E121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4D9DCB6-52BD-64A7-D767-D4190FF85625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990221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E73CC-C2E5-AA8B-1F40-3BB0E1F90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6DA076-E9D5-72B4-6088-D762A40E1B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Poll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E85BBB-D37B-3BF8-5AA1-E89AF1DDD6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134600" cy="4351338"/>
          </a:xfrm>
        </p:spPr>
        <p:txBody>
          <a:bodyPr/>
          <a:lstStyle/>
          <a:p>
            <a:r>
              <a:rPr lang="en-US" dirty="0"/>
              <a:t>How many .NET Developers in the room?</a:t>
            </a:r>
          </a:p>
          <a:p>
            <a:r>
              <a:rPr lang="en-US" dirty="0"/>
              <a:t>How many using Azure today?</a:t>
            </a:r>
          </a:p>
          <a:p>
            <a:r>
              <a:rPr lang="en-US" dirty="0"/>
              <a:t>How many aren’t using Azure?</a:t>
            </a:r>
          </a:p>
          <a:p>
            <a:r>
              <a:rPr lang="en-US" dirty="0"/>
              <a:t>How many have used Bicep?</a:t>
            </a:r>
          </a:p>
          <a:p>
            <a:r>
              <a:rPr lang="en-US" dirty="0"/>
              <a:t>What about another IAC tool?</a:t>
            </a:r>
          </a:p>
          <a:p>
            <a:r>
              <a:rPr lang="en-US" dirty="0"/>
              <a:t>How many are using GitHub Actions today?</a:t>
            </a:r>
          </a:p>
          <a:p>
            <a:r>
              <a:rPr lang="en-US" dirty="0"/>
              <a:t>How many are using something else?</a:t>
            </a:r>
          </a:p>
          <a:p>
            <a:r>
              <a:rPr lang="en-US" dirty="0"/>
              <a:t>Why are you here? What do you want to learn?</a:t>
            </a:r>
          </a:p>
        </p:txBody>
      </p:sp>
    </p:spTree>
    <p:extLst>
      <p:ext uri="{BB962C8B-B14F-4D97-AF65-F5344CB8AC3E}">
        <p14:creationId xmlns:p14="http://schemas.microsoft.com/office/powerpoint/2010/main" val="152910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78095"/>
          </a:xfrm>
        </p:spPr>
        <p:txBody>
          <a:bodyPr>
            <a:normAutofit/>
          </a:bodyPr>
          <a:lstStyle/>
          <a:p>
            <a:r>
              <a:rPr lang="en-US" dirty="0"/>
              <a:t>What is the final state of what we’re building?</a:t>
            </a:r>
          </a:p>
          <a:p>
            <a:r>
              <a:rPr lang="en-US" dirty="0"/>
              <a:t>What is Azure?</a:t>
            </a:r>
          </a:p>
          <a:p>
            <a:r>
              <a:rPr lang="en-US" dirty="0"/>
              <a:t>What is Azure App Service? Plans?</a:t>
            </a:r>
          </a:p>
          <a:p>
            <a:r>
              <a:rPr lang="en-US" dirty="0"/>
              <a:t>What is Bicep?</a:t>
            </a:r>
          </a:p>
          <a:p>
            <a:r>
              <a:rPr lang="en-US" dirty="0"/>
              <a:t>What are GitHub Actions?</a:t>
            </a:r>
          </a:p>
          <a:p>
            <a:r>
              <a:rPr lang="en-US" dirty="0"/>
              <a:t>Hands on all throughout</a:t>
            </a:r>
          </a:p>
          <a:p>
            <a:r>
              <a:rPr lang="en-US" dirty="0"/>
              <a:t>This is a 2 day workshop, I’m </a:t>
            </a:r>
            <a:r>
              <a:rPr lang="en-US" dirty="0" err="1"/>
              <a:t>gonna</a:t>
            </a:r>
            <a:r>
              <a:rPr lang="en-US" dirty="0"/>
              <a:t> cram into 4 hours</a:t>
            </a:r>
          </a:p>
          <a:p>
            <a:r>
              <a:rPr lang="en-US" dirty="0"/>
              <a:t>There is walkthroughs if you fall behind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0BD31B0-524D-6A6F-AFE6-5316B23839E6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1E43C2D6-3785-EA13-0A41-F2528EB727BA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E38675C-DC02-2297-B884-373E4A815A04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767433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Goals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F7A8C53-9310-C497-719C-5A3536D0FE56}"/>
              </a:ext>
            </a:extLst>
          </p:cNvPr>
          <p:cNvSpPr txBox="1">
            <a:spLocks/>
          </p:cNvSpPr>
          <p:nvPr/>
        </p:nvSpPr>
        <p:spPr>
          <a:xfrm>
            <a:off x="838200" y="1779905"/>
            <a:ext cx="10515600" cy="50780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Learn GitHub Actions, Bicep, and Azure</a:t>
            </a:r>
          </a:p>
          <a:p>
            <a:r>
              <a:rPr lang="en-US" dirty="0"/>
              <a:t>How they all integrate with a .NET app</a:t>
            </a:r>
          </a:p>
          <a:p>
            <a:r>
              <a:rPr lang="en-US" dirty="0"/>
              <a:t>We likely won’t get to everything in a few hours</a:t>
            </a:r>
          </a:p>
          <a:p>
            <a:pPr lvl="1"/>
            <a:r>
              <a:rPr lang="en-US" dirty="0"/>
              <a:t>This is going to be… a lot</a:t>
            </a:r>
          </a:p>
          <a:p>
            <a:r>
              <a:rPr lang="en-US" dirty="0"/>
              <a:t>The feedback loop on this is slow</a:t>
            </a:r>
          </a:p>
          <a:p>
            <a:r>
              <a:rPr lang="en-US" dirty="0"/>
              <a:t>Take home a few things back to work, whether beginner or expert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CEB91B4-E2BE-9DC9-0086-7EEC34A95831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4" name="Subtitle 2">
              <a:extLst>
                <a:ext uri="{FF2B5EF4-FFF2-40B4-BE49-F238E27FC236}">
                  <a16:creationId xmlns:a16="http://schemas.microsoft.com/office/drawing/2014/main" id="{8A4D90AD-4CF9-D7A8-10DF-97D7659583D4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0495BA5-ADC8-BF66-0118-599F20BD2A37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475384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Who am I?	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8056808" cy="4351338"/>
          </a:xfrm>
        </p:spPr>
        <p:txBody>
          <a:bodyPr/>
          <a:lstStyle/>
          <a:p>
            <a:r>
              <a:rPr lang="en-US" dirty="0"/>
              <a:t>Director of Engineering at </a:t>
            </a:r>
            <a:r>
              <a:rPr lang="en-US" dirty="0">
                <a:hlinkClick r:id="rId3"/>
              </a:rPr>
              <a:t>Lean </a:t>
            </a:r>
            <a:r>
              <a:rPr lang="en-US" dirty="0" err="1">
                <a:hlinkClick r:id="rId3"/>
              </a:rPr>
              <a:t>TECHniques</a:t>
            </a:r>
            <a:endParaRPr lang="en-US" dirty="0"/>
          </a:p>
          <a:p>
            <a:r>
              <a:rPr lang="en-US" dirty="0">
                <a:hlinkClick r:id="rId4"/>
              </a:rPr>
              <a:t>Microsoft MVP</a:t>
            </a:r>
            <a:endParaRPr lang="en-US" dirty="0"/>
          </a:p>
          <a:p>
            <a:r>
              <a:rPr lang="en-US" dirty="0" err="1">
                <a:hlinkClick r:id="rId5"/>
              </a:rPr>
              <a:t>Dometrain</a:t>
            </a:r>
            <a:r>
              <a:rPr lang="en-US" dirty="0">
                <a:hlinkClick r:id="rId5"/>
              </a:rPr>
              <a:t> Author</a:t>
            </a:r>
            <a:endParaRPr lang="en-US" dirty="0"/>
          </a:p>
          <a:p>
            <a:r>
              <a:rPr lang="en-US" dirty="0"/>
              <a:t>Redgate Community Ambassador</a:t>
            </a:r>
          </a:p>
          <a:p>
            <a:r>
              <a:rPr lang="en-US" dirty="0"/>
              <a:t>Co-organizer of </a:t>
            </a:r>
            <a:r>
              <a:rPr lang="en-US" dirty="0">
                <a:hlinkClick r:id="rId6"/>
              </a:rPr>
              <a:t>Iowa .NET User Group</a:t>
            </a:r>
            <a:endParaRPr lang="en-US" dirty="0">
              <a:hlinkClick r:id="rId7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E7CC776C-DC3F-D0B5-5231-4112653EFC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1540000">
            <a:off x="8953197" y="4931341"/>
            <a:ext cx="2584299" cy="15893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E6AE3F5-A57F-F976-3F78-41D6E87C255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4793" y="4692048"/>
            <a:ext cx="2017351" cy="2017351"/>
          </a:xfrm>
          <a:prstGeom prst="rect">
            <a:avLst/>
          </a:prstGeom>
        </p:spPr>
      </p:pic>
      <p:pic>
        <p:nvPicPr>
          <p:cNvPr id="7" name="Picture 2" descr="Microsoft MVP Communities (@MVPAward) / X">
            <a:extLst>
              <a:ext uri="{FF2B5EF4-FFF2-40B4-BE49-F238E27FC236}">
                <a16:creationId xmlns:a16="http://schemas.microsoft.com/office/drawing/2014/main" id="{C67B11EE-26D8-F622-00D3-C0E2B30A30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4204" y="4949724"/>
            <a:ext cx="1502000" cy="150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6" descr="Courses crafted for the real world - Dometrain">
            <a:extLst>
              <a:ext uri="{FF2B5EF4-FFF2-40B4-BE49-F238E27FC236}">
                <a16:creationId xmlns:a16="http://schemas.microsoft.com/office/drawing/2014/main" id="{64A20FB0-C1F9-33B8-D3BE-E1825A53CA8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33" r="17323"/>
          <a:stretch/>
        </p:blipFill>
        <p:spPr bwMode="auto">
          <a:xfrm>
            <a:off x="5058153" y="4949723"/>
            <a:ext cx="1885907" cy="15082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 descr="Directory | Redgate Software">
            <a:extLst>
              <a:ext uri="{FF2B5EF4-FFF2-40B4-BE49-F238E27FC236}">
                <a16:creationId xmlns:a16="http://schemas.microsoft.com/office/drawing/2014/main" id="{E3052ACE-16D8-EE1A-A393-F0760EDE47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69875" y="4959710"/>
            <a:ext cx="1117569" cy="1492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555828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are we building?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.NET 10 API</a:t>
            </a:r>
          </a:p>
          <a:p>
            <a:r>
              <a:rPr lang="en-US" dirty="0"/>
              <a:t>Running on Azure App Service </a:t>
            </a:r>
          </a:p>
          <a:p>
            <a:r>
              <a:rPr lang="en-US" dirty="0"/>
              <a:t>Configured using Infrastructure as Code with Bicep</a:t>
            </a:r>
          </a:p>
          <a:p>
            <a:r>
              <a:rPr lang="en-US" dirty="0"/>
              <a:t>Deployed via GitHub Actions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4800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Features of What We’re Building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Zero Downtime Deployments</a:t>
            </a:r>
          </a:p>
          <a:p>
            <a:r>
              <a:rPr lang="en-US" dirty="0"/>
              <a:t>Infrastructure managed by code, not clicking in the Azure Portal</a:t>
            </a:r>
          </a:p>
          <a:p>
            <a:r>
              <a:rPr lang="en-US" dirty="0"/>
              <a:t>Automated Build and Deploys</a:t>
            </a:r>
          </a:p>
          <a:p>
            <a:r>
              <a:rPr lang="en-US" dirty="0">
                <a:hlinkClick r:id="rId3"/>
              </a:rPr>
              <a:t>Follows Azure Naming Standards for naming resources</a:t>
            </a:r>
            <a:endParaRPr lang="en-US" dirty="0"/>
          </a:p>
          <a:p>
            <a:r>
              <a:rPr lang="en-US" dirty="0"/>
              <a:t>Versioning your app so you know what’s deployed*</a:t>
            </a:r>
          </a:p>
          <a:p>
            <a:r>
              <a:rPr lang="en-US" dirty="0"/>
              <a:t>Health Checks*</a:t>
            </a:r>
          </a:p>
          <a:p>
            <a:r>
              <a:rPr lang="en-US" dirty="0"/>
              <a:t>Secrets in Key Vault, not Source Control*</a:t>
            </a:r>
          </a:p>
          <a:p>
            <a:r>
              <a:rPr lang="en-US" dirty="0"/>
              <a:t>Observability using Application Insights*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sz="2000" dirty="0"/>
              <a:t>* Might not get to these in 4 hours.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4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485559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0CD6AB-0DDF-A657-0DAC-68B2F1EBD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FB7CE-EBB5-32D6-E64F-638715251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Why is this important?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42FBE4-0E3E-6A87-7351-546DA52EE3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>
                <a:hlinkClick r:id="rId3"/>
              </a:rPr>
              <a:t>https://dora.dev/</a:t>
            </a:r>
            <a:r>
              <a:rPr lang="en-US" dirty="0"/>
              <a:t>  </a:t>
            </a:r>
          </a:p>
          <a:p>
            <a:r>
              <a:rPr lang="en-US" dirty="0"/>
              <a:t>DORA</a:t>
            </a:r>
          </a:p>
          <a:p>
            <a:r>
              <a:rPr lang="en-US" dirty="0"/>
              <a:t>We will touch on </a:t>
            </a:r>
            <a:r>
              <a:rPr lang="en-US" dirty="0">
                <a:hlinkClick r:id="rId4"/>
              </a:rPr>
              <a:t>6 of the 18 capabilities</a:t>
            </a:r>
            <a:r>
              <a:rPr lang="en-US" dirty="0"/>
              <a:t> listed for high performing teams: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Continuous Delivery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Deployment Automation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Flexible Infrastructure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Continuous Integration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Version Control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Monitoring/Observability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2B3E041-5CDE-A8D0-A0F8-A8A792BC66C0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10BEA5E-E495-3620-518E-FFCF7B0C1398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4964416-8F98-0D14-9E9C-76CD32AFFFFF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5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386566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1411F28B-C8B2-F43C-D886-86174CB389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673" y="725536"/>
            <a:ext cx="8699450" cy="4790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7210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F92AF-D7E6-3BAF-C146-3286F17E6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2DF6E42-F215-523D-FE38-CE0D3A47AAE9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6D20293-D463-9645-2365-F2508BAB206E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FA41FD7-3B1F-827B-355F-E53A6EF4BA20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D3F1DB15-9F35-26FD-99F7-3A661C29E9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038" y="342305"/>
            <a:ext cx="10619924" cy="6173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5706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E7171-AFDD-4862-9A69-284665CD33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6910"/>
            <a:ext cx="12192000" cy="2747938"/>
          </a:xfrm>
        </p:spPr>
        <p:txBody>
          <a:bodyPr>
            <a:normAutofit/>
          </a:bodyPr>
          <a:lstStyle/>
          <a:p>
            <a: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Azure</a:t>
            </a:r>
          </a:p>
        </p:txBody>
      </p:sp>
      <p:pic>
        <p:nvPicPr>
          <p:cNvPr id="3074" name="Picture 2" descr="Azure has a new logo, but where do you download it? Here!">
            <a:extLst>
              <a:ext uri="{FF2B5EF4-FFF2-40B4-BE49-F238E27FC236}">
                <a16:creationId xmlns:a16="http://schemas.microsoft.com/office/drawing/2014/main" id="{B4BAF72D-B99A-2D2D-4FCA-DD55E05BA7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58576" y="3074848"/>
            <a:ext cx="3074847" cy="30748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826627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is Azure?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Microsoft offering for cloud hosting</a:t>
            </a:r>
          </a:p>
          <a:p>
            <a:r>
              <a:rPr lang="en-US" dirty="0"/>
              <a:t>Offers many services from hosting web apps to databases to caching to messaging to…</a:t>
            </a:r>
          </a:p>
          <a:p>
            <a:r>
              <a:rPr lang="en-US" dirty="0"/>
              <a:t>You should probably be picking PaaS offerings (i.e. not VMs)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483138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77B72-642B-3693-F07E-208318C56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32F04C8-A0BA-ABD2-3F63-1F457ADC2895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BA4BC916-BEDD-EAE4-DF95-2706BCDB560E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E8688F9-7951-DC95-1E37-5C06B3437A49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" name="Picture 2" descr="IaaS vs. PaaS vs. SaaS">
            <a:extLst>
              <a:ext uri="{FF2B5EF4-FFF2-40B4-BE49-F238E27FC236}">
                <a16:creationId xmlns:a16="http://schemas.microsoft.com/office/drawing/2014/main" id="{D3823EC2-4C91-2450-F1F7-7D76D328FB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0652" y="195485"/>
            <a:ext cx="9693779" cy="618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908394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Subscriptions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Top-</a:t>
            </a:r>
            <a:r>
              <a:rPr lang="en-US" dirty="0" err="1"/>
              <a:t>ish</a:t>
            </a:r>
            <a:r>
              <a:rPr lang="en-US" dirty="0"/>
              <a:t> level organization (ignoring Tenants, Management Groups for a minute)</a:t>
            </a:r>
          </a:p>
          <a:p>
            <a:r>
              <a:rPr lang="en-US" dirty="0"/>
              <a:t>Recommended per team per environment</a:t>
            </a:r>
          </a:p>
          <a:p>
            <a:r>
              <a:rPr lang="en-US" dirty="0"/>
              <a:t>My default naming convention: sub-&lt;team/dept&gt;-&lt;environment&gt;</a:t>
            </a:r>
          </a:p>
          <a:p>
            <a:pPr lvl="1"/>
            <a:r>
              <a:rPr lang="en-US" dirty="0" err="1"/>
              <a:t>Eg</a:t>
            </a:r>
            <a:r>
              <a:rPr lang="en-US" dirty="0"/>
              <a:t>: sub-accounting-dev</a:t>
            </a:r>
          </a:p>
          <a:p>
            <a:r>
              <a:rPr lang="en-US" dirty="0"/>
              <a:t>Role access separation</a:t>
            </a:r>
          </a:p>
          <a:p>
            <a:r>
              <a:rPr lang="en-US" dirty="0"/>
              <a:t>Billing separation</a:t>
            </a:r>
          </a:p>
          <a:p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12648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Resource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Related groups of resources (i.e. web, DB, Key Vault,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r>
              <a:rPr lang="en-US" dirty="0"/>
              <a:t>Quickly view all resources related to that app</a:t>
            </a:r>
          </a:p>
          <a:p>
            <a:r>
              <a:rPr lang="en-US" dirty="0"/>
              <a:t>Conceptually, RG = folder, and Resources = files</a:t>
            </a:r>
          </a:p>
          <a:p>
            <a:r>
              <a:rPr lang="en-US" dirty="0"/>
              <a:t>Recommended per app per environment</a:t>
            </a:r>
          </a:p>
          <a:p>
            <a:r>
              <a:rPr lang="en-US" dirty="0"/>
              <a:t>Default naming convention: </a:t>
            </a:r>
            <a:r>
              <a:rPr lang="en-US" dirty="0" err="1"/>
              <a:t>rg</a:t>
            </a:r>
            <a:r>
              <a:rPr lang="en-US" dirty="0"/>
              <a:t>-&lt;product name&gt;-&lt;environment&gt;</a:t>
            </a:r>
          </a:p>
          <a:p>
            <a:pPr lvl="1"/>
            <a:r>
              <a:rPr lang="en-US" dirty="0" err="1"/>
              <a:t>Eg</a:t>
            </a:r>
            <a:r>
              <a:rPr lang="en-US" dirty="0"/>
              <a:t>: </a:t>
            </a:r>
            <a:r>
              <a:rPr lang="en-US" dirty="0" err="1"/>
              <a:t>rg</a:t>
            </a:r>
            <a:r>
              <a:rPr lang="en-US" dirty="0"/>
              <a:t>-</a:t>
            </a:r>
            <a:r>
              <a:rPr lang="en-US" dirty="0" err="1"/>
              <a:t>fancyapp</a:t>
            </a:r>
            <a:r>
              <a:rPr lang="en-US" dirty="0"/>
              <a:t>-dev</a:t>
            </a:r>
          </a:p>
          <a:p>
            <a:r>
              <a:rPr lang="en-US" dirty="0"/>
              <a:t>May have many RG’s in a single subscription</a:t>
            </a:r>
          </a:p>
          <a:p>
            <a:r>
              <a:rPr lang="en-US" dirty="0"/>
              <a:t>Role access separation</a:t>
            </a:r>
          </a:p>
          <a:p>
            <a:r>
              <a:rPr lang="en-US" dirty="0"/>
              <a:t>Billing separation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232816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30" name="Picture 6">
            <a:extLst>
              <a:ext uri="{FF2B5EF4-FFF2-40B4-BE49-F238E27FC236}">
                <a16:creationId xmlns:a16="http://schemas.microsoft.com/office/drawing/2014/main" id="{6209617A-CE10-CFB9-BE82-E1A36C4FE0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7875" y="661988"/>
            <a:ext cx="8096249" cy="5152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497018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D9EA72-7737-0DD7-9599-BC0C2F75A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23CEE-3A62-7771-FF5E-207E162BD4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6910"/>
            <a:ext cx="12192000" cy="2747938"/>
          </a:xfrm>
        </p:spPr>
        <p:txBody>
          <a:bodyPr>
            <a:normAutofit/>
          </a:bodyPr>
          <a:lstStyle/>
          <a:p>
            <a: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Questions?</a:t>
            </a:r>
          </a:p>
        </p:txBody>
      </p:sp>
      <p:pic>
        <p:nvPicPr>
          <p:cNvPr id="3074" name="Picture 2" descr="Azure has a new logo, but where do you download it? Here!">
            <a:extLst>
              <a:ext uri="{FF2B5EF4-FFF2-40B4-BE49-F238E27FC236}">
                <a16:creationId xmlns:a16="http://schemas.microsoft.com/office/drawing/2014/main" id="{26009366-A181-47BF-E733-E3421BAAB5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58576" y="3074848"/>
            <a:ext cx="3074847" cy="30748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009314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E7171-AFDD-4862-9A69-284665CD33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6910"/>
            <a:ext cx="12192000" cy="2747938"/>
          </a:xfrm>
        </p:spPr>
        <p:txBody>
          <a:bodyPr>
            <a:normAutofit/>
          </a:bodyPr>
          <a:lstStyle/>
          <a:p>
            <a: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Azure App Service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3D2AE236-7C6C-1FC9-BA07-4C735C4144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24982" y="3298548"/>
            <a:ext cx="2765977" cy="2765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59531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is Azure App Service?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PaaS offering for hosting applications</a:t>
            </a:r>
          </a:p>
          <a:p>
            <a:r>
              <a:rPr lang="en-US" dirty="0"/>
              <a:t>✅Handles OS patches, Framework patches</a:t>
            </a:r>
          </a:p>
          <a:p>
            <a:r>
              <a:rPr lang="en-US" dirty="0"/>
              <a:t>✅Zero downtime deployments with slots</a:t>
            </a:r>
          </a:p>
          <a:p>
            <a:r>
              <a:rPr lang="en-US" dirty="0"/>
              <a:t>✅SSL Certs</a:t>
            </a:r>
          </a:p>
          <a:p>
            <a:r>
              <a:rPr lang="en-US" dirty="0"/>
              <a:t>✅Autoscaling</a:t>
            </a:r>
          </a:p>
          <a:p>
            <a:r>
              <a:rPr lang="en-US" dirty="0"/>
              <a:t>✅Custom Domains</a:t>
            </a:r>
          </a:p>
          <a:p>
            <a:r>
              <a:rPr lang="en-US" dirty="0"/>
              <a:t>✅Very simple</a:t>
            </a:r>
          </a:p>
          <a:p>
            <a:r>
              <a:rPr lang="en-US" dirty="0"/>
              <a:t>✅And More</a:t>
            </a:r>
          </a:p>
          <a:p>
            <a:r>
              <a:rPr lang="en-US" dirty="0"/>
              <a:t>❌Less control because PaaS</a:t>
            </a:r>
          </a:p>
          <a:p>
            <a:endParaRPr lang="en-US" dirty="0"/>
          </a:p>
          <a:p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6254775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is an Azure App Service Plan?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5"/>
            <a:ext cx="10666343" cy="4749836"/>
          </a:xfrm>
        </p:spPr>
        <p:txBody>
          <a:bodyPr>
            <a:normAutofit/>
          </a:bodyPr>
          <a:lstStyle/>
          <a:p>
            <a:r>
              <a:rPr lang="en-US" dirty="0"/>
              <a:t>Kinda like VM for your App Service(s)</a:t>
            </a:r>
          </a:p>
          <a:p>
            <a:r>
              <a:rPr lang="en-US" dirty="0"/>
              <a:t>Pick how much memory, storage, CPU</a:t>
            </a:r>
          </a:p>
          <a:p>
            <a:r>
              <a:rPr lang="en-US" dirty="0"/>
              <a:t>Multiple app service on one ASP (should you?)</a:t>
            </a:r>
          </a:p>
          <a:p>
            <a:r>
              <a:rPr lang="en-US" dirty="0"/>
              <a:t>Many apps can get away with P0V3 ($62/</a:t>
            </a:r>
            <a:r>
              <a:rPr lang="en-US" dirty="0" err="1"/>
              <a:t>mo</a:t>
            </a:r>
            <a:r>
              <a:rPr lang="en-US" dirty="0"/>
              <a:t> for Linux)</a:t>
            </a:r>
          </a:p>
          <a:p>
            <a:r>
              <a:rPr lang="en-US" dirty="0"/>
              <a:t>Need to be at least Standard to get Slots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07978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DAAA96-8CB0-4E95-A2A8-9143253A8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5E8EF-1314-C3C7-8831-A8B3EB5FA4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$ an issue?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0BC59D-95D4-B9FE-00CF-0AEBDA2495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666343" cy="4749836"/>
          </a:xfrm>
        </p:spPr>
        <p:txBody>
          <a:bodyPr>
            <a:normAutofit/>
          </a:bodyPr>
          <a:lstStyle/>
          <a:p>
            <a:r>
              <a:rPr lang="en-US" dirty="0"/>
              <a:t>Savings Plan – commit to $ amount</a:t>
            </a:r>
          </a:p>
          <a:p>
            <a:r>
              <a:rPr lang="en-US" dirty="0"/>
              <a:t>Save 25% for 1 yr or 45% for 3 yr commitment</a:t>
            </a:r>
          </a:p>
          <a:p>
            <a:r>
              <a:rPr lang="en-US" dirty="0"/>
              <a:t>Reservation – commit to compute tier</a:t>
            </a:r>
          </a:p>
          <a:p>
            <a:r>
              <a:rPr lang="en-US" dirty="0"/>
              <a:t>Save 35% for 1 yr or 55% for 3 yr commitment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BF129E5-E438-D66C-A5E0-79FE7FC349BC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DCDE673-8D3C-CE59-F219-6E227BFEFB3E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CECFE74-B8F9-6006-363E-B1BBEFA6BA70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2805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FC7DA-E92C-49F4-78CA-16A11E5A1A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3F190FE-0A12-5CB7-7D09-832AC75BD4EA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873E7D4B-68E6-E78C-EE0C-A4153DEDB56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1E410F2-B0E2-22B0-1E13-24DFB277C2FA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B23FB99B-289D-2937-EC35-3CB365A27E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83" y="150001"/>
            <a:ext cx="10715268" cy="6525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21515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320E9-27E3-90F4-940C-A7A395C8D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E600A205-BEB8-3C7B-478A-3AACC9FA2C23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FE7D3898-CB27-C372-D7BE-313853A07AB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3028536-0C01-847D-4B26-F820A2816A33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B241AFF1-AF45-1AFF-C7E4-EFE2CF6916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07174"/>
            <a:ext cx="12102714" cy="5200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33247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83E1D-8FC1-29BA-4BEB-25023734FB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A612EA48-6A4A-B91C-E7FD-CF3C28D67921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A73F65F7-A418-7CF9-22C1-7642DD35E016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EBE8198-9F2D-7A13-4038-CBBCFFBB0AF3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99BEE1EB-ACFF-8A39-D317-DCF1222918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598470"/>
            <a:ext cx="12260363" cy="5291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33014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5B6DF-2672-622E-ACDC-6D3F7E2CF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DFE19C0A-F83B-F74E-7496-A47079D394B3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120989F4-BE7A-C836-390D-F82BB556A5FA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67C9B74-4EB5-BD2D-1251-56F78E356AF9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B61E5257-5216-D86B-DA6A-61490E1815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680482"/>
            <a:ext cx="12195469" cy="5044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50358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E7171-AFDD-4862-9A69-284665CD33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6910"/>
            <a:ext cx="12192000" cy="2747938"/>
          </a:xfrm>
        </p:spPr>
        <p:txBody>
          <a:bodyPr>
            <a:normAutofit/>
          </a:bodyPr>
          <a:lstStyle/>
          <a:p>
            <a: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Live Demo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3D2AE236-7C6C-1FC9-BA07-4C735C4144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13011" y="3462545"/>
            <a:ext cx="2765977" cy="2765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98751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9EFCDF-B2EE-6A80-CE6D-2E2F8D736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A4BE07-36E0-B0A9-6A74-C65080BC9F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6910"/>
            <a:ext cx="12192000" cy="2747938"/>
          </a:xfrm>
        </p:spPr>
        <p:txBody>
          <a:bodyPr>
            <a:normAutofit/>
          </a:bodyPr>
          <a:lstStyle/>
          <a:p>
            <a: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Questions?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F1A91F0-2DBD-E119-D441-4C4E9DBDFA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13011" y="3462545"/>
            <a:ext cx="2765977" cy="2765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7211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E7171-AFDD-4862-9A69-284665CD33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6910"/>
            <a:ext cx="12192000" cy="2747938"/>
          </a:xfrm>
        </p:spPr>
        <p:txBody>
          <a:bodyPr>
            <a:normAutofit/>
          </a:bodyPr>
          <a:lstStyle/>
          <a:p>
            <a: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Bicep</a:t>
            </a:r>
          </a:p>
        </p:txBody>
      </p:sp>
      <p:pic>
        <p:nvPicPr>
          <p:cNvPr id="2050" name="Picture 2" descr="Bicep - Visual Studio Marketplace">
            <a:extLst>
              <a:ext uri="{FF2B5EF4-FFF2-40B4-BE49-F238E27FC236}">
                <a16:creationId xmlns:a16="http://schemas.microsoft.com/office/drawing/2014/main" id="{8C2B5FBC-24AF-C673-DDC3-7A8EF167EF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3716" y="3349258"/>
            <a:ext cx="3054627" cy="30546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295914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Infrastructure as Code (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</a:rPr>
              <a:t>IaC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Source code defining what resources to provision</a:t>
            </a:r>
          </a:p>
          <a:p>
            <a:r>
              <a:rPr lang="en-US" dirty="0"/>
              <a:t>Stored in version control</a:t>
            </a:r>
          </a:p>
          <a:p>
            <a:r>
              <a:rPr lang="en-US" dirty="0"/>
              <a:t>Declarative – what resources to create, not how to create them</a:t>
            </a:r>
          </a:p>
          <a:p>
            <a:r>
              <a:rPr lang="en-US" dirty="0"/>
              <a:t>Deployed via pipeline</a:t>
            </a:r>
          </a:p>
          <a:p>
            <a:r>
              <a:rPr lang="en-US" dirty="0"/>
              <a:t>Need a new env? Few lines of code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850470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DF517-9119-4F11-7ACD-945E1DC4D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1C127-2503-BEBA-4067-E43209B41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Without IAC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BE74F1-0784-CBA7-2F14-6732466141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Clickety Clack Configuration™️ (</a:t>
            </a:r>
            <a:r>
              <a:rPr lang="en-US" dirty="0" err="1"/>
              <a:t>ClickOps</a:t>
            </a:r>
            <a:r>
              <a:rPr lang="en-US" dirty="0"/>
              <a:t>)</a:t>
            </a:r>
          </a:p>
          <a:p>
            <a:r>
              <a:rPr lang="en-US" dirty="0"/>
              <a:t>Repeat yourself for each environment</a:t>
            </a:r>
          </a:p>
          <a:p>
            <a:r>
              <a:rPr lang="en-US" dirty="0"/>
              <a:t>“It worked in Dev/UAT/Staging, not Prod”</a:t>
            </a:r>
          </a:p>
          <a:p>
            <a:r>
              <a:rPr lang="en-US" dirty="0"/>
              <a:t>“It works on my machine”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F49776E-A345-48A0-6CCA-76A4446FC480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8C1C9CE-AB52-49AF-9449-FA2E7A9C164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6A1D084-17FE-5D01-797E-15E8E0D0809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325020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12243-E182-0C4C-DAA4-FBBD0B67A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E4495B-EF49-DFF2-BD6D-34173C26F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is Azure Bicep?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297BDC-6590-8196-4355-6AACDF6934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Used to configure Azure resources</a:t>
            </a:r>
          </a:p>
          <a:p>
            <a:r>
              <a:rPr lang="en-US" dirty="0"/>
              <a:t>Built and maintained by Microsoft</a:t>
            </a:r>
          </a:p>
          <a:p>
            <a:r>
              <a:rPr lang="en-US" dirty="0"/>
              <a:t>Domain-specific language (fancy word for custom)</a:t>
            </a:r>
          </a:p>
          <a:p>
            <a:r>
              <a:rPr lang="en-US" dirty="0"/>
              <a:t>Provides </a:t>
            </a:r>
            <a:r>
              <a:rPr lang="en-US" dirty="0" err="1"/>
              <a:t>intellisense</a:t>
            </a:r>
            <a:r>
              <a:rPr lang="en-US" dirty="0"/>
              <a:t>, error checking, “</a:t>
            </a:r>
            <a:r>
              <a:rPr lang="en-US" dirty="0" err="1"/>
              <a:t>whatif</a:t>
            </a:r>
            <a:r>
              <a:rPr lang="en-US" dirty="0"/>
              <a:t>,” and orders the resource creations</a:t>
            </a:r>
          </a:p>
          <a:p>
            <a:r>
              <a:rPr lang="en-US" dirty="0"/>
              <a:t>Built on top of Azure Resource Manager (ARM) – don’t use ARM directly </a:t>
            </a:r>
          </a:p>
          <a:p>
            <a:r>
              <a:rPr lang="en-US" dirty="0"/>
              <a:t>Can compose multiple files into “modules”</a:t>
            </a:r>
          </a:p>
          <a:p>
            <a:r>
              <a:rPr lang="en-US" dirty="0"/>
              <a:t>Can pass data between modules via outputs</a:t>
            </a:r>
          </a:p>
          <a:p>
            <a:r>
              <a:rPr lang="en-US" dirty="0"/>
              <a:t>No state file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5D1F560-E83D-E58F-A86B-903B6DFB417F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376892D4-BDCB-3FF0-85CD-A333992245CB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FC7A8CB-7681-F320-351B-9E54A9465F03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445247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does Bicep look like?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FD0FB2CA-D39C-929A-5D26-87F9E8772A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452" y="2021624"/>
            <a:ext cx="10349348" cy="2966459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1BBE171-42A9-076C-A8E3-863245F37D6D}"/>
              </a:ext>
            </a:extLst>
          </p:cNvPr>
          <p:cNvSpPr/>
          <p:nvPr/>
        </p:nvSpPr>
        <p:spPr>
          <a:xfrm>
            <a:off x="1067519" y="2061882"/>
            <a:ext cx="1312903" cy="38531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600BAC3-4FD8-29AD-B27E-4E33D20F153E}"/>
              </a:ext>
            </a:extLst>
          </p:cNvPr>
          <p:cNvSpPr/>
          <p:nvPr/>
        </p:nvSpPr>
        <p:spPr>
          <a:xfrm>
            <a:off x="2443489" y="2061882"/>
            <a:ext cx="2153359" cy="38531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6272CC4-967D-F750-65FF-123BB0E8E8AF}"/>
              </a:ext>
            </a:extLst>
          </p:cNvPr>
          <p:cNvSpPr/>
          <p:nvPr/>
        </p:nvSpPr>
        <p:spPr>
          <a:xfrm>
            <a:off x="4659915" y="2061882"/>
            <a:ext cx="5658208" cy="38531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61448E6-0D1E-1A89-616B-0A6E68D9D5F8}"/>
              </a:ext>
            </a:extLst>
          </p:cNvPr>
          <p:cNvSpPr/>
          <p:nvPr/>
        </p:nvSpPr>
        <p:spPr>
          <a:xfrm>
            <a:off x="1308772" y="2487453"/>
            <a:ext cx="3944058" cy="214418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286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08EF2-43AE-0071-AD18-B3F92CC7B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F4E0175-7095-9A01-C3EE-25546178EDA6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1C203757-6C7C-4E3A-1104-AC584E034715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A39B85C-1512-ADDB-33D2-9ACBD2DD0CDC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5B3920F7-EF14-4A06-88E2-4A94719826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3024" y="142908"/>
            <a:ext cx="7369170" cy="288828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CEAC8E2-6EDF-C3EA-E338-8170B66791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00057" y="3068332"/>
            <a:ext cx="6666148" cy="3767822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BABBBFC5-D382-FCED-5FB6-65A554C646D7}"/>
              </a:ext>
            </a:extLst>
          </p:cNvPr>
          <p:cNvSpPr/>
          <p:nvPr/>
        </p:nvSpPr>
        <p:spPr>
          <a:xfrm>
            <a:off x="3089245" y="1102173"/>
            <a:ext cx="1955296" cy="247207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51D2F38-4852-A881-8919-C5838E21B251}"/>
              </a:ext>
            </a:extLst>
          </p:cNvPr>
          <p:cNvSpPr/>
          <p:nvPr/>
        </p:nvSpPr>
        <p:spPr>
          <a:xfrm>
            <a:off x="2141128" y="4987508"/>
            <a:ext cx="3681540" cy="32559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A068445-3FFB-87F3-DF47-6A8EEC0B9D29}"/>
              </a:ext>
            </a:extLst>
          </p:cNvPr>
          <p:cNvSpPr/>
          <p:nvPr/>
        </p:nvSpPr>
        <p:spPr>
          <a:xfrm>
            <a:off x="3089245" y="1389600"/>
            <a:ext cx="1746642" cy="247207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1E88641-B2B1-8678-3033-C5C4363B5F84}"/>
              </a:ext>
            </a:extLst>
          </p:cNvPr>
          <p:cNvSpPr/>
          <p:nvPr/>
        </p:nvSpPr>
        <p:spPr>
          <a:xfrm>
            <a:off x="2161344" y="5494470"/>
            <a:ext cx="3784595" cy="32559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7219E48-F28D-BADD-C8B3-689E3574A3B9}"/>
              </a:ext>
            </a:extLst>
          </p:cNvPr>
          <p:cNvSpPr/>
          <p:nvPr/>
        </p:nvSpPr>
        <p:spPr>
          <a:xfrm>
            <a:off x="3089245" y="1637984"/>
            <a:ext cx="1955297" cy="278287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A56485E-C8EB-C107-FEDF-328ECCA60E10}"/>
              </a:ext>
            </a:extLst>
          </p:cNvPr>
          <p:cNvSpPr/>
          <p:nvPr/>
        </p:nvSpPr>
        <p:spPr>
          <a:xfrm>
            <a:off x="2161344" y="5896188"/>
            <a:ext cx="3166265" cy="32559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0835595-0AE4-F1EF-D25E-C98E891E42A0}"/>
              </a:ext>
            </a:extLst>
          </p:cNvPr>
          <p:cNvSpPr/>
          <p:nvPr/>
        </p:nvSpPr>
        <p:spPr>
          <a:xfrm>
            <a:off x="3089245" y="1916271"/>
            <a:ext cx="1252096" cy="866537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2B056CB-9D86-D312-8A23-B9FAE8C6A5C2}"/>
              </a:ext>
            </a:extLst>
          </p:cNvPr>
          <p:cNvSpPr/>
          <p:nvPr/>
        </p:nvSpPr>
        <p:spPr>
          <a:xfrm>
            <a:off x="2161344" y="6355876"/>
            <a:ext cx="5284625" cy="32559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156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8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6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24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27BEF77-C983-40AD-5EC5-5AE48432C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326" y="143129"/>
            <a:ext cx="10349348" cy="29664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886A544-C878-2CFF-7E99-5F4D397D65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1326" y="3380539"/>
            <a:ext cx="7544499" cy="2637604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CE329039-5A47-540E-0BEA-FCDF7CA8A5FC}"/>
              </a:ext>
            </a:extLst>
          </p:cNvPr>
          <p:cNvSpPr/>
          <p:nvPr/>
        </p:nvSpPr>
        <p:spPr>
          <a:xfrm>
            <a:off x="2309911" y="183386"/>
            <a:ext cx="2172637" cy="38531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8EB5529-D186-25AF-4154-9906C18AA7F2}"/>
              </a:ext>
            </a:extLst>
          </p:cNvPr>
          <p:cNvSpPr/>
          <p:nvPr/>
        </p:nvSpPr>
        <p:spPr>
          <a:xfrm>
            <a:off x="3288915" y="4699341"/>
            <a:ext cx="2436024" cy="38531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52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8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D3C0C97C-A766-F5F8-73D0-2A5819D496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94827" y="888504"/>
            <a:ext cx="7229528" cy="3610001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CE329039-5A47-540E-0BEA-FCDF7CA8A5FC}"/>
              </a:ext>
            </a:extLst>
          </p:cNvPr>
          <p:cNvSpPr/>
          <p:nvPr/>
        </p:nvSpPr>
        <p:spPr>
          <a:xfrm>
            <a:off x="1971978" y="927600"/>
            <a:ext cx="2813710" cy="117452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8EB5529-D186-25AF-4154-9906C18AA7F2}"/>
              </a:ext>
            </a:extLst>
          </p:cNvPr>
          <p:cNvSpPr/>
          <p:nvPr/>
        </p:nvSpPr>
        <p:spPr>
          <a:xfrm>
            <a:off x="2195610" y="2510786"/>
            <a:ext cx="4041193" cy="580283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291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8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8FDDAFF8-6082-7F77-6F43-CE018E0C83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7025" y="2257213"/>
            <a:ext cx="6710842" cy="2786895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FAC2C370-5E5B-CA56-0417-4E2EBF5A89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 err="1">
                <a:solidFill>
                  <a:schemeClr val="bg1">
                    <a:lumMod val="65000"/>
                  </a:schemeClr>
                </a:solidFill>
              </a:rPr>
              <a:t>dev.biccepparam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file</a:t>
            </a:r>
          </a:p>
        </p:txBody>
      </p:sp>
    </p:spTree>
    <p:extLst>
      <p:ext uri="{BB962C8B-B14F-4D97-AF65-F5344CB8AC3E}">
        <p14:creationId xmlns:p14="http://schemas.microsoft.com/office/powerpoint/2010/main" val="172340750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9FA458A7-631B-04E2-1E9E-C45CB995405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23647"/>
          <a:stretch/>
        </p:blipFill>
        <p:spPr>
          <a:xfrm>
            <a:off x="1495385" y="2334701"/>
            <a:ext cx="8985175" cy="2479813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BF4B8CDE-291C-17BA-2138-89952B6A8F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But how do I deploy it?</a:t>
            </a:r>
          </a:p>
        </p:txBody>
      </p:sp>
    </p:spTree>
    <p:extLst>
      <p:ext uri="{BB962C8B-B14F-4D97-AF65-F5344CB8AC3E}">
        <p14:creationId xmlns:p14="http://schemas.microsoft.com/office/powerpoint/2010/main" val="54809370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Key Concepts – Quiz time!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Resources</a:t>
            </a:r>
          </a:p>
          <a:p>
            <a:r>
              <a:rPr lang="en-US" dirty="0"/>
              <a:t>Modules</a:t>
            </a:r>
          </a:p>
          <a:p>
            <a:r>
              <a:rPr lang="en-US" dirty="0"/>
              <a:t>Parameters</a:t>
            </a:r>
          </a:p>
          <a:p>
            <a:r>
              <a:rPr lang="en-US" dirty="0"/>
              <a:t>.</a:t>
            </a:r>
            <a:r>
              <a:rPr lang="en-US" dirty="0" err="1"/>
              <a:t>bicepparam</a:t>
            </a:r>
            <a:endParaRPr lang="en-US" dirty="0"/>
          </a:p>
          <a:p>
            <a:r>
              <a:rPr lang="en-US" dirty="0"/>
              <a:t>Outputs</a:t>
            </a:r>
          </a:p>
          <a:p>
            <a:r>
              <a:rPr lang="en-US" dirty="0"/>
              <a:t>--</a:t>
            </a:r>
            <a:r>
              <a:rPr lang="en-US" dirty="0" err="1"/>
              <a:t>whatif</a:t>
            </a:r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129258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Benefits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No manual work of configuring in the portal (and repeating for each env)</a:t>
            </a:r>
          </a:p>
          <a:p>
            <a:r>
              <a:rPr lang="en-US" dirty="0"/>
              <a:t>Eliminate configuration drift</a:t>
            </a:r>
          </a:p>
          <a:p>
            <a:r>
              <a:rPr lang="en-US" dirty="0"/>
              <a:t>Traceability of who, did what, and when</a:t>
            </a:r>
          </a:p>
          <a:p>
            <a:r>
              <a:rPr lang="en-US" dirty="0"/>
              <a:t>Give Contributor access to the pipeline – not to individuals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868026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Documentation for various Bicep resources:</a:t>
            </a:r>
            <a:endParaRPr lang="en-US" dirty="0">
              <a:hlinkClick r:id="rId3"/>
            </a:endParaRPr>
          </a:p>
          <a:p>
            <a:pPr lvl="1"/>
            <a:r>
              <a:rPr lang="en-US" dirty="0">
                <a:hlinkClick r:id="rId3"/>
              </a:rPr>
              <a:t>https://learn.microsoft.com/en-us/azure/templates/microsoft.web/sites?pivots=deployment-language-bicep</a:t>
            </a:r>
            <a:r>
              <a:rPr lang="en-US" dirty="0"/>
              <a:t> 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4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4565485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E7171-AFDD-4862-9A69-284665CD33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6910"/>
            <a:ext cx="12192000" cy="2747938"/>
          </a:xfrm>
        </p:spPr>
        <p:txBody>
          <a:bodyPr>
            <a:normAutofit/>
          </a:bodyPr>
          <a:lstStyle/>
          <a:p>
            <a: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Live Demo</a:t>
            </a:r>
          </a:p>
        </p:txBody>
      </p:sp>
      <p:pic>
        <p:nvPicPr>
          <p:cNvPr id="2050" name="Picture 2" descr="Bicep - Visual Studio Marketplace">
            <a:extLst>
              <a:ext uri="{FF2B5EF4-FFF2-40B4-BE49-F238E27FC236}">
                <a16:creationId xmlns:a16="http://schemas.microsoft.com/office/drawing/2014/main" id="{8C2B5FBC-24AF-C673-DDC3-7A8EF167EF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3716" y="3349258"/>
            <a:ext cx="3054627" cy="30546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5879775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C7CCA0-23A3-916A-E8F6-9B7930E50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45594-E976-EDA4-E0AB-C508CCF75F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6910"/>
            <a:ext cx="12192000" cy="2747938"/>
          </a:xfrm>
        </p:spPr>
        <p:txBody>
          <a:bodyPr>
            <a:normAutofit/>
          </a:bodyPr>
          <a:lstStyle/>
          <a:p>
            <a: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Break then Hands On</a:t>
            </a:r>
          </a:p>
        </p:txBody>
      </p:sp>
      <p:pic>
        <p:nvPicPr>
          <p:cNvPr id="2050" name="Picture 2" descr="Bicep - Visual Studio Marketplace">
            <a:extLst>
              <a:ext uri="{FF2B5EF4-FFF2-40B4-BE49-F238E27FC236}">
                <a16:creationId xmlns:a16="http://schemas.microsoft.com/office/drawing/2014/main" id="{A970A80F-7C18-D9B3-1158-33B6F05E4F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3716" y="3349258"/>
            <a:ext cx="3054627" cy="30546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885773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E7171-AFDD-4862-9A69-284665CD33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6910"/>
            <a:ext cx="12192000" cy="2747938"/>
          </a:xfrm>
        </p:spPr>
        <p:txBody>
          <a:bodyPr>
            <a:normAutofit fontScale="90000"/>
          </a:bodyPr>
          <a:lstStyle/>
          <a:p>
            <a: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Hands </a:t>
            </a:r>
            <a:r>
              <a:rPr lang="en-US" sz="9600" b="1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On for 30 min</a:t>
            </a:r>
            <a:b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40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Module 4:</a:t>
            </a:r>
            <a:br>
              <a:rPr lang="en-US" sz="40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33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https://github.com/scottsauber/workshop-dotnet-azure-github-bicep</a:t>
            </a:r>
            <a:r>
              <a:rPr lang="en-US" sz="33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</a:p>
        </p:txBody>
      </p:sp>
      <p:pic>
        <p:nvPicPr>
          <p:cNvPr id="2050" name="Picture 2" descr="Bicep - Visual Studio Marketplace">
            <a:extLst>
              <a:ext uri="{FF2B5EF4-FFF2-40B4-BE49-F238E27FC236}">
                <a16:creationId xmlns:a16="http://schemas.microsoft.com/office/drawing/2014/main" id="{8C2B5FBC-24AF-C673-DDC3-7A8EF167EF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3716" y="3349258"/>
            <a:ext cx="3054627" cy="30546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0241249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E7171-AFDD-4862-9A69-284665CD33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6910"/>
            <a:ext cx="12192000" cy="2747938"/>
          </a:xfrm>
        </p:spPr>
        <p:txBody>
          <a:bodyPr>
            <a:normAutofit/>
          </a:bodyPr>
          <a:lstStyle/>
          <a:p>
            <a: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GitHub Actions</a:t>
            </a:r>
          </a:p>
        </p:txBody>
      </p:sp>
      <p:pic>
        <p:nvPicPr>
          <p:cNvPr id="4098" name="Picture 2" descr="What is GitHub? — Pythia Foundations">
            <a:extLst>
              <a:ext uri="{FF2B5EF4-FFF2-40B4-BE49-F238E27FC236}">
                <a16:creationId xmlns:a16="http://schemas.microsoft.com/office/drawing/2014/main" id="{6E0DB4C6-4724-3888-0D99-1BD27A5D3D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6373" y="3259442"/>
            <a:ext cx="5579253" cy="31383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5820004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is GitHub Actions?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Thing doer on a trigger</a:t>
            </a:r>
          </a:p>
          <a:p>
            <a:r>
              <a:rPr lang="en-US" dirty="0"/>
              <a:t>Trigger could be PR, push to main branch, open an issue, </a:t>
            </a:r>
            <a:r>
              <a:rPr lang="en-US" dirty="0" err="1"/>
              <a:t>etc</a:t>
            </a:r>
            <a:endParaRPr lang="en-US" dirty="0"/>
          </a:p>
          <a:p>
            <a:r>
              <a:rPr lang="en-US" dirty="0"/>
              <a:t>Automatically build and deploys your application</a:t>
            </a:r>
          </a:p>
          <a:p>
            <a:r>
              <a:rPr lang="en-US" dirty="0"/>
              <a:t>Including the infrastructure (i.e. Bicep)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374260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Workflows</a:t>
            </a:r>
          </a:p>
          <a:p>
            <a:r>
              <a:rPr lang="en-US" dirty="0"/>
              <a:t>Triggers</a:t>
            </a:r>
          </a:p>
          <a:p>
            <a:r>
              <a:rPr lang="en-US" dirty="0"/>
              <a:t>Jobs</a:t>
            </a:r>
          </a:p>
          <a:p>
            <a:r>
              <a:rPr lang="en-US" dirty="0"/>
              <a:t>Steps</a:t>
            </a:r>
          </a:p>
          <a:p>
            <a:r>
              <a:rPr lang="en-US" dirty="0"/>
              <a:t>Secrets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20529913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does GitHub Actions Look Like?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12E483C3-3387-F5B8-CC86-CF0EDA3FA8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4899" y="1468570"/>
            <a:ext cx="5048287" cy="5191163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2B376C2F-4ABE-A5C1-F8D9-6EE5CDE7441A}"/>
              </a:ext>
            </a:extLst>
          </p:cNvPr>
          <p:cNvSpPr/>
          <p:nvPr/>
        </p:nvSpPr>
        <p:spPr>
          <a:xfrm>
            <a:off x="3676704" y="1468571"/>
            <a:ext cx="3255839" cy="36023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4E3302D-A060-79C7-7C5B-A8ADBAD4DC89}"/>
              </a:ext>
            </a:extLst>
          </p:cNvPr>
          <p:cNvSpPr/>
          <p:nvPr/>
        </p:nvSpPr>
        <p:spPr>
          <a:xfrm>
            <a:off x="3676704" y="2023506"/>
            <a:ext cx="3255839" cy="1127198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CADE1E-AA2F-6EA6-6E7B-C0B163227D85}"/>
              </a:ext>
            </a:extLst>
          </p:cNvPr>
          <p:cNvSpPr/>
          <p:nvPr/>
        </p:nvSpPr>
        <p:spPr>
          <a:xfrm>
            <a:off x="3676704" y="3214420"/>
            <a:ext cx="3752796" cy="1248249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715ED58-86DF-D0C0-A897-AD96E4E79251}"/>
              </a:ext>
            </a:extLst>
          </p:cNvPr>
          <p:cNvSpPr/>
          <p:nvPr/>
        </p:nvSpPr>
        <p:spPr>
          <a:xfrm>
            <a:off x="4109299" y="4600039"/>
            <a:ext cx="3320201" cy="1959692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161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How do I reuse workflows?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B3B03860-5922-F040-5AD8-1DFD422862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9226" y="1467507"/>
            <a:ext cx="7767256" cy="5256957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C3957D4-E9AD-EC45-88DF-65AE440E37A4}"/>
              </a:ext>
            </a:extLst>
          </p:cNvPr>
          <p:cNvSpPr/>
          <p:nvPr/>
        </p:nvSpPr>
        <p:spPr>
          <a:xfrm>
            <a:off x="4308613" y="6185409"/>
            <a:ext cx="3120887" cy="37432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295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88998F1-ED47-B674-9980-D0E822B492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2922" y="1702138"/>
            <a:ext cx="6212401" cy="488925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How do I reuse workflows?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4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AC3957D4-E9AD-EC45-88DF-65AE440E37A4}"/>
              </a:ext>
            </a:extLst>
          </p:cNvPr>
          <p:cNvSpPr/>
          <p:nvPr/>
        </p:nvSpPr>
        <p:spPr>
          <a:xfrm>
            <a:off x="2872410" y="2120302"/>
            <a:ext cx="2146852" cy="1288817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5BF272-21BE-64C2-393B-8DDF7F5D08F9}"/>
              </a:ext>
            </a:extLst>
          </p:cNvPr>
          <p:cNvSpPr/>
          <p:nvPr/>
        </p:nvSpPr>
        <p:spPr>
          <a:xfrm>
            <a:off x="4745935" y="6290186"/>
            <a:ext cx="1903343" cy="278986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2116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8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91BC896-CFD0-C5CB-370F-C287D74C06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3779" y="1952072"/>
            <a:ext cx="7705781" cy="397195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How do I consume this reusable workflow?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4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AC3957D4-E9AD-EC45-88DF-65AE440E37A4}"/>
              </a:ext>
            </a:extLst>
          </p:cNvPr>
          <p:cNvSpPr/>
          <p:nvPr/>
        </p:nvSpPr>
        <p:spPr>
          <a:xfrm>
            <a:off x="3329610" y="4731479"/>
            <a:ext cx="6509949" cy="1090036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3334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DD5E5B3-984E-5ED9-4FD5-AB598795EB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4006" y="1863971"/>
            <a:ext cx="8543987" cy="404815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How do I consume this from another repo?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4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AC3957D4-E9AD-EC45-88DF-65AE440E37A4}"/>
              </a:ext>
            </a:extLst>
          </p:cNvPr>
          <p:cNvSpPr/>
          <p:nvPr/>
        </p:nvSpPr>
        <p:spPr>
          <a:xfrm>
            <a:off x="3091071" y="4607240"/>
            <a:ext cx="6879580" cy="446808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649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E7171-AFDD-4862-9A69-284665CD33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6910"/>
            <a:ext cx="12192000" cy="2747938"/>
          </a:xfrm>
        </p:spPr>
        <p:txBody>
          <a:bodyPr>
            <a:normAutofit/>
          </a:bodyPr>
          <a:lstStyle/>
          <a:p>
            <a: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Live Demo</a:t>
            </a:r>
          </a:p>
        </p:txBody>
      </p:sp>
      <p:pic>
        <p:nvPicPr>
          <p:cNvPr id="3" name="Picture 2" descr="What is GitHub? — Pythia Foundations">
            <a:extLst>
              <a:ext uri="{FF2B5EF4-FFF2-40B4-BE49-F238E27FC236}">
                <a16:creationId xmlns:a16="http://schemas.microsoft.com/office/drawing/2014/main" id="{CAAB97A4-36EF-EB87-AD87-F16A790C96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6373" y="3259442"/>
            <a:ext cx="5579253" cy="31383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2669537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E7171-AFDD-4862-9A69-284665CD33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6910"/>
            <a:ext cx="12192000" cy="2747938"/>
          </a:xfrm>
        </p:spPr>
        <p:txBody>
          <a:bodyPr>
            <a:normAutofit/>
          </a:bodyPr>
          <a:lstStyle/>
          <a:p>
            <a: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Hands On</a:t>
            </a:r>
          </a:p>
        </p:txBody>
      </p:sp>
      <p:pic>
        <p:nvPicPr>
          <p:cNvPr id="3" name="Picture 2" descr="What is GitHub? — Pythia Foundations">
            <a:extLst>
              <a:ext uri="{FF2B5EF4-FFF2-40B4-BE49-F238E27FC236}">
                <a16:creationId xmlns:a16="http://schemas.microsoft.com/office/drawing/2014/main" id="{CAAB97A4-36EF-EB87-AD87-F16A790C96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6373" y="3259442"/>
            <a:ext cx="5579253" cy="31383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2485769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863876" cy="4779637"/>
          </a:xfrm>
        </p:spPr>
        <p:txBody>
          <a:bodyPr>
            <a:normAutofit/>
          </a:bodyPr>
          <a:lstStyle/>
          <a:p>
            <a:r>
              <a:rPr lang="en-US" dirty="0"/>
              <a:t>How to leverage Azure</a:t>
            </a:r>
          </a:p>
          <a:p>
            <a:r>
              <a:rPr lang="en-US" dirty="0"/>
              <a:t>Why Infrastructure as Code is useful and how Bicep works</a:t>
            </a:r>
          </a:p>
          <a:p>
            <a:r>
              <a:rPr lang="en-US" dirty="0"/>
              <a:t>How GitHub Actions fits into the big picture</a:t>
            </a:r>
          </a:p>
          <a:p>
            <a:r>
              <a:rPr lang="en-US" dirty="0"/>
              <a:t>Some takeaway tips even if you had experience with this stuff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DE5378A-6FF0-4624-8085-FEF4C35499EF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6" name="Subtitle 2">
              <a:extLst>
                <a:ext uri="{FF2B5EF4-FFF2-40B4-BE49-F238E27FC236}">
                  <a16:creationId xmlns:a16="http://schemas.microsoft.com/office/drawing/2014/main" id="{9DA2B4CB-38FE-4C6E-8BEE-075F81D8685C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CC1E2DB-378E-4A94-AC9A-4A7142A30669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517725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Slides at scottsauber.com</a:t>
            </a:r>
          </a:p>
          <a:p>
            <a:r>
              <a:rPr lang="en-US" dirty="0">
                <a:hlinkClick r:id="rId3"/>
              </a:rPr>
              <a:t>https://github.com/scottsauber/workshop-dotnet-azure-github-bicep</a:t>
            </a:r>
            <a:endParaRPr lang="en-US" dirty="0"/>
          </a:p>
          <a:p>
            <a:pPr lvl="1"/>
            <a:r>
              <a:rPr lang="en-US" dirty="0"/>
              <a:t>The “final” branch has the final state of things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7F2377D-8218-3741-EFFB-1572225ED4C4}"/>
              </a:ext>
            </a:extLst>
          </p:cNvPr>
          <p:cNvGrpSpPr/>
          <p:nvPr/>
        </p:nvGrpSpPr>
        <p:grpSpPr>
          <a:xfrm>
            <a:off x="9970651" y="6160243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8B9D374A-FF4E-DE7F-6593-C9FBFDCBB9D1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D0155F0-0364-C9C2-3587-5645836F2572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4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9762033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61254-86DC-4239-85AC-F87EEB565B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27511"/>
          </a:xfrm>
        </p:spPr>
        <p:txBody>
          <a:bodyPr>
            <a:normAutofit/>
          </a:bodyPr>
          <a:lstStyle/>
          <a:p>
            <a:pPr algn="ctr"/>
            <a:r>
              <a:rPr lang="en-US" sz="7200" dirty="0">
                <a:solidFill>
                  <a:schemeClr val="bg1"/>
                </a:solidFill>
                <a:latin typeface="+mn-lt"/>
              </a:rPr>
              <a:t>Questions?</a:t>
            </a:r>
            <a:br>
              <a:rPr lang="en-US" sz="7200" dirty="0">
                <a:solidFill>
                  <a:schemeClr val="bg1"/>
                </a:solidFill>
                <a:latin typeface="+mn-lt"/>
              </a:rPr>
            </a:br>
            <a:r>
              <a:rPr lang="en-US" sz="1800" dirty="0">
                <a:solidFill>
                  <a:schemeClr val="bg1"/>
                </a:solidFill>
                <a:latin typeface="+mn-lt"/>
              </a:rPr>
              <a:t>Contact: ssauber@leantechniques.com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097882A2-4820-4881-9C23-D09EE5DE1AF4}"/>
              </a:ext>
            </a:extLst>
          </p:cNvPr>
          <p:cNvSpPr txBox="1">
            <a:spLocks/>
          </p:cNvSpPr>
          <p:nvPr/>
        </p:nvSpPr>
        <p:spPr>
          <a:xfrm>
            <a:off x="90625" y="3418380"/>
            <a:ext cx="12192000" cy="3371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3600" dirty="0">
              <a:solidFill>
                <a:schemeClr val="bg1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sz="4000" dirty="0">
              <a:solidFill>
                <a:schemeClr val="bg1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dirty="0">
              <a:solidFill>
                <a:schemeClr val="bg1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dirty="0">
              <a:solidFill>
                <a:schemeClr val="bg1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indent="0">
              <a:buNone/>
            </a:pPr>
            <a:endParaRPr lang="en-US" dirty="0">
              <a:solidFill>
                <a:schemeClr val="bg1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Slides at scottsauber.com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A317392-27D1-BDE7-E0D7-600E64D47858}"/>
              </a:ext>
            </a:extLst>
          </p:cNvPr>
          <p:cNvGrpSpPr/>
          <p:nvPr/>
        </p:nvGrpSpPr>
        <p:grpSpPr>
          <a:xfrm>
            <a:off x="10061276" y="6255713"/>
            <a:ext cx="2130724" cy="474323"/>
            <a:chOff x="9970651" y="6185410"/>
            <a:chExt cx="2130724" cy="474323"/>
          </a:xfrm>
        </p:grpSpPr>
        <p:sp>
          <p:nvSpPr>
            <p:cNvPr id="7" name="Subtitle 2">
              <a:extLst>
                <a:ext uri="{FF2B5EF4-FFF2-40B4-BE49-F238E27FC236}">
                  <a16:creationId xmlns:a16="http://schemas.microsoft.com/office/drawing/2014/main" id="{CAEDCF79-6369-3312-C72B-E492C2FFC565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/>
                  </a:solidFill>
                </a:rPr>
                <a:t>scottsauber</a:t>
              </a:r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72B5C07-DFD0-2B15-9503-90458218B795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1098873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61254-86DC-4239-85AC-F87EEB565B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27511"/>
          </a:xfrm>
        </p:spPr>
        <p:txBody>
          <a:bodyPr>
            <a:normAutofit/>
          </a:bodyPr>
          <a:lstStyle/>
          <a:p>
            <a:pPr algn="ctr"/>
            <a:r>
              <a:rPr lang="en-US" sz="7200" dirty="0">
                <a:solidFill>
                  <a:schemeClr val="bg1"/>
                </a:solidFill>
                <a:latin typeface="+mn-lt"/>
              </a:rPr>
              <a:t>Thanks!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FD62362D-55B2-4103-A7AF-54CC41B415B4}"/>
              </a:ext>
            </a:extLst>
          </p:cNvPr>
          <p:cNvSpPr txBox="1">
            <a:spLocks/>
          </p:cNvSpPr>
          <p:nvPr/>
        </p:nvSpPr>
        <p:spPr>
          <a:xfrm>
            <a:off x="90625" y="3418380"/>
            <a:ext cx="12192000" cy="3371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3600" dirty="0">
              <a:solidFill>
                <a:schemeClr val="bg1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sz="4000" dirty="0">
              <a:solidFill>
                <a:schemeClr val="bg1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dirty="0">
              <a:solidFill>
                <a:schemeClr val="bg1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dirty="0">
              <a:solidFill>
                <a:schemeClr val="bg1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indent="0">
              <a:buNone/>
            </a:pPr>
            <a:endParaRPr lang="en-US" dirty="0">
              <a:solidFill>
                <a:schemeClr val="bg1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Slides at scottsauber.com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E0D3713-F3EF-9907-AE2C-81CAE8EE1032}"/>
              </a:ext>
            </a:extLst>
          </p:cNvPr>
          <p:cNvGrpSpPr/>
          <p:nvPr/>
        </p:nvGrpSpPr>
        <p:grpSpPr>
          <a:xfrm>
            <a:off x="10061276" y="6255713"/>
            <a:ext cx="2130724" cy="474323"/>
            <a:chOff x="9970651" y="6185410"/>
            <a:chExt cx="2130724" cy="474323"/>
          </a:xfrm>
        </p:grpSpPr>
        <p:sp>
          <p:nvSpPr>
            <p:cNvPr id="8" name="Subtitle 2">
              <a:extLst>
                <a:ext uri="{FF2B5EF4-FFF2-40B4-BE49-F238E27FC236}">
                  <a16:creationId xmlns:a16="http://schemas.microsoft.com/office/drawing/2014/main" id="{AC058655-0A4D-A435-8AF1-E64E0CA276B5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/>
                  </a:solidFill>
                </a:rPr>
                <a:t>scottsauber</a:t>
              </a:r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13CAB7E-EB4B-279D-5799-DD0F5243C897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2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81947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52249</TotalTime>
  <Words>1546</Words>
  <Application>Microsoft Office PowerPoint</Application>
  <PresentationFormat>Widescreen</PresentationFormat>
  <Paragraphs>339</Paragraphs>
  <Slides>60</Slides>
  <Notes>59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6" baseType="lpstr">
      <vt:lpstr>Arial</vt:lpstr>
      <vt:lpstr>Calibri</vt:lpstr>
      <vt:lpstr>Calibri Light</vt:lpstr>
      <vt:lpstr>Open Sans</vt:lpstr>
      <vt:lpstr>Slack-Lato</vt:lpstr>
      <vt:lpstr>Office Theme</vt:lpstr>
      <vt:lpstr>Deploying a .NET 10 App to Azure using  Bicep and GitHub Actions</vt:lpstr>
      <vt:lpstr>What you need</vt:lpstr>
      <vt:lpstr>What we all need</vt:lpstr>
      <vt:lpstr>Audience</vt:lpstr>
      <vt:lpstr>Poll</vt:lpstr>
      <vt:lpstr>Agenda</vt:lpstr>
      <vt:lpstr>Goals</vt:lpstr>
      <vt:lpstr>Who am I? </vt:lpstr>
      <vt:lpstr>What are we building?</vt:lpstr>
      <vt:lpstr>Features of What We’re Building</vt:lpstr>
      <vt:lpstr>Why is this important?</vt:lpstr>
      <vt:lpstr>PowerPoint Presentation</vt:lpstr>
      <vt:lpstr>PowerPoint Presentation</vt:lpstr>
      <vt:lpstr>Azure</vt:lpstr>
      <vt:lpstr>What is Azure?</vt:lpstr>
      <vt:lpstr>PowerPoint Presentation</vt:lpstr>
      <vt:lpstr>Subscriptions</vt:lpstr>
      <vt:lpstr>Resource Groups</vt:lpstr>
      <vt:lpstr>PowerPoint Presentation</vt:lpstr>
      <vt:lpstr>Questions?</vt:lpstr>
      <vt:lpstr>Azure App Service</vt:lpstr>
      <vt:lpstr>What is Azure App Service?</vt:lpstr>
      <vt:lpstr>What is an Azure App Service Plan?</vt:lpstr>
      <vt:lpstr>$ an issue?</vt:lpstr>
      <vt:lpstr>PowerPoint Presentation</vt:lpstr>
      <vt:lpstr>PowerPoint Presentation</vt:lpstr>
      <vt:lpstr>PowerPoint Presentation</vt:lpstr>
      <vt:lpstr>PowerPoint Presentation</vt:lpstr>
      <vt:lpstr>Live Demo</vt:lpstr>
      <vt:lpstr>Questions?</vt:lpstr>
      <vt:lpstr>Bicep</vt:lpstr>
      <vt:lpstr>Infrastructure as Code (IaC)</vt:lpstr>
      <vt:lpstr>Without IAC</vt:lpstr>
      <vt:lpstr>What is Azure Bicep?</vt:lpstr>
      <vt:lpstr>What does Bicep look like?</vt:lpstr>
      <vt:lpstr>PowerPoint Presentation</vt:lpstr>
      <vt:lpstr>PowerPoint Presentation</vt:lpstr>
      <vt:lpstr>PowerPoint Presentation</vt:lpstr>
      <vt:lpstr>dev.biccepparam file</vt:lpstr>
      <vt:lpstr>But how do I deploy it?</vt:lpstr>
      <vt:lpstr>Key Concepts – Quiz time!</vt:lpstr>
      <vt:lpstr>Benefits</vt:lpstr>
      <vt:lpstr>Additional Resources</vt:lpstr>
      <vt:lpstr>Live Demo</vt:lpstr>
      <vt:lpstr>Break then Hands On</vt:lpstr>
      <vt:lpstr>Hands On for 30 min Module 4: https://github.com/scottsauber/workshop-dotnet-azure-github-bicep </vt:lpstr>
      <vt:lpstr>GitHub Actions</vt:lpstr>
      <vt:lpstr>What is GitHub Actions?</vt:lpstr>
      <vt:lpstr>Concepts</vt:lpstr>
      <vt:lpstr>What does GitHub Actions Look Like?</vt:lpstr>
      <vt:lpstr>How do I reuse workflows?</vt:lpstr>
      <vt:lpstr>How do I reuse workflows?</vt:lpstr>
      <vt:lpstr>How do I consume this reusable workflow?</vt:lpstr>
      <vt:lpstr>How do I consume this from another repo?</vt:lpstr>
      <vt:lpstr>Live Demo</vt:lpstr>
      <vt:lpstr>Hands On</vt:lpstr>
      <vt:lpstr>Takeaways</vt:lpstr>
      <vt:lpstr>Resources</vt:lpstr>
      <vt:lpstr>Questions? Contact: ssauber@leantechniques.com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AzureDotNetBicep Workshop</dc:title>
  <dc:creator>Scott Sauber</dc:creator>
  <cp:lastModifiedBy>Sauber, Scott</cp:lastModifiedBy>
  <cp:revision>509</cp:revision>
  <dcterms:created xsi:type="dcterms:W3CDTF">2020-03-08T20:31:35Z</dcterms:created>
  <dcterms:modified xsi:type="dcterms:W3CDTF">2026-01-13T04:26:10Z</dcterms:modified>
</cp:coreProperties>
</file>