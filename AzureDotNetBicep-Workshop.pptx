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0" r:id="rId1"/>
  </p:sldMasterIdLst>
  <p:notesMasterIdLst>
    <p:notesMasterId r:id="rId77"/>
  </p:notesMasterIdLst>
  <p:sldIdLst>
    <p:sldId id="257" r:id="rId2"/>
    <p:sldId id="285" r:id="rId3"/>
    <p:sldId id="569" r:id="rId4"/>
    <p:sldId id="531" r:id="rId5"/>
    <p:sldId id="570" r:id="rId6"/>
    <p:sldId id="326" r:id="rId7"/>
    <p:sldId id="369" r:id="rId8"/>
    <p:sldId id="410" r:id="rId9"/>
    <p:sldId id="533" r:id="rId10"/>
    <p:sldId id="534" r:id="rId11"/>
    <p:sldId id="571" r:id="rId12"/>
    <p:sldId id="568" r:id="rId13"/>
    <p:sldId id="572" r:id="rId14"/>
    <p:sldId id="541" r:id="rId15"/>
    <p:sldId id="463" r:id="rId16"/>
    <p:sldId id="573" r:id="rId17"/>
    <p:sldId id="543" r:id="rId18"/>
    <p:sldId id="544" r:id="rId19"/>
    <p:sldId id="551" r:id="rId20"/>
    <p:sldId id="574" r:id="rId21"/>
    <p:sldId id="537" r:id="rId22"/>
    <p:sldId id="542" r:id="rId23"/>
    <p:sldId id="535" r:id="rId24"/>
    <p:sldId id="575" r:id="rId25"/>
    <p:sldId id="576" r:id="rId26"/>
    <p:sldId id="577" r:id="rId27"/>
    <p:sldId id="578" r:id="rId28"/>
    <p:sldId id="579" r:id="rId29"/>
    <p:sldId id="536" r:id="rId30"/>
    <p:sldId id="580" r:id="rId31"/>
    <p:sldId id="539" r:id="rId32"/>
    <p:sldId id="538" r:id="rId33"/>
    <p:sldId id="582" r:id="rId34"/>
    <p:sldId id="581" r:id="rId35"/>
    <p:sldId id="540" r:id="rId36"/>
    <p:sldId id="583" r:id="rId37"/>
    <p:sldId id="555" r:id="rId38"/>
    <p:sldId id="557" r:id="rId39"/>
    <p:sldId id="558" r:id="rId40"/>
    <p:sldId id="559" r:id="rId41"/>
    <p:sldId id="553" r:id="rId42"/>
    <p:sldId id="556" r:id="rId43"/>
    <p:sldId id="554" r:id="rId44"/>
    <p:sldId id="546" r:id="rId45"/>
    <p:sldId id="593" r:id="rId46"/>
    <p:sldId id="584" r:id="rId47"/>
    <p:sldId id="566" r:id="rId48"/>
    <p:sldId id="585" r:id="rId49"/>
    <p:sldId id="547" r:id="rId50"/>
    <p:sldId id="587" r:id="rId51"/>
    <p:sldId id="588" r:id="rId52"/>
    <p:sldId id="589" r:id="rId53"/>
    <p:sldId id="590" r:id="rId54"/>
    <p:sldId id="591" r:id="rId55"/>
    <p:sldId id="592" r:id="rId56"/>
    <p:sldId id="545" r:id="rId57"/>
    <p:sldId id="586" r:id="rId58"/>
    <p:sldId id="550" r:id="rId59"/>
    <p:sldId id="548" r:id="rId60"/>
    <p:sldId id="549" r:id="rId61"/>
    <p:sldId id="561" r:id="rId62"/>
    <p:sldId id="563" r:id="rId63"/>
    <p:sldId id="564" r:id="rId64"/>
    <p:sldId id="594" r:id="rId65"/>
    <p:sldId id="565" r:id="rId66"/>
    <p:sldId id="595" r:id="rId67"/>
    <p:sldId id="368" r:id="rId68"/>
    <p:sldId id="600" r:id="rId69"/>
    <p:sldId id="597" r:id="rId70"/>
    <p:sldId id="598" r:id="rId71"/>
    <p:sldId id="599" r:id="rId72"/>
    <p:sldId id="596" r:id="rId73"/>
    <p:sldId id="490" r:id="rId74"/>
    <p:sldId id="400" r:id="rId75"/>
    <p:sldId id="337" r:id="rId7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F69B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466" autoAdjust="0"/>
    <p:restoredTop sz="85000" autoAdjust="0"/>
  </p:normalViewPr>
  <p:slideViewPr>
    <p:cSldViewPr snapToGrid="0">
      <p:cViewPr>
        <p:scale>
          <a:sx n="116" d="100"/>
          <a:sy n="116" d="100"/>
        </p:scale>
        <p:origin x="-2400" y="-168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viewProps" Target="viewProp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theme" Target="theme/theme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presProps" Target="presProps.xml"/><Relationship Id="rId8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EBF47D1-607F-45EE-AE63-C10CF3AC8DD9}" type="datetimeFigureOut">
              <a:rPr lang="en-US" smtClean="0"/>
              <a:t>1/12/2026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C074461-D808-4EBD-B8B3-953FBFCC6E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897129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ACEE071-6BA9-400B-8DDD-7178D39C29B3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081734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B57EC6A-F5A4-441D-B3C5-D1EF8312AF7C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658228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BB5EFC-789D-DB08-EA8A-771BF87AAF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0DC4CF8-8FB3-4AF6-E6FC-4714EA5FF82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3DBC9FA-497E-A4E6-0605-3C056986B33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07AA21-3ABE-EE35-EEBC-5D3BDC33EFD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B57EC6A-F5A4-441D-B3C5-D1EF8312AF7C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9180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B57EC6A-F5A4-441D-B3C5-D1EF8312AF7C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183905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5AFE2E-4FF1-34AA-1E0C-B13FC4E556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8532EFA-4CEB-0975-CC72-A667A76715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5243F7E-04E5-106C-63BA-C6E78A73774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F01EFB-C965-E8ED-E195-AC9761D3C55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B57EC6A-F5A4-441D-B3C5-D1EF8312AF7C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353541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B57EC6A-F5A4-441D-B3C5-D1EF8312AF7C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676427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B57EC6A-F5A4-441D-B3C5-D1EF8312AF7C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70530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B57EC6A-F5A4-441D-B3C5-D1EF8312AF7C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173746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B57EC6A-F5A4-441D-B3C5-D1EF8312AF7C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736496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B57EC6A-F5A4-441D-B3C5-D1EF8312AF7C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040066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F57AE3-6738-A0D7-BE77-3B109ADECC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A495731-CDF4-20F6-1C2A-4FD7D7AFC13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9932387-A611-2D70-84D3-E3D8892A3B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931E8EE-6C99-0AC9-87FB-9DFB62E71B3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B57EC6A-F5A4-441D-B3C5-D1EF8312AF7C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176946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B57EC6A-F5A4-441D-B3C5-D1EF8312AF7C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586533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2DD25A-774C-CB9F-5369-203E2724F0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3E2FB7C-5A14-FFA4-580A-A57453FFA44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B53CFA5-6663-B4D9-65BA-9C5ED6A3164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DA840A-5B1D-87DE-A96F-D167411B41A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B57EC6A-F5A4-441D-B3C5-D1EF8312AF7C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331710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ACEE071-6BA9-400B-8DDD-7178D39C29B3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390488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B57EC6A-F5A4-441D-B3C5-D1EF8312AF7C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151412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045277-B5AC-E8AA-1B3B-62E4B9DE96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2683564-6FC9-E80F-1523-1E749CEF1C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02E9456-C17F-F1BB-32CE-A70D53DE233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0A6745-B12E-1174-378F-1B090EA0602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B57EC6A-F5A4-441D-B3C5-D1EF8312AF7C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844138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B57EC6A-F5A4-441D-B3C5-D1EF8312AF7C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763639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B57EC6A-F5A4-441D-B3C5-D1EF8312AF7C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49222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B57EC6A-F5A4-441D-B3C5-D1EF8312AF7C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751644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363B85-5CCA-8D12-4BDD-A63C0F9603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35FFA1C-2D79-5F25-CC1B-93B39AAFB55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12A04AB-5242-51A5-3609-59015F30829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82350F-7547-AA00-BA4D-6413C94DC48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ACEE071-6BA9-400B-8DDD-7178D39C29B3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9547167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ACEE071-6BA9-400B-8DDD-7178D39C29B3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7912082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B57EC6A-F5A4-441D-B3C5-D1EF8312AF7C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7080796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B57EC6A-F5A4-441D-B3C5-D1EF8312AF7C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027378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1BAD4D-7957-E104-FF56-F5785B8D8A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E192B5D-BC31-03C6-520C-2C5B634AA85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153B6FC-A06E-A9B4-89B6-70C7F558FA2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E620C1B-772E-D5D2-E0CF-1A19A2AFB45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B57EC6A-F5A4-441D-B3C5-D1EF8312AF7C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1182635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F2444D-B284-3BB3-7FA0-12AB5D6F72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124EEA4-7CD2-27DD-B291-F6EAACC473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E732AA5-02B2-E9CC-EFAF-3B030F412A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016A08-766F-666C-B025-F295F683032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B57EC6A-F5A4-441D-B3C5-D1EF8312AF7C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2745020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195C56-B73D-4D5B-1FA8-CEA69A3094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8B4BD6A-AC0E-8D18-DB79-7926413B7A0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3EF2834-24F4-91F3-4523-E234B947AE0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2BB875-4C56-4A79-3A41-93796BF1C0F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B57EC6A-F5A4-441D-B3C5-D1EF8312AF7C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2153905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6677D2-39DB-4C8F-039C-127A1F616C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A372A27-BD41-EBAB-993C-8DBE92301FC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B564CA9-0945-FD61-399F-0FDCFC83FD8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4D0CE94-BE21-9E67-F09A-346E238F8A6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B57EC6A-F5A4-441D-B3C5-D1EF8312AF7C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5286830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8BB158-ED0D-CA0D-A40C-54DB7C9789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6D0DF5D-F32C-2C05-EDC8-E6C6855200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25B460B-9A62-D046-D9A2-66247F0E1A6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F5FD24A-D52B-607D-8CC0-35C988F346B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B57EC6A-F5A4-441D-B3C5-D1EF8312AF7C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0113782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>
              <a:buFont typeface="Arial" panose="020B0604020202020204" pitchFamily="34" charset="0"/>
              <a:buNone/>
            </a:pPr>
            <a:r>
              <a:rPr lang="en-US" b="0" i="0" dirty="0">
                <a:solidFill>
                  <a:srgbClr val="D1D2D3"/>
                </a:solidFill>
                <a:effectLst/>
                <a:latin typeface="Slack-Lato"/>
              </a:rPr>
              <a:t>- app service plan in relation to app services</a:t>
            </a:r>
          </a:p>
          <a:p>
            <a:pPr algn="l">
              <a:buFont typeface="Arial" panose="020B0604020202020204" pitchFamily="34" charset="0"/>
              <a:buNone/>
            </a:pPr>
            <a:r>
              <a:rPr lang="en-US" b="0" i="0" dirty="0">
                <a:solidFill>
                  <a:srgbClr val="D1D2D3"/>
                </a:solidFill>
                <a:effectLst/>
                <a:latin typeface="Slack-Lato"/>
              </a:rPr>
              <a:t>- PaaS nature and all that it handles (server patches, OS patches, Certs, custom domains, </a:t>
            </a:r>
            <a:r>
              <a:rPr lang="en-US" b="0" i="0" dirty="0" err="1">
                <a:solidFill>
                  <a:srgbClr val="D1D2D3"/>
                </a:solidFill>
                <a:effectLst/>
                <a:latin typeface="Slack-Lato"/>
              </a:rPr>
              <a:t>etc</a:t>
            </a:r>
            <a:r>
              <a:rPr lang="en-US" b="0" i="0" dirty="0">
                <a:solidFill>
                  <a:srgbClr val="D1D2D3"/>
                </a:solidFill>
                <a:effectLst/>
                <a:latin typeface="Slack-Lato"/>
              </a:rPr>
              <a:t>)</a:t>
            </a:r>
          </a:p>
          <a:p>
            <a:pPr algn="l">
              <a:buFont typeface="Arial" panose="020B0604020202020204" pitchFamily="34" charset="0"/>
              <a:buNone/>
            </a:pPr>
            <a:r>
              <a:rPr lang="en-US" b="0" i="0" dirty="0">
                <a:solidFill>
                  <a:srgbClr val="D1D2D3"/>
                </a:solidFill>
                <a:effectLst/>
                <a:latin typeface="Slack-Lato"/>
              </a:rPr>
              <a:t>- Env vars</a:t>
            </a:r>
          </a:p>
          <a:p>
            <a:pPr algn="l">
              <a:buFont typeface="Arial" panose="020B0604020202020204" pitchFamily="34" charset="0"/>
              <a:buNone/>
            </a:pPr>
            <a:r>
              <a:rPr lang="en-US" b="0" i="0" dirty="0">
                <a:solidFill>
                  <a:srgbClr val="D1D2D3"/>
                </a:solidFill>
                <a:effectLst/>
                <a:latin typeface="Slack-Lato"/>
              </a:rPr>
              <a:t>- what slots are</a:t>
            </a:r>
          </a:p>
          <a:p>
            <a:pPr algn="l">
              <a:buFont typeface="Arial" panose="020B0604020202020204" pitchFamily="34" charset="0"/>
              <a:buNone/>
            </a:pPr>
            <a:r>
              <a:rPr lang="en-US" b="0" i="0" dirty="0">
                <a:solidFill>
                  <a:srgbClr val="D1D2D3"/>
                </a:solidFill>
                <a:effectLst/>
                <a:latin typeface="Slack-Lato"/>
              </a:rPr>
              <a:t>- Kudu is a thing that exists and why it’s useful</a:t>
            </a:r>
          </a:p>
          <a:p>
            <a:pPr algn="l">
              <a:buFont typeface="Arial" panose="020B0604020202020204" pitchFamily="34" charset="0"/>
              <a:buNone/>
            </a:pPr>
            <a:r>
              <a:rPr lang="en-US" b="0" i="0" dirty="0">
                <a:solidFill>
                  <a:srgbClr val="D1D2D3"/>
                </a:solidFill>
                <a:effectLst/>
                <a:latin typeface="Slack-Lato"/>
              </a:rPr>
              <a:t>- Log stream for really bad stuff going down </a:t>
            </a:r>
            <a:r>
              <a:rPr lang="en-US" b="0" i="0" dirty="0" err="1">
                <a:solidFill>
                  <a:srgbClr val="D1D2D3"/>
                </a:solidFill>
                <a:effectLst/>
                <a:latin typeface="Slack-Lato"/>
              </a:rPr>
              <a:t>bc</a:t>
            </a:r>
            <a:r>
              <a:rPr lang="en-US" b="0" i="0" dirty="0">
                <a:solidFill>
                  <a:srgbClr val="D1D2D3"/>
                </a:solidFill>
                <a:effectLst/>
                <a:latin typeface="Slack-Lato"/>
              </a:rPr>
              <a:t> ideally you’re using AppInsights or Log Analytics</a:t>
            </a:r>
          </a:p>
          <a:p>
            <a:pPr marL="171450" indent="-171450" algn="l">
              <a:buFontTx/>
              <a:buChar char="-"/>
            </a:pPr>
            <a:r>
              <a:rPr lang="en-US" b="0" i="0" dirty="0">
                <a:solidFill>
                  <a:srgbClr val="D1D2D3"/>
                </a:solidFill>
                <a:effectLst/>
                <a:latin typeface="Slack-Lato"/>
              </a:rPr>
              <a:t>The app running at a URL</a:t>
            </a:r>
          </a:p>
          <a:p>
            <a:pPr marL="171450" indent="-171450" algn="l">
              <a:buFontTx/>
              <a:buChar char="-"/>
            </a:pPr>
            <a:r>
              <a:rPr lang="en-US" b="0" i="0" dirty="0">
                <a:solidFill>
                  <a:srgbClr val="D1D2D3"/>
                </a:solidFill>
                <a:effectLst/>
                <a:latin typeface="Slack-Lato"/>
              </a:rPr>
              <a:t>Click on it and go to /</a:t>
            </a:r>
            <a:r>
              <a:rPr lang="en-US" b="0" i="0" dirty="0" err="1">
                <a:solidFill>
                  <a:srgbClr val="D1D2D3"/>
                </a:solidFill>
                <a:effectLst/>
                <a:latin typeface="Slack-Lato"/>
              </a:rPr>
              <a:t>api</a:t>
            </a:r>
            <a:r>
              <a:rPr lang="en-US" b="0" i="0" dirty="0">
                <a:solidFill>
                  <a:srgbClr val="D1D2D3"/>
                </a:solidFill>
                <a:effectLst/>
                <a:latin typeface="Slack-Lato"/>
              </a:rPr>
              <a:t>/</a:t>
            </a:r>
            <a:r>
              <a:rPr lang="en-US" b="0" i="0" dirty="0" err="1">
                <a:solidFill>
                  <a:srgbClr val="D1D2D3"/>
                </a:solidFill>
                <a:effectLst/>
                <a:latin typeface="Slack-Lato"/>
              </a:rPr>
              <a:t>weatherforecast</a:t>
            </a:r>
            <a:r>
              <a:rPr lang="en-US" b="0" i="0" dirty="0">
                <a:solidFill>
                  <a:srgbClr val="D1D2D3"/>
                </a:solidFill>
                <a:effectLst/>
                <a:latin typeface="Slack-Lato"/>
              </a:rPr>
              <a:t> and /</a:t>
            </a:r>
            <a:r>
              <a:rPr lang="en-US" b="0" i="0" dirty="0" err="1">
                <a:solidFill>
                  <a:srgbClr val="D1D2D3"/>
                </a:solidFill>
                <a:effectLst/>
                <a:latin typeface="Slack-Lato"/>
              </a:rPr>
              <a:t>api</a:t>
            </a:r>
            <a:r>
              <a:rPr lang="en-US" b="0" i="0" dirty="0">
                <a:solidFill>
                  <a:srgbClr val="D1D2D3"/>
                </a:solidFill>
                <a:effectLst/>
                <a:latin typeface="Slack-Lato"/>
              </a:rPr>
              <a:t>/</a:t>
            </a:r>
            <a:r>
              <a:rPr lang="en-US" b="0" i="0" dirty="0" err="1">
                <a:solidFill>
                  <a:srgbClr val="D1D2D3"/>
                </a:solidFill>
                <a:effectLst/>
                <a:latin typeface="Slack-Lato"/>
              </a:rPr>
              <a:t>weatherforecast</a:t>
            </a:r>
            <a:r>
              <a:rPr lang="en-US" b="0" i="0" dirty="0">
                <a:solidFill>
                  <a:srgbClr val="D1D2D3"/>
                </a:solidFill>
                <a:effectLst/>
                <a:latin typeface="Slack-Lato"/>
              </a:rPr>
              <a:t>/slow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ACEE071-6BA9-400B-8DDD-7178D39C29B3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0234806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952A57-FC26-9289-7EC1-17AE9A9EAA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992635C-59CB-F6D9-99C7-35FC08419A8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66FC761-A86F-089A-D9B8-AE901F52EFD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F7B5114-DD40-73C1-DB34-D8D75D53BD5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ACEE071-6BA9-400B-8DDD-7178D39C29B3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2004493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ACEE071-6BA9-400B-8DDD-7178D39C29B3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2228625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B57EC6A-F5A4-441D-B3C5-D1EF8312AF7C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049834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FBF3CF-9460-5E61-E03A-E34F81DF97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CD52087-79D1-58CF-1CCD-8F152A13787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5E8FFF2-3107-F936-2FB9-3AE8E76D197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C4631D-9D4E-D465-A315-783870F3257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B57EC6A-F5A4-441D-B3C5-D1EF8312AF7C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8456777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D84AD2-E88E-1F23-0133-325E8DAA9C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0275FBF-E3E9-24E1-562A-07711B95C6F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AA6B049-DACB-4808-9C7A-B490FF2A071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14DF40-F17E-585E-9ACA-48066207332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B57EC6A-F5A4-441D-B3C5-D1EF8312AF7C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9316877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B57EC6A-F5A4-441D-B3C5-D1EF8312AF7C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0029052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1E19EE-BF31-751A-0595-F6594C0597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9A426E1-1BA1-B106-A063-EC3390C271D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245E2E2-8E32-E68C-2D0F-22E3611BC5C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6CEB1BB-AB92-0F6E-34F0-507A24EEF2A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B57EC6A-F5A4-441D-B3C5-D1EF8312AF7C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5278816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Now we can reference resources from one another</a:t>
            </a:r>
          </a:p>
          <a:p>
            <a:endParaRPr lang="en-US" dirty="0"/>
          </a:p>
          <a:p>
            <a:r>
              <a:rPr lang="en-US" dirty="0"/>
              <a:t>This also tells Bicep – create the App Service Plan first before creating the App Service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B57EC6A-F5A4-441D-B3C5-D1EF8312AF7C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7253515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Problem with the previous example is those names are hardcoded right. But we probably want like a Dev + Prod name</a:t>
            </a:r>
          </a:p>
          <a:p>
            <a:endParaRPr lang="en-US" dirty="0"/>
          </a:p>
          <a:p>
            <a:r>
              <a:rPr lang="en-US" dirty="0"/>
              <a:t>But how do we create this name dynamically?</a:t>
            </a:r>
          </a:p>
          <a:p>
            <a:endParaRPr lang="en-US" dirty="0"/>
          </a:p>
          <a:p>
            <a:r>
              <a:rPr lang="en-US" dirty="0"/>
              <a:t>Enter Parameter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B57EC6A-F5A4-441D-B3C5-D1EF8312AF7C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1462717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You can store all your Dev values together in a single file</a:t>
            </a:r>
          </a:p>
          <a:p>
            <a:endParaRPr lang="en-US" dirty="0"/>
          </a:p>
          <a:p>
            <a:r>
              <a:rPr lang="en-US" dirty="0"/>
              <a:t>The using tells it what parameters are required and even works with the @allowed value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B57EC6A-F5A4-441D-B3C5-D1EF8312AF7C}" type="slidenum">
              <a:rPr lang="en-US" smtClean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2014229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B57EC6A-F5A4-441D-B3C5-D1EF8312AF7C}" type="slidenum">
              <a:rPr lang="en-US" smtClean="0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230656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B57EC6A-F5A4-441D-B3C5-D1EF8312AF7C}" type="slidenum">
              <a:rPr lang="en-US" smtClean="0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0508550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B57EC6A-F5A4-441D-B3C5-D1EF8312AF7C}" type="slidenum">
              <a:rPr lang="en-US" smtClean="0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0858917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B57EC6A-F5A4-441D-B3C5-D1EF8312AF7C}" type="slidenum">
              <a:rPr lang="en-US" smtClean="0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8488068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ACEE071-6BA9-400B-8DDD-7178D39C29B3}" type="slidenum">
              <a:rPr lang="en-US" smtClean="0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9284945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7D4F51-19EC-537A-BF13-51F226CD44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F09B579-6D4C-6FBA-CA48-BA8D6286F4C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A6C13B6-40AC-9420-3C55-5F421252CBB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VS Code</a:t>
            </a:r>
          </a:p>
          <a:p>
            <a:r>
              <a:rPr lang="en-US" dirty="0"/>
              <a:t>Show the </a:t>
            </a:r>
            <a:r>
              <a:rPr lang="en-US" dirty="0" err="1"/>
              <a:t>bicepparam</a:t>
            </a:r>
            <a:r>
              <a:rPr lang="en-US" dirty="0"/>
              <a:t> files</a:t>
            </a:r>
          </a:p>
          <a:p>
            <a:r>
              <a:rPr lang="en-US" dirty="0"/>
              <a:t>Show referencing the code from one another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928FD4-4EA2-A3FC-3DDE-1CC1307C60D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ACEE071-6BA9-400B-8DDD-7178D39C29B3}" type="slidenum">
              <a:rPr lang="en-US" smtClean="0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3765727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94A7C5-B595-A7C2-2D35-FEC9A1EE19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425DCEC-A6AF-88F7-55E6-FC98613DAC3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741934D-D8AF-162B-9422-FC1EA0F7D3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F9CD28B-D329-4E3F-8B89-9FA1301F75A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ACEE071-6BA9-400B-8DDD-7178D39C29B3}" type="slidenum">
              <a:rPr lang="en-US" smtClean="0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6766736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ACEE071-6BA9-400B-8DDD-7178D39C29B3}" type="slidenum">
              <a:rPr lang="en-US" smtClean="0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4134610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7F2FA8-F8A8-1737-6573-4CACFEB198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1F5BE0E-145C-D4FD-6FED-30B5C8FDBFE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258981-9026-DE42-7CAC-15C87469BB1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E385EC-4640-28C0-61C5-465EE3170EC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ACEE071-6BA9-400B-8DDD-7178D39C29B3}" type="slidenum">
              <a:rPr lang="en-US" smtClean="0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3175729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B57EC6A-F5A4-441D-B3C5-D1EF8312AF7C}" type="slidenum">
              <a:rPr lang="en-US" smtClean="0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1751369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C6123F-6CBC-C2B4-4F98-121CFDA0D7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5A6B2C4-BF10-A2DD-5DBF-C44781F2D94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D771A42-D27E-8A05-2B34-D5FAD57865E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30EBA84-B4A7-A37B-553E-DA7B4FC635D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B57EC6A-F5A4-441D-B3C5-D1EF8312AF7C}" type="slidenum">
              <a:rPr lang="en-US" smtClean="0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3725139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C7D03D-9C55-5B87-000F-E916DD6781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0F5A155-31D2-4423-B559-B3B0534A976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235BD70-20C9-2ADA-4509-F563A25DE75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1CC3ACF-22C1-404E-3F3B-5611FD65469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B57EC6A-F5A4-441D-B3C5-D1EF8312AF7C}" type="slidenum">
              <a:rPr lang="en-US" smtClean="0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5414798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23272B-969D-C3E6-10B3-05B68E8C26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9E8B177-1793-4BBE-166B-6C12BA1FEB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D1A63CF-1BCC-4C3D-DF6A-7852ABE97E0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959B7DC-F466-7480-E88B-536A09F0012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B57EC6A-F5A4-441D-B3C5-D1EF8312AF7C}" type="slidenum">
              <a:rPr lang="en-US" smtClean="0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5137272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132211-427E-BD8B-3FB4-E1962F716E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3D17FA2-5A90-CDB8-6AC6-0C3AA2D4587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D4F5626-7E8A-DD3C-0126-A1AEAA046F0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B6B73B-DDF7-241F-B649-219338C70BB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B57EC6A-F5A4-441D-B3C5-D1EF8312AF7C}" type="slidenum">
              <a:rPr lang="en-US" smtClean="0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4761357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7CE612-44E4-92BB-E1C6-FF131BE59F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EF9E522-6E8C-965C-227B-13BB0AEADA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16D67F7-7EAF-13AA-A693-E6C55308E7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BB9A408-BC79-2ED8-2E81-8895C03CF4E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B57EC6A-F5A4-441D-B3C5-D1EF8312AF7C}" type="slidenum">
              <a:rPr lang="en-US" smtClean="0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4903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FC24C9-E6F8-5D7E-EC65-F946C22E39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D7C8D2C-A8DB-5C31-6402-B3A1A7544BB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9309AB4-EDED-E7BC-11A4-BF0164A3A6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0D762B-6C0B-79EF-4BEA-F8F2B2D292E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B57EC6A-F5A4-441D-B3C5-D1EF8312AF7C}" type="slidenum">
              <a:rPr lang="en-US" smtClean="0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1882825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ACEE071-6BA9-400B-8DDD-7178D39C29B3}" type="slidenum">
              <a:rPr lang="en-US" smtClean="0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437152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4E38F3-0C45-DDCA-EA79-E2B80E8BF5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27E218F-94FB-E99F-B7DD-82D0827506E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30603F4-295B-84A4-C645-DD77FD480DF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F5AC00C-BB77-24A8-7ADC-CBB062B79BB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B57EC6A-F5A4-441D-B3C5-D1EF8312AF7C}" type="slidenum">
              <a:rPr lang="en-US" smtClean="0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9311327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B57EC6A-F5A4-441D-B3C5-D1EF8312AF7C}" type="slidenum">
              <a:rPr lang="en-US" smtClean="0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146029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B57EC6A-F5A4-441D-B3C5-D1EF8312AF7C}" type="slidenum">
              <a:rPr lang="en-US" smtClean="0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892726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B57EC6A-F5A4-441D-B3C5-D1EF8312AF7C}" type="slidenum">
              <a:rPr lang="en-US" smtClean="0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5665314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B57EC6A-F5A4-441D-B3C5-D1EF8312AF7C}" type="slidenum">
              <a:rPr lang="en-US" smtClean="0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6917136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B57EC6A-F5A4-441D-B3C5-D1EF8312AF7C}" type="slidenum">
              <a:rPr lang="en-US" smtClean="0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1503870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B57EC6A-F5A4-441D-B3C5-D1EF8312AF7C}" type="slidenum">
              <a:rPr lang="en-US" smtClean="0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9541644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AA934B-11F3-131D-EDE6-21564054E8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6FC33B0-5F0B-2B02-4045-943B048E162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35AFFC0-1A0F-EC37-A824-B141A8F1C99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296BD48-1E57-DBF0-A709-60ACCC59909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ACEE071-6BA9-400B-8DDD-7178D39C29B3}" type="slidenum">
              <a:rPr lang="en-US" smtClean="0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9326588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ACEE071-6BA9-400B-8DDD-7178D39C29B3}" type="slidenum">
              <a:rPr lang="en-US" smtClean="0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1864519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85EA07-C24E-E4FB-4B3A-468DB935E6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6E69F63-A437-C4E9-F106-A7B5C1D97E7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56BBA28-03AD-E150-3A74-CE6B179597E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7B2FFB0-3024-CB10-EFA0-74EB76C8E47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ACEE071-6BA9-400B-8DDD-7178D39C29B3}" type="slidenum">
              <a:rPr lang="en-US" smtClean="0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6044387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B57EC6A-F5A4-441D-B3C5-D1EF8312AF7C}" type="slidenum">
              <a:rPr lang="en-US" smtClean="0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0301256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FDDF79-1CD1-4B08-7C14-63393A76E7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52CA4DF-13BF-5988-BD5F-BD4DF85D8FB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9AF21B7-1BBC-6455-5BF4-4DBC4D12B58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B25E27-A7EC-1BCB-0854-5CED73928D0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B57EC6A-F5A4-441D-B3C5-D1EF8312AF7C}" type="slidenum">
              <a:rPr lang="en-US" smtClean="0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4838903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C7EBD2-3BC1-0578-A4E6-20BDF4F75F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3F2951D-D5BA-1588-0617-9FEB57A9FE4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91AE93C-E486-09F5-7204-9F79473772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19A8F6-DC84-9A56-FA0A-8651CFA0B9F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B57EC6A-F5A4-441D-B3C5-D1EF8312AF7C}" type="slidenum">
              <a:rPr lang="en-US" smtClean="0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3501952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6B7E17-A9CA-59C4-D8D0-CF2B10AA2E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85122AF-A877-A7BC-F277-9659003541D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B90C6DB-F50E-C723-7068-4AD697CD90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7A75FD-8CFA-EED0-0EA4-67B9EEE71C0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B57EC6A-F5A4-441D-B3C5-D1EF8312AF7C}" type="slidenum">
              <a:rPr lang="en-US" smtClean="0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8203655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CE7019-DDCA-A735-A9EF-02056DFE4A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8B8B65B-9B3D-A6AA-7242-0639ABD6FF8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EDF8C7B-B594-3FE7-7B20-0BD942E053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27AB0C-5E02-9F5D-81C9-406F29ACA7F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B57EC6A-F5A4-441D-B3C5-D1EF8312AF7C}" type="slidenum">
              <a:rPr lang="en-US" smtClean="0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5227243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17398C-B13A-8402-8D10-F75B459E81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023EECA-C4C1-C245-075D-EC841B0A09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A856F33-C4A1-6B45-045C-A36B5B7328C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2ACF259-A673-D964-004F-713163EDE0E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B57EC6A-F5A4-441D-B3C5-D1EF8312AF7C}" type="slidenum">
              <a:rPr lang="en-US" smtClean="0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9443150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B57EC6A-F5A4-441D-B3C5-D1EF8312AF7C}" type="slidenum">
              <a:rPr lang="en-US" smtClean="0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8598536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C074461-D808-4EBD-B8B3-953FBFCC6ED3}" type="slidenum">
              <a:rPr lang="en-US" smtClean="0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261155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70D549-F609-4ED3-8963-AF0CBF3680E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BCAA17A-1098-419A-8585-E680D81178E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59A151D-61BD-48D1-8C67-4C327383A4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BF2526-C75C-47BE-928B-0135A92A66BE}" type="datetimeFigureOut">
              <a:rPr lang="en-US" smtClean="0"/>
              <a:t>1/12/2026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572C576-331D-4E09-88E2-6EB25C684F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B359541-EA62-4109-ABD5-F105A295B7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CE6D87-DEBB-4D35-A363-8431759C78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32111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295D01-CAFE-4A1A-A804-F23913EB36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DBD820-3F0E-466E-9035-C5A24E697D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3D017A9-4DF9-4FBC-8DFE-1AF8ABE962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BF2526-C75C-47BE-928B-0135A92A66BE}" type="datetimeFigureOut">
              <a:rPr lang="en-US" smtClean="0"/>
              <a:t>1/12/2026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9C97CE-189D-45E0-91B2-04695DE2E6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86EDA0-DDF2-410C-A702-40E5C32C20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CE6D87-DEBB-4D35-A363-8431759C78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72856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D84772-8467-4E19-8A52-A529C7B3DE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48A9D6B-AA2E-41FA-BDFC-46C87BDCF8D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2B5F044-85E8-449D-A4F3-7EAC9AD07B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BF2526-C75C-47BE-928B-0135A92A66BE}" type="datetimeFigureOut">
              <a:rPr lang="en-US" smtClean="0"/>
              <a:t>1/12/2026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C068485-216E-4AEA-8404-05B4ACF615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1557587-3E1F-480C-81BD-741C81CE44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CE6D87-DEBB-4D35-A363-8431759C78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68658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9F0DC6-DE10-4E0B-BCBA-32E711C8A9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C68941-20E5-4343-8250-265C6DAC54E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0677973-E72E-4CC0-8D61-FCCC8406C11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4EFF417-B339-40DE-B352-1ECEDBB7BA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BF2526-C75C-47BE-928B-0135A92A66BE}" type="datetimeFigureOut">
              <a:rPr lang="en-US" smtClean="0"/>
              <a:t>1/12/2026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145B31E-728B-4DBE-8BD9-E37BC320A5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5D743D7-ECE6-4EEE-A8EE-EFB4DBFE53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CE6D87-DEBB-4D35-A363-8431759C78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464571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55A82E-579C-45F5-A951-1E10C98D14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1672278-8C31-4955-BCB5-81132BB5FB2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FB4B5AF-BC8F-4D55-B34E-3947255AEB4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8C4CE63-7562-4D15-BD15-363CDC2145D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0026435-DAAC-4A88-8E75-D1C9066E3A8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66F1FBD-42A5-4A9E-8F95-934AAA624C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BF2526-C75C-47BE-928B-0135A92A66BE}" type="datetimeFigureOut">
              <a:rPr lang="en-US" smtClean="0"/>
              <a:t>1/12/2026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63529DF-CBEB-4F8A-AE4A-1E17ED0E3F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A11928E-44C3-496F-B06D-DE65B8B56D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CE6D87-DEBB-4D35-A363-8431759C78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92585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61837D-0203-44E9-A800-75FB3F0C90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F7691E0-63A3-4F58-8784-3CF3D4825F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BF2526-C75C-47BE-928B-0135A92A66BE}" type="datetimeFigureOut">
              <a:rPr lang="en-US" smtClean="0"/>
              <a:t>1/12/2026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543B4FF-56D4-4561-8AA0-715AC2EF17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A24245B-8F4F-4989-8B66-F14D9F460D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CE6D87-DEBB-4D35-A363-8431759C78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147482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597D826-C0CD-4DA3-9804-3B37794D9B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BF2526-C75C-47BE-928B-0135A92A66BE}" type="datetimeFigureOut">
              <a:rPr lang="en-US" smtClean="0"/>
              <a:t>1/12/2026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B73DFA2-D509-44F1-BB96-FF03916E0E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BF2E06-E28D-4612-9A89-EBD147748F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CE6D87-DEBB-4D35-A363-8431759C78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920028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9EA060-F102-4A2F-A00A-664EF54800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9E5B43-3611-4819-A036-8C5F1E42BE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6EA2AB7-BFE4-490A-AFEB-5A016701BA7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C585B19-24B8-4C1F-89D6-5412D09275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BF2526-C75C-47BE-928B-0135A92A66BE}" type="datetimeFigureOut">
              <a:rPr lang="en-US" smtClean="0"/>
              <a:t>1/12/2026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9179F1F-F5FB-498D-A4C7-6EDC1DD783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1A78AB6-BF35-4C0B-B331-22ED520AE9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CE6D87-DEBB-4D35-A363-8431759C78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38721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A6FE43-BAB1-41F0-BFF0-94DD8B3F4B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2C826E6-5590-4624-A426-EE1A424BC75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5D4AF21-041F-4FA7-87E4-B870EDA36B3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C47AF2C-DB15-4789-9385-B5DB533244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BF2526-C75C-47BE-928B-0135A92A66BE}" type="datetimeFigureOut">
              <a:rPr lang="en-US" smtClean="0"/>
              <a:t>1/12/2026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F65690-CB51-4930-B426-18021D38FB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C4FFDAB-4B46-4100-A689-0064DB52B0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CE6D87-DEBB-4D35-A363-8431759C78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072500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174FE6-F914-41AA-88EC-E4EB246CE9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B76D8E4-7B81-43C8-9E0C-E6D9BBE6A48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C0A446-E986-479F-865A-253DDD95AA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BF2526-C75C-47BE-928B-0135A92A66BE}" type="datetimeFigureOut">
              <a:rPr lang="en-US" smtClean="0"/>
              <a:t>1/12/2026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962C5E-6BC2-4157-896F-20C3B39561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2CA8BB-B7DC-49ED-A1F9-4544931963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CE6D87-DEBB-4D35-A363-8431759C78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491396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1BD8934-B74E-4AE0-B765-ECE3C9A074F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8A56AB3-C0E0-4C3D-B3A4-916BF6C3131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742220-AFF0-42C5-AF12-AD2AC57698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BF2526-C75C-47BE-928B-0135A92A66BE}" type="datetimeFigureOut">
              <a:rPr lang="en-US" smtClean="0"/>
              <a:t>1/12/2026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BED1E5-E582-4C65-900E-24E56C3987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9EE9A6-F609-4B8B-AE51-59399BB00C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CE6D87-DEBB-4D35-A363-8431759C78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55957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8D6E2E7-5F4D-4B43-B201-1C682CF80B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DCA8DF1-9081-4F65-B36D-44EAFBA9C77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3121AD-9DC3-463F-98F7-B2E1CA5400C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4BF2526-C75C-47BE-928B-0135A92A66BE}" type="datetimeFigureOut">
              <a:rPr lang="en-US" smtClean="0"/>
              <a:t>1/12/2026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800C0D7-400D-4BA6-BC06-CFC5FBDCFCE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72E6C9D-08DD-4E4B-8A70-A4B32C36A21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8CE6D87-DEBB-4D35-A363-8431759C78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23254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1" r:id="rId1"/>
    <p:sldLayoutId id="2147483692" r:id="rId2"/>
    <p:sldLayoutId id="2147483693" r:id="rId3"/>
    <p:sldLayoutId id="2147483694" r:id="rId4"/>
    <p:sldLayoutId id="2147483695" r:id="rId5"/>
    <p:sldLayoutId id="2147483696" r:id="rId6"/>
    <p:sldLayoutId id="2147483697" r:id="rId7"/>
    <p:sldLayoutId id="2147483698" r:id="rId8"/>
    <p:sldLayoutId id="2147483699" r:id="rId9"/>
    <p:sldLayoutId id="2147483700" r:id="rId10"/>
    <p:sldLayoutId id="214748370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cottsauber/workshop-dotnet-azure-github-bicep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.png"/><Relationship Id="rId5" Type="http://schemas.openxmlformats.org/officeDocument/2006/relationships/hyperlink" Target="https://dot.net/" TargetMode="External"/><Relationship Id="rId4" Type="http://schemas.openxmlformats.org/officeDocument/2006/relationships/hyperlink" Target="mailto:scott@saubersoftware.com" TargetMode="Externa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png"/><Relationship Id="rId3" Type="http://schemas.openxmlformats.org/officeDocument/2006/relationships/hyperlink" Target="https://leantechniques.com/" TargetMode="External"/><Relationship Id="rId7" Type="http://schemas.openxmlformats.org/officeDocument/2006/relationships/hyperlink" Target="https://www.red-gate.com/hub/events/friends-of-rg/friend/ScottSauber" TargetMode="External"/><Relationship Id="rId12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meetup.com/iadnug/" TargetMode="External"/><Relationship Id="rId11" Type="http://schemas.openxmlformats.org/officeDocument/2006/relationships/image" Target="../media/image6.jpeg"/><Relationship Id="rId5" Type="http://schemas.openxmlformats.org/officeDocument/2006/relationships/hyperlink" Target="https://dometrain.com/author/scott-sauber/" TargetMode="External"/><Relationship Id="rId10" Type="http://schemas.openxmlformats.org/officeDocument/2006/relationships/image" Target="../media/image5.jpeg"/><Relationship Id="rId4" Type="http://schemas.openxmlformats.org/officeDocument/2006/relationships/hyperlink" Target="https://mvp.microsoft.com/en-us/PublicProfile/5005146?fullName=Scott%20%20Sauber" TargetMode="External"/><Relationship Id="rId9" Type="http://schemas.openxmlformats.org/officeDocument/2006/relationships/image" Target="../media/image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learn.microsoft.com/en-us/azure/cloud-adoption-framework/ready/azure-best-practices/resource-abbreviations#compute-and-web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dora.dev/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.png"/><Relationship Id="rId4" Type="http://schemas.openxmlformats.org/officeDocument/2006/relationships/hyperlink" Target="https://dora.dev/capabilities/" TargetMode="Externa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4.sv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4.sv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4.sv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3.png"/><Relationship Id="rId4" Type="http://schemas.openxmlformats.org/officeDocument/2006/relationships/image" Target="../media/image20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5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6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hyperlink" Target="https://learn.microsoft.com/en-us/azure/templates/microsoft.web/sites?pivots=deployment-language-bicep" TargetMode="External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cottsauber/workshop-dotnet-azure-github-bicep" TargetMode="External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9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png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png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9.pn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1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0.png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1.png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1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1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cottsauber/workshop-dotnet-azure-github-bicep" TargetMode="External"/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7.png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zure-Samples/bicep-github-actions/blob/main/.github/workflows/bicep-whatif-deploy.yml" TargetMode="External"/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5.png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cottsauber/workshop-dotnet-azure-github-bicep" TargetMode="External"/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8.jpeg"/><Relationship Id="rId4" Type="http://schemas.openxmlformats.org/officeDocument/2006/relationships/image" Target="../media/image37.png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69B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FE7171-AFDD-4862-9A69-284665CD33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" y="1532573"/>
            <a:ext cx="12192000" cy="3655653"/>
          </a:xfrm>
        </p:spPr>
        <p:txBody>
          <a:bodyPr>
            <a:noAutofit/>
          </a:bodyPr>
          <a:lstStyle/>
          <a:p>
            <a:r>
              <a:rPr lang="en-US" sz="8000" b="1" dirty="0">
                <a:solidFill>
                  <a:schemeClr val="bg1"/>
                </a:solidFill>
                <a:latin typeface="+mn-lt"/>
                <a:ea typeface="Open Sans" panose="020B0606030504020204" pitchFamily="34" charset="0"/>
                <a:cs typeface="Open Sans" panose="020B0606030504020204" pitchFamily="34" charset="0"/>
              </a:rPr>
              <a:t>Deploying a .NET 10 App</a:t>
            </a:r>
            <a:br>
              <a:rPr lang="en-US" sz="8000" b="1" dirty="0">
                <a:solidFill>
                  <a:schemeClr val="bg1"/>
                </a:solidFill>
                <a:latin typeface="+mn-lt"/>
                <a:ea typeface="Open Sans" panose="020B0606030504020204" pitchFamily="34" charset="0"/>
                <a:cs typeface="Open Sans" panose="020B0606030504020204" pitchFamily="34" charset="0"/>
              </a:rPr>
            </a:br>
            <a:r>
              <a:rPr lang="en-US" sz="8000" b="1" dirty="0">
                <a:solidFill>
                  <a:schemeClr val="bg1"/>
                </a:solidFill>
                <a:latin typeface="+mn-lt"/>
                <a:ea typeface="Open Sans" panose="020B0606030504020204" pitchFamily="34" charset="0"/>
                <a:cs typeface="Open Sans" panose="020B0606030504020204" pitchFamily="34" charset="0"/>
              </a:rPr>
              <a:t>to Azure using </a:t>
            </a:r>
            <a:br>
              <a:rPr lang="en-US" sz="8000" b="1" dirty="0">
                <a:solidFill>
                  <a:schemeClr val="bg1"/>
                </a:solidFill>
                <a:latin typeface="+mn-lt"/>
                <a:ea typeface="Open Sans" panose="020B0606030504020204" pitchFamily="34" charset="0"/>
                <a:cs typeface="Open Sans" panose="020B0606030504020204" pitchFamily="34" charset="0"/>
              </a:rPr>
            </a:br>
            <a:r>
              <a:rPr lang="en-US" sz="8000" b="1" dirty="0">
                <a:solidFill>
                  <a:schemeClr val="bg1"/>
                </a:solidFill>
                <a:latin typeface="+mn-lt"/>
                <a:ea typeface="Open Sans" panose="020B0606030504020204" pitchFamily="34" charset="0"/>
                <a:cs typeface="Open Sans" panose="020B0606030504020204" pitchFamily="34" charset="0"/>
              </a:rPr>
              <a:t>Bicep and GitHub Actions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938EF936-BB12-46CA-86F7-049CEBB8D29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7446" y="6295281"/>
            <a:ext cx="12192000" cy="525294"/>
          </a:xfrm>
        </p:spPr>
        <p:txBody>
          <a:bodyPr>
            <a:normAutofit/>
          </a:bodyPr>
          <a:lstStyle/>
          <a:p>
            <a:pPr algn="l"/>
            <a:r>
              <a:rPr lang="en-US" dirty="0">
                <a:solidFill>
                  <a:schemeClr val="bg1"/>
                </a:solidFill>
                <a:ea typeface="Open Sans" panose="020B0606030504020204" pitchFamily="34" charset="0"/>
                <a:cs typeface="Open Sans" panose="020B0606030504020204" pitchFamily="34" charset="0"/>
              </a:rPr>
              <a:t>Slides at scottsauber.com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48F464C5-3076-4402-9791-59D524AC8DC8}"/>
              </a:ext>
            </a:extLst>
          </p:cNvPr>
          <p:cNvGrpSpPr/>
          <p:nvPr/>
        </p:nvGrpSpPr>
        <p:grpSpPr>
          <a:xfrm>
            <a:off x="10085456" y="6295281"/>
            <a:ext cx="2106544" cy="474323"/>
            <a:chOff x="9994831" y="6185410"/>
            <a:chExt cx="2106544" cy="474323"/>
          </a:xfrm>
        </p:grpSpPr>
        <p:pic>
          <p:nvPicPr>
            <p:cNvPr id="6" name="Picture 2" descr="Image result for twitter logo">
              <a:extLst>
                <a:ext uri="{FF2B5EF4-FFF2-40B4-BE49-F238E27FC236}">
                  <a16:creationId xmlns:a16="http://schemas.microsoft.com/office/drawing/2014/main" id="{BF5CBA11-98FF-4FEC-A8EF-50E5FADF0F9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 cstate="hq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994831" y="6267602"/>
              <a:ext cx="328512" cy="26676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7" name="Subtitle 2">
              <a:extLst>
                <a:ext uri="{FF2B5EF4-FFF2-40B4-BE49-F238E27FC236}">
                  <a16:creationId xmlns:a16="http://schemas.microsoft.com/office/drawing/2014/main" id="{9B9DABC1-AB03-4BB4-80DE-954141378043}"/>
                </a:ext>
              </a:extLst>
            </p:cNvPr>
            <p:cNvSpPr txBox="1">
              <a:spLocks/>
            </p:cNvSpPr>
            <p:nvPr/>
          </p:nvSpPr>
          <p:spPr>
            <a:xfrm>
              <a:off x="10041147" y="6185410"/>
              <a:ext cx="2060228" cy="474323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 err="1">
                  <a:solidFill>
                    <a:schemeClr val="bg1"/>
                  </a:solidFill>
                </a:rPr>
                <a:t>scottsauber</a:t>
              </a:r>
              <a:endParaRPr lang="en-US" dirty="0">
                <a:solidFill>
                  <a:schemeClr val="bg1"/>
                </a:solidFill>
              </a:endParaRPr>
            </a:p>
          </p:txBody>
        </p:sp>
        <p:pic>
          <p:nvPicPr>
            <p:cNvPr id="8" name="Picture 2" descr="Image result for twitter logo">
              <a:extLst>
                <a:ext uri="{FF2B5EF4-FFF2-40B4-BE49-F238E27FC236}">
                  <a16:creationId xmlns:a16="http://schemas.microsoft.com/office/drawing/2014/main" id="{9312450C-A15A-4CF9-8CFC-DDCA027CB85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 cstate="hq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994831" y="6290606"/>
              <a:ext cx="328512" cy="26676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243067988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>
                    <a:lumMod val="65000"/>
                  </a:schemeClr>
                </a:solidFill>
                <a:ea typeface="Open Sans" panose="020B0606030504020204" pitchFamily="34" charset="0"/>
                <a:cs typeface="Open Sans" panose="020B0606030504020204" pitchFamily="34" charset="0"/>
              </a:rPr>
              <a:t>What you need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929403"/>
          </a:xfrm>
        </p:spPr>
        <p:txBody>
          <a:bodyPr>
            <a:normAutofit fontScale="92500" lnSpcReduction="10000"/>
          </a:bodyPr>
          <a:lstStyle/>
          <a:p>
            <a:r>
              <a:rPr lang="en-US" dirty="0">
                <a:ea typeface="Open Sans" panose="020B0606030504020204" pitchFamily="34" charset="0"/>
                <a:cs typeface="Open Sans" panose="020B0606030504020204" pitchFamily="34" charset="0"/>
              </a:rPr>
              <a:t>Required:</a:t>
            </a:r>
          </a:p>
          <a:p>
            <a:pPr lvl="1"/>
            <a:r>
              <a:rPr lang="en-US" dirty="0">
                <a:ea typeface="Open Sans" panose="020B0606030504020204" pitchFamily="34" charset="0"/>
                <a:cs typeface="Open Sans" panose="020B0606030504020204" pitchFamily="34" charset="0"/>
              </a:rPr>
              <a:t>An editor of some sort</a:t>
            </a:r>
          </a:p>
          <a:p>
            <a:pPr lvl="1"/>
            <a:r>
              <a:rPr lang="en-US" dirty="0">
                <a:ea typeface="Open Sans" panose="020B0606030504020204" pitchFamily="34" charset="0"/>
                <a:cs typeface="Open Sans" panose="020B0606030504020204" pitchFamily="34" charset="0"/>
              </a:rPr>
              <a:t>GitHub account</a:t>
            </a:r>
          </a:p>
          <a:p>
            <a:pPr lvl="1"/>
            <a:r>
              <a:rPr lang="en-US" dirty="0">
                <a:ea typeface="Open Sans" panose="020B0606030504020204" pitchFamily="34" charset="0"/>
                <a:cs typeface="Open Sans" panose="020B0606030504020204" pitchFamily="34" charset="0"/>
              </a:rPr>
              <a:t>Some basic Git experience (clone, commit, push, pull)</a:t>
            </a:r>
          </a:p>
          <a:p>
            <a:pPr lvl="1"/>
            <a:r>
              <a:rPr lang="en-US" dirty="0">
                <a:ea typeface="Open Sans" panose="020B0606030504020204" pitchFamily="34" charset="0"/>
                <a:cs typeface="Open Sans" panose="020B0606030504020204" pitchFamily="34" charset="0"/>
              </a:rPr>
              <a:t>Fork this repo: </a:t>
            </a:r>
            <a:r>
              <a:rPr lang="en-US" dirty="0">
                <a:ea typeface="Open Sans" panose="020B0606030504020204" pitchFamily="34" charset="0"/>
                <a:cs typeface="Open Sans" panose="020B0606030504020204" pitchFamily="34" charset="0"/>
                <a:hlinkClick r:id="rId3"/>
              </a:rPr>
              <a:t>https://github.com/scottsauber/workshop-dotnet-azure-github-bicep</a:t>
            </a:r>
            <a:endParaRPr lang="en-US" dirty="0"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r>
              <a:rPr lang="en-US" dirty="0">
                <a:ea typeface="Open Sans" panose="020B0606030504020204" pitchFamily="34" charset="0"/>
                <a:cs typeface="Open Sans" panose="020B0606030504020204" pitchFamily="34" charset="0"/>
              </a:rPr>
              <a:t>Email </a:t>
            </a:r>
            <a:r>
              <a:rPr lang="en-US" dirty="0">
                <a:ea typeface="Open Sans" panose="020B0606030504020204" pitchFamily="34" charset="0"/>
                <a:cs typeface="Open Sans" panose="020B0606030504020204" pitchFamily="34" charset="0"/>
                <a:hlinkClick r:id="rId4"/>
              </a:rPr>
              <a:t>scott@saubersoftware.com</a:t>
            </a:r>
            <a:r>
              <a:rPr lang="en-US" dirty="0">
                <a:ea typeface="Open Sans" panose="020B0606030504020204" pitchFamily="34" charset="0"/>
                <a:cs typeface="Open Sans" panose="020B0606030504020204" pitchFamily="34" charset="0"/>
              </a:rPr>
              <a:t> if you’re doing hands on to get free Azure access</a:t>
            </a:r>
          </a:p>
          <a:p>
            <a:pPr lvl="1"/>
            <a:r>
              <a:rPr lang="en-US" dirty="0">
                <a:ea typeface="Open Sans" panose="020B0606030504020204" pitchFamily="34" charset="0"/>
                <a:cs typeface="Open Sans" panose="020B0606030504020204" pitchFamily="34" charset="0"/>
              </a:rPr>
              <a:t>Email you will use for Azure</a:t>
            </a:r>
          </a:p>
          <a:p>
            <a:pPr lvl="1"/>
            <a:r>
              <a:rPr lang="en-US" dirty="0">
                <a:ea typeface="Open Sans" panose="020B0606030504020204" pitchFamily="34" charset="0"/>
                <a:cs typeface="Open Sans" panose="020B0606030504020204" pitchFamily="34" charset="0"/>
              </a:rPr>
              <a:t>GitHub username</a:t>
            </a:r>
          </a:p>
          <a:p>
            <a:r>
              <a:rPr lang="en-US" dirty="0">
                <a:ea typeface="Open Sans" panose="020B0606030504020204" pitchFamily="34" charset="0"/>
                <a:cs typeface="Open Sans" panose="020B0606030504020204" pitchFamily="34" charset="0"/>
              </a:rPr>
              <a:t>Optional:</a:t>
            </a:r>
          </a:p>
          <a:p>
            <a:pPr lvl="1"/>
            <a:r>
              <a:rPr lang="en-US" dirty="0">
                <a:ea typeface="Open Sans" panose="020B0606030504020204" pitchFamily="34" charset="0"/>
                <a:cs typeface="Open Sans" panose="020B0606030504020204" pitchFamily="34" charset="0"/>
              </a:rPr>
              <a:t>.NET 10 (</a:t>
            </a:r>
            <a:r>
              <a:rPr lang="en-US" dirty="0">
                <a:ea typeface="Open Sans" panose="020B0606030504020204" pitchFamily="34" charset="0"/>
                <a:cs typeface="Open Sans" panose="020B0606030504020204" pitchFamily="34" charset="0"/>
                <a:hlinkClick r:id="rId5"/>
              </a:rPr>
              <a:t>https://dot.net</a:t>
            </a:r>
            <a:r>
              <a:rPr lang="en-US" dirty="0">
                <a:ea typeface="Open Sans" panose="020B0606030504020204" pitchFamily="34" charset="0"/>
                <a:cs typeface="Open Sans" panose="020B0606030504020204" pitchFamily="34" charset="0"/>
              </a:rPr>
              <a:t>) </a:t>
            </a:r>
          </a:p>
          <a:p>
            <a:pPr lvl="1"/>
            <a:r>
              <a:rPr lang="en-US" dirty="0">
                <a:ea typeface="Open Sans" panose="020B0606030504020204" pitchFamily="34" charset="0"/>
                <a:cs typeface="Open Sans" panose="020B0606030504020204" pitchFamily="34" charset="0"/>
              </a:rPr>
              <a:t>Editor/IDE that supports .NET 10 (Rider 2025.3+, VS 2026+, VS Code)</a:t>
            </a:r>
          </a:p>
          <a:p>
            <a:pPr lvl="1"/>
            <a:r>
              <a:rPr lang="en-US" dirty="0">
                <a:ea typeface="Open Sans" panose="020B0606030504020204" pitchFamily="34" charset="0"/>
                <a:cs typeface="Open Sans" panose="020B0606030504020204" pitchFamily="34" charset="0"/>
              </a:rPr>
              <a:t>Bicep extensions are recommended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37E530A9-A079-9015-8E7F-D7E9526B55AF}"/>
              </a:ext>
            </a:extLst>
          </p:cNvPr>
          <p:cNvGrpSpPr/>
          <p:nvPr/>
        </p:nvGrpSpPr>
        <p:grpSpPr>
          <a:xfrm>
            <a:off x="9970651" y="6185410"/>
            <a:ext cx="2130724" cy="474323"/>
            <a:chOff x="9970651" y="6185410"/>
            <a:chExt cx="2130724" cy="474323"/>
          </a:xfrm>
        </p:grpSpPr>
        <p:sp>
          <p:nvSpPr>
            <p:cNvPr id="5" name="Subtitle 2">
              <a:extLst>
                <a:ext uri="{FF2B5EF4-FFF2-40B4-BE49-F238E27FC236}">
                  <a16:creationId xmlns:a16="http://schemas.microsoft.com/office/drawing/2014/main" id="{C277CDDD-BFE1-7D75-B431-61E190B8E121}"/>
                </a:ext>
              </a:extLst>
            </p:cNvPr>
            <p:cNvSpPr txBox="1">
              <a:spLocks/>
            </p:cNvSpPr>
            <p:nvPr/>
          </p:nvSpPr>
          <p:spPr>
            <a:xfrm>
              <a:off x="10041147" y="6185410"/>
              <a:ext cx="2060228" cy="474323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 err="1">
                  <a:solidFill>
                    <a:schemeClr val="bg1">
                      <a:lumMod val="65000"/>
                    </a:schemeClr>
                  </a:solidFill>
                </a:rPr>
                <a:t>scottsauber</a:t>
              </a:r>
              <a:endParaRPr lang="en-US" dirty="0">
                <a:solidFill>
                  <a:schemeClr val="bg1">
                    <a:lumMod val="65000"/>
                  </a:schemeClr>
                </a:solidFill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94D9DCB6-52BD-64A7-D767-D4190FF85625}"/>
                </a:ext>
              </a:extLst>
            </p:cNvPr>
            <p:cNvSpPr/>
            <p:nvPr/>
          </p:nvSpPr>
          <p:spPr>
            <a:xfrm>
              <a:off x="9970651" y="6285411"/>
              <a:ext cx="347472" cy="274320"/>
            </a:xfrm>
            <a:prstGeom prst="rect">
              <a:avLst/>
            </a:prstGeom>
            <a:blipFill dpi="0" rotWithShape="1">
              <a:blip r:embed="rId6">
                <a:alphaModFix amt="50000"/>
              </a:blip>
              <a:srcRect/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7641058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355639-B52D-B298-21C0-B0A0554684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7B5596-AF0A-76AA-470D-FC334FD3AF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>
                    <a:lumMod val="65000"/>
                  </a:schemeClr>
                </a:solidFill>
                <a:ea typeface="Open Sans" panose="020B0606030504020204" pitchFamily="34" charset="0"/>
                <a:cs typeface="Open Sans" panose="020B0606030504020204" pitchFamily="34" charset="0"/>
              </a:rPr>
              <a:t>What we all need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7129BF-F744-AFE7-95A7-DDDF3C23294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929403"/>
          </a:xfrm>
        </p:spPr>
        <p:txBody>
          <a:bodyPr>
            <a:normAutofit/>
          </a:bodyPr>
          <a:lstStyle/>
          <a:p>
            <a:r>
              <a:rPr lang="en-US" dirty="0">
                <a:ea typeface="Open Sans" panose="020B0606030504020204" pitchFamily="34" charset="0"/>
                <a:cs typeface="Open Sans" panose="020B0606030504020204" pitchFamily="34" charset="0"/>
              </a:rPr>
              <a:t>Azure to not go down</a:t>
            </a:r>
          </a:p>
          <a:p>
            <a:r>
              <a:rPr lang="en-US" dirty="0">
                <a:ea typeface="Open Sans" panose="020B0606030504020204" pitchFamily="34" charset="0"/>
                <a:cs typeface="Open Sans" panose="020B0606030504020204" pitchFamily="34" charset="0"/>
              </a:rPr>
              <a:t>GitHub to not go down</a:t>
            </a:r>
          </a:p>
          <a:p>
            <a:r>
              <a:rPr lang="en-US" dirty="0">
                <a:ea typeface="Open Sans" panose="020B0606030504020204" pitchFamily="34" charset="0"/>
                <a:cs typeface="Open Sans" panose="020B0606030504020204" pitchFamily="34" charset="0"/>
              </a:rPr>
              <a:t>GitHub Actions to not go down</a:t>
            </a:r>
          </a:p>
          <a:p>
            <a:r>
              <a:rPr lang="en-US" dirty="0">
                <a:ea typeface="Open Sans" panose="020B0606030504020204" pitchFamily="34" charset="0"/>
                <a:cs typeface="Open Sans" panose="020B0606030504020204" pitchFamily="34" charset="0"/>
              </a:rPr>
              <a:t>The conference interest to not go down</a:t>
            </a:r>
          </a:p>
          <a:p>
            <a:r>
              <a:rPr lang="en-US" dirty="0">
                <a:ea typeface="Open Sans" panose="020B0606030504020204" pitchFamily="34" charset="0"/>
                <a:cs typeface="Open Sans" panose="020B0606030504020204" pitchFamily="34" charset="0"/>
              </a:rPr>
              <a:t>🙏🙏🙏🙏🙏</a:t>
            </a:r>
          </a:p>
          <a:p>
            <a:r>
              <a:rPr lang="en-US" dirty="0">
                <a:ea typeface="Open Sans" panose="020B0606030504020204" pitchFamily="34" charset="0"/>
                <a:cs typeface="Open Sans" panose="020B0606030504020204" pitchFamily="34" charset="0"/>
              </a:rPr>
              <a:t>(I do have recordings if needed but that’s less fun)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A8E87BA7-AFC2-6298-74B9-0E0C8249D68E}"/>
              </a:ext>
            </a:extLst>
          </p:cNvPr>
          <p:cNvGrpSpPr/>
          <p:nvPr/>
        </p:nvGrpSpPr>
        <p:grpSpPr>
          <a:xfrm>
            <a:off x="9970651" y="6185410"/>
            <a:ext cx="2130724" cy="474323"/>
            <a:chOff x="9970651" y="6185410"/>
            <a:chExt cx="2130724" cy="474323"/>
          </a:xfrm>
        </p:grpSpPr>
        <p:sp>
          <p:nvSpPr>
            <p:cNvPr id="5" name="Subtitle 2">
              <a:extLst>
                <a:ext uri="{FF2B5EF4-FFF2-40B4-BE49-F238E27FC236}">
                  <a16:creationId xmlns:a16="http://schemas.microsoft.com/office/drawing/2014/main" id="{DBFC745B-37CD-BC28-8A4F-4B4A8595F3E9}"/>
                </a:ext>
              </a:extLst>
            </p:cNvPr>
            <p:cNvSpPr txBox="1">
              <a:spLocks/>
            </p:cNvSpPr>
            <p:nvPr/>
          </p:nvSpPr>
          <p:spPr>
            <a:xfrm>
              <a:off x="10041147" y="6185410"/>
              <a:ext cx="2060228" cy="474323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 err="1">
                  <a:solidFill>
                    <a:schemeClr val="bg1">
                      <a:lumMod val="65000"/>
                    </a:schemeClr>
                  </a:solidFill>
                </a:rPr>
                <a:t>scottsauber</a:t>
              </a:r>
              <a:endParaRPr lang="en-US" dirty="0">
                <a:solidFill>
                  <a:schemeClr val="bg1">
                    <a:lumMod val="65000"/>
                  </a:schemeClr>
                </a:solidFill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ECC1C59B-C48D-6B97-95BC-B985CD5DAED3}"/>
                </a:ext>
              </a:extLst>
            </p:cNvPr>
            <p:cNvSpPr/>
            <p:nvPr/>
          </p:nvSpPr>
          <p:spPr>
            <a:xfrm>
              <a:off x="9970651" y="6285411"/>
              <a:ext cx="347472" cy="274320"/>
            </a:xfrm>
            <a:prstGeom prst="rect">
              <a:avLst/>
            </a:prstGeom>
            <a:blipFill dpi="0" rotWithShape="1">
              <a:blip r:embed="rId3">
                <a:alphaModFix amt="50000"/>
              </a:blip>
              <a:srcRect/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53122973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>
                    <a:lumMod val="65000"/>
                  </a:schemeClr>
                </a:solidFill>
                <a:ea typeface="Open Sans" panose="020B0606030504020204" pitchFamily="34" charset="0"/>
                <a:cs typeface="Open Sans" panose="020B0606030504020204" pitchFamily="34" charset="0"/>
              </a:rPr>
              <a:t>Audience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779637"/>
          </a:xfrm>
        </p:spPr>
        <p:txBody>
          <a:bodyPr>
            <a:normAutofit/>
          </a:bodyPr>
          <a:lstStyle/>
          <a:p>
            <a:r>
              <a:rPr lang="en-US" dirty="0">
                <a:ea typeface="Open Sans" panose="020B0606030504020204" pitchFamily="34" charset="0"/>
                <a:cs typeface="Open Sans" panose="020B0606030504020204" pitchFamily="34" charset="0"/>
              </a:rPr>
              <a:t>Anyone interested in Azure, GitHub, or Bicep</a:t>
            </a:r>
          </a:p>
          <a:p>
            <a:r>
              <a:rPr lang="en-US" dirty="0">
                <a:ea typeface="Open Sans" panose="020B0606030504020204" pitchFamily="34" charset="0"/>
                <a:cs typeface="Open Sans" panose="020B0606030504020204" pitchFamily="34" charset="0"/>
              </a:rPr>
              <a:t>.NET Developers</a:t>
            </a:r>
          </a:p>
          <a:p>
            <a:r>
              <a:rPr lang="en-US" dirty="0">
                <a:ea typeface="Open Sans" panose="020B0606030504020204" pitchFamily="34" charset="0"/>
                <a:cs typeface="Open Sans" panose="020B0606030504020204" pitchFamily="34" charset="0"/>
              </a:rPr>
              <a:t>People interested in DevOps, but never got to do it</a:t>
            </a:r>
          </a:p>
          <a:p>
            <a:r>
              <a:rPr lang="en-US" dirty="0">
                <a:ea typeface="Open Sans" panose="020B0606030504020204" pitchFamily="34" charset="0"/>
                <a:cs typeface="Open Sans" panose="020B0606030504020204" pitchFamily="34" charset="0"/>
              </a:rPr>
              <a:t>People willing to ask questions – ask away – don’t wait!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37E530A9-A079-9015-8E7F-D7E9526B55AF}"/>
              </a:ext>
            </a:extLst>
          </p:cNvPr>
          <p:cNvGrpSpPr/>
          <p:nvPr/>
        </p:nvGrpSpPr>
        <p:grpSpPr>
          <a:xfrm>
            <a:off x="9970651" y="6185410"/>
            <a:ext cx="2130724" cy="474323"/>
            <a:chOff x="9970651" y="6185410"/>
            <a:chExt cx="2130724" cy="474323"/>
          </a:xfrm>
        </p:grpSpPr>
        <p:sp>
          <p:nvSpPr>
            <p:cNvPr id="5" name="Subtitle 2">
              <a:extLst>
                <a:ext uri="{FF2B5EF4-FFF2-40B4-BE49-F238E27FC236}">
                  <a16:creationId xmlns:a16="http://schemas.microsoft.com/office/drawing/2014/main" id="{C277CDDD-BFE1-7D75-B431-61E190B8E121}"/>
                </a:ext>
              </a:extLst>
            </p:cNvPr>
            <p:cNvSpPr txBox="1">
              <a:spLocks/>
            </p:cNvSpPr>
            <p:nvPr/>
          </p:nvSpPr>
          <p:spPr>
            <a:xfrm>
              <a:off x="10041147" y="6185410"/>
              <a:ext cx="2060228" cy="474323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 err="1">
                  <a:solidFill>
                    <a:schemeClr val="bg1">
                      <a:lumMod val="65000"/>
                    </a:schemeClr>
                  </a:solidFill>
                </a:rPr>
                <a:t>scottsauber</a:t>
              </a:r>
              <a:endParaRPr lang="en-US" dirty="0">
                <a:solidFill>
                  <a:schemeClr val="bg1">
                    <a:lumMod val="65000"/>
                  </a:schemeClr>
                </a:solidFill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94D9DCB6-52BD-64A7-D767-D4190FF85625}"/>
                </a:ext>
              </a:extLst>
            </p:cNvPr>
            <p:cNvSpPr/>
            <p:nvPr/>
          </p:nvSpPr>
          <p:spPr>
            <a:xfrm>
              <a:off x="9970651" y="6285411"/>
              <a:ext cx="347472" cy="274320"/>
            </a:xfrm>
            <a:prstGeom prst="rect">
              <a:avLst/>
            </a:prstGeom>
            <a:blipFill dpi="0" rotWithShape="1">
              <a:blip r:embed="rId3">
                <a:alphaModFix amt="50000"/>
              </a:blip>
              <a:srcRect/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9902218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3E73CC-C2E5-AA8B-1F40-3BB0E1F903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6DA076-E9D5-72B4-6088-D762A40E1B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Poll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E85BBB-D37B-3BF8-5AA1-E89AF1DDD6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134600" cy="4351338"/>
          </a:xfrm>
        </p:spPr>
        <p:txBody>
          <a:bodyPr/>
          <a:lstStyle/>
          <a:p>
            <a:r>
              <a:rPr lang="en-US" dirty="0"/>
              <a:t>How many .NET Developers in the room?</a:t>
            </a:r>
          </a:p>
          <a:p>
            <a:r>
              <a:rPr lang="en-US" dirty="0"/>
              <a:t>How many using Azure today?</a:t>
            </a:r>
          </a:p>
          <a:p>
            <a:r>
              <a:rPr lang="en-US" dirty="0"/>
              <a:t>How many aren’t using Azure?</a:t>
            </a:r>
          </a:p>
          <a:p>
            <a:r>
              <a:rPr lang="en-US" dirty="0"/>
              <a:t>How many have used Bicep?</a:t>
            </a:r>
          </a:p>
          <a:p>
            <a:r>
              <a:rPr lang="en-US" dirty="0"/>
              <a:t>What about another IAC tool?</a:t>
            </a:r>
          </a:p>
          <a:p>
            <a:r>
              <a:rPr lang="en-US" dirty="0"/>
              <a:t>How many are using GitHub Actions today?</a:t>
            </a:r>
          </a:p>
          <a:p>
            <a:r>
              <a:rPr lang="en-US" dirty="0"/>
              <a:t>How many are using something else?</a:t>
            </a:r>
          </a:p>
          <a:p>
            <a:r>
              <a:rPr lang="en-US" dirty="0"/>
              <a:t>Why are you here? What do you want to learn?</a:t>
            </a:r>
          </a:p>
        </p:txBody>
      </p:sp>
    </p:spTree>
    <p:extLst>
      <p:ext uri="{BB962C8B-B14F-4D97-AF65-F5344CB8AC3E}">
        <p14:creationId xmlns:p14="http://schemas.microsoft.com/office/powerpoint/2010/main" val="1529104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B2B2B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B2B2B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B2B2B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B2B2B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B2B2B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B2B2B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B2B2B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B2B2B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78095"/>
          </a:xfrm>
        </p:spPr>
        <p:txBody>
          <a:bodyPr>
            <a:normAutofit/>
          </a:bodyPr>
          <a:lstStyle/>
          <a:p>
            <a:r>
              <a:rPr lang="en-US" dirty="0"/>
              <a:t>What is the final state of what we’re building?</a:t>
            </a:r>
          </a:p>
          <a:p>
            <a:r>
              <a:rPr lang="en-US" dirty="0"/>
              <a:t>What is Azure?</a:t>
            </a:r>
          </a:p>
          <a:p>
            <a:r>
              <a:rPr lang="en-US" dirty="0"/>
              <a:t>What is Azure App Service? Plans?</a:t>
            </a:r>
          </a:p>
          <a:p>
            <a:r>
              <a:rPr lang="en-US" dirty="0"/>
              <a:t>What is Bicep?</a:t>
            </a:r>
          </a:p>
          <a:p>
            <a:r>
              <a:rPr lang="en-US" dirty="0"/>
              <a:t>What are GitHub Actions?</a:t>
            </a:r>
          </a:p>
          <a:p>
            <a:r>
              <a:rPr lang="en-US" dirty="0"/>
              <a:t>Hands on all throughout</a:t>
            </a:r>
          </a:p>
          <a:p>
            <a:r>
              <a:rPr lang="en-US" dirty="0"/>
              <a:t>This is a 2 day workshop, I’m </a:t>
            </a:r>
            <a:r>
              <a:rPr lang="en-US" dirty="0" err="1"/>
              <a:t>gonna</a:t>
            </a:r>
            <a:r>
              <a:rPr lang="en-US" dirty="0"/>
              <a:t> cram into 4 hours</a:t>
            </a:r>
          </a:p>
          <a:p>
            <a:r>
              <a:rPr lang="en-US" dirty="0"/>
              <a:t>There is walkthroughs if you fall behind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00BD31B0-524D-6A6F-AFE6-5316B23839E6}"/>
              </a:ext>
            </a:extLst>
          </p:cNvPr>
          <p:cNvGrpSpPr/>
          <p:nvPr/>
        </p:nvGrpSpPr>
        <p:grpSpPr>
          <a:xfrm>
            <a:off x="9970651" y="6185410"/>
            <a:ext cx="2130724" cy="474323"/>
            <a:chOff x="9970651" y="6185410"/>
            <a:chExt cx="2130724" cy="474323"/>
          </a:xfrm>
        </p:grpSpPr>
        <p:sp>
          <p:nvSpPr>
            <p:cNvPr id="5" name="Subtitle 2">
              <a:extLst>
                <a:ext uri="{FF2B5EF4-FFF2-40B4-BE49-F238E27FC236}">
                  <a16:creationId xmlns:a16="http://schemas.microsoft.com/office/drawing/2014/main" id="{1E43C2D6-3785-EA13-0A41-F2528EB727BA}"/>
                </a:ext>
              </a:extLst>
            </p:cNvPr>
            <p:cNvSpPr txBox="1">
              <a:spLocks/>
            </p:cNvSpPr>
            <p:nvPr/>
          </p:nvSpPr>
          <p:spPr>
            <a:xfrm>
              <a:off x="10041147" y="6185410"/>
              <a:ext cx="2060228" cy="474323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 err="1">
                  <a:solidFill>
                    <a:schemeClr val="bg1">
                      <a:lumMod val="65000"/>
                    </a:schemeClr>
                  </a:solidFill>
                </a:rPr>
                <a:t>scottsauber</a:t>
              </a:r>
              <a:endParaRPr lang="en-US" dirty="0">
                <a:solidFill>
                  <a:schemeClr val="bg1">
                    <a:lumMod val="65000"/>
                  </a:schemeClr>
                </a:solidFill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BE38675C-DC02-2297-B884-373E4A815A04}"/>
                </a:ext>
              </a:extLst>
            </p:cNvPr>
            <p:cNvSpPr/>
            <p:nvPr/>
          </p:nvSpPr>
          <p:spPr>
            <a:xfrm>
              <a:off x="9970651" y="6285411"/>
              <a:ext cx="347472" cy="274320"/>
            </a:xfrm>
            <a:prstGeom prst="rect">
              <a:avLst/>
            </a:prstGeom>
            <a:blipFill dpi="0" rotWithShape="1">
              <a:blip r:embed="rId3">
                <a:alphaModFix amt="50000"/>
              </a:blip>
              <a:srcRect/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77674338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Goals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7F7A8C53-9310-C497-719C-5A3536D0FE56}"/>
              </a:ext>
            </a:extLst>
          </p:cNvPr>
          <p:cNvSpPr txBox="1">
            <a:spLocks/>
          </p:cNvSpPr>
          <p:nvPr/>
        </p:nvSpPr>
        <p:spPr>
          <a:xfrm>
            <a:off x="838200" y="1779905"/>
            <a:ext cx="10515600" cy="507809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Learn GitHub Actions, Bicep, and Azure</a:t>
            </a:r>
          </a:p>
          <a:p>
            <a:r>
              <a:rPr lang="en-US" dirty="0"/>
              <a:t>How they all integrate with a .NET app</a:t>
            </a:r>
          </a:p>
          <a:p>
            <a:r>
              <a:rPr lang="en-US" dirty="0"/>
              <a:t>We likely won’t get to everything in a few hours</a:t>
            </a:r>
          </a:p>
          <a:p>
            <a:pPr lvl="1"/>
            <a:r>
              <a:rPr lang="en-US" dirty="0"/>
              <a:t>This is going to be… a lot</a:t>
            </a:r>
          </a:p>
          <a:p>
            <a:r>
              <a:rPr lang="en-US" dirty="0"/>
              <a:t>The feedback loop on this is slow</a:t>
            </a:r>
          </a:p>
          <a:p>
            <a:r>
              <a:rPr lang="en-US" dirty="0"/>
              <a:t>Take home a few things back to work, whether beginner or expert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2CEB91B4-E2BE-9DC9-0086-7EEC34A95831}"/>
              </a:ext>
            </a:extLst>
          </p:cNvPr>
          <p:cNvGrpSpPr/>
          <p:nvPr/>
        </p:nvGrpSpPr>
        <p:grpSpPr>
          <a:xfrm>
            <a:off x="9970651" y="6185410"/>
            <a:ext cx="2130724" cy="474323"/>
            <a:chOff x="9970651" y="6185410"/>
            <a:chExt cx="2130724" cy="474323"/>
          </a:xfrm>
        </p:grpSpPr>
        <p:sp>
          <p:nvSpPr>
            <p:cNvPr id="4" name="Subtitle 2">
              <a:extLst>
                <a:ext uri="{FF2B5EF4-FFF2-40B4-BE49-F238E27FC236}">
                  <a16:creationId xmlns:a16="http://schemas.microsoft.com/office/drawing/2014/main" id="{8A4D90AD-4CF9-D7A8-10DF-97D7659583D4}"/>
                </a:ext>
              </a:extLst>
            </p:cNvPr>
            <p:cNvSpPr txBox="1">
              <a:spLocks/>
            </p:cNvSpPr>
            <p:nvPr/>
          </p:nvSpPr>
          <p:spPr>
            <a:xfrm>
              <a:off x="10041147" y="6185410"/>
              <a:ext cx="2060228" cy="474323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 err="1">
                  <a:solidFill>
                    <a:schemeClr val="bg1">
                      <a:lumMod val="65000"/>
                    </a:schemeClr>
                  </a:solidFill>
                </a:rPr>
                <a:t>scottsauber</a:t>
              </a:r>
              <a:endParaRPr lang="en-US" dirty="0">
                <a:solidFill>
                  <a:schemeClr val="bg1">
                    <a:lumMod val="65000"/>
                  </a:schemeClr>
                </a:solidFill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00495BA5-ADC8-BF66-0118-599F20BD2A37}"/>
                </a:ext>
              </a:extLst>
            </p:cNvPr>
            <p:cNvSpPr/>
            <p:nvPr/>
          </p:nvSpPr>
          <p:spPr>
            <a:xfrm>
              <a:off x="9970651" y="6285411"/>
              <a:ext cx="347472" cy="274320"/>
            </a:xfrm>
            <a:prstGeom prst="rect">
              <a:avLst/>
            </a:prstGeom>
            <a:blipFill dpi="0" rotWithShape="1">
              <a:blip r:embed="rId3">
                <a:alphaModFix amt="50000"/>
              </a:blip>
              <a:srcRect/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04753842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Who am I?	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8056808" cy="4351338"/>
          </a:xfrm>
        </p:spPr>
        <p:txBody>
          <a:bodyPr/>
          <a:lstStyle/>
          <a:p>
            <a:r>
              <a:rPr lang="en-US" dirty="0"/>
              <a:t>Director of Engineering at </a:t>
            </a:r>
            <a:r>
              <a:rPr lang="en-US" dirty="0">
                <a:hlinkClick r:id="rId3"/>
              </a:rPr>
              <a:t>Lean </a:t>
            </a:r>
            <a:r>
              <a:rPr lang="en-US" dirty="0" err="1">
                <a:hlinkClick r:id="rId3"/>
              </a:rPr>
              <a:t>TECHniques</a:t>
            </a:r>
            <a:endParaRPr lang="en-US" dirty="0"/>
          </a:p>
          <a:p>
            <a:r>
              <a:rPr lang="en-US" dirty="0">
                <a:hlinkClick r:id="rId4"/>
              </a:rPr>
              <a:t>Microsoft MVP</a:t>
            </a:r>
            <a:endParaRPr lang="en-US" dirty="0"/>
          </a:p>
          <a:p>
            <a:r>
              <a:rPr lang="en-US" dirty="0" err="1">
                <a:hlinkClick r:id="rId5"/>
              </a:rPr>
              <a:t>Dometrain</a:t>
            </a:r>
            <a:r>
              <a:rPr lang="en-US" dirty="0">
                <a:hlinkClick r:id="rId5"/>
              </a:rPr>
              <a:t> Author</a:t>
            </a:r>
            <a:endParaRPr lang="en-US" dirty="0"/>
          </a:p>
          <a:p>
            <a:r>
              <a:rPr lang="en-US" dirty="0"/>
              <a:t>Redgate Community Ambassador</a:t>
            </a:r>
          </a:p>
          <a:p>
            <a:r>
              <a:rPr lang="en-US" dirty="0"/>
              <a:t>Co-organizer of </a:t>
            </a:r>
            <a:r>
              <a:rPr lang="en-US" dirty="0">
                <a:hlinkClick r:id="rId6"/>
              </a:rPr>
              <a:t>Iowa .NET User Group</a:t>
            </a:r>
            <a:endParaRPr lang="en-US" dirty="0">
              <a:hlinkClick r:id="rId7"/>
            </a:endParaRPr>
          </a:p>
        </p:txBody>
      </p:sp>
      <p:pic>
        <p:nvPicPr>
          <p:cNvPr id="5" name="Picture 2">
            <a:extLst>
              <a:ext uri="{FF2B5EF4-FFF2-40B4-BE49-F238E27FC236}">
                <a16:creationId xmlns:a16="http://schemas.microsoft.com/office/drawing/2014/main" id="{E7CC776C-DC3F-D0B5-5231-4112653EFC3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21540000">
            <a:off x="8953197" y="4931341"/>
            <a:ext cx="2584299" cy="15893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E6AE3F5-A57F-F976-3F78-41D6E87C255F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24793" y="4692048"/>
            <a:ext cx="2017351" cy="2017351"/>
          </a:xfrm>
          <a:prstGeom prst="rect">
            <a:avLst/>
          </a:prstGeom>
        </p:spPr>
      </p:pic>
      <p:pic>
        <p:nvPicPr>
          <p:cNvPr id="7" name="Picture 2" descr="Microsoft MVP Communities (@MVPAward) / X">
            <a:extLst>
              <a:ext uri="{FF2B5EF4-FFF2-40B4-BE49-F238E27FC236}">
                <a16:creationId xmlns:a16="http://schemas.microsoft.com/office/drawing/2014/main" id="{C67B11EE-26D8-F622-00D3-C0E2B30A304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44204" y="4949724"/>
            <a:ext cx="1502000" cy="150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6" descr="Courses crafted for the real world - Dometrain">
            <a:extLst>
              <a:ext uri="{FF2B5EF4-FFF2-40B4-BE49-F238E27FC236}">
                <a16:creationId xmlns:a16="http://schemas.microsoft.com/office/drawing/2014/main" id="{64A20FB0-C1F9-33B8-D3BE-E1825A53CA8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033" r="17323"/>
          <a:stretch/>
        </p:blipFill>
        <p:spPr bwMode="auto">
          <a:xfrm>
            <a:off x="5058153" y="4949723"/>
            <a:ext cx="1885907" cy="15082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8" descr="Directory | Redgate Software">
            <a:extLst>
              <a:ext uri="{FF2B5EF4-FFF2-40B4-BE49-F238E27FC236}">
                <a16:creationId xmlns:a16="http://schemas.microsoft.com/office/drawing/2014/main" id="{E3052ACE-16D8-EE1A-A393-F0760EDE476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69875" y="4959710"/>
            <a:ext cx="1117569" cy="14920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555828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B2B2B2"/>
                                      </p:to>
                                    </p:animClr>
                                  </p:sub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B2B2B2"/>
                                      </p:to>
                                    </p:animClr>
                                  </p:sub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B2B2B2"/>
                                      </p:to>
                                    </p:animClr>
                                  </p:sub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B2B2B2"/>
                                      </p:to>
                                    </p:animClr>
                                  </p:sub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B2B2B2"/>
                                      </p:to>
                                    </p:animClr>
                                  </p:sub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What are we building?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749836"/>
          </a:xfrm>
        </p:spPr>
        <p:txBody>
          <a:bodyPr>
            <a:normAutofit/>
          </a:bodyPr>
          <a:lstStyle/>
          <a:p>
            <a:r>
              <a:rPr lang="en-US" dirty="0"/>
              <a:t>.NET 10 API</a:t>
            </a:r>
          </a:p>
          <a:p>
            <a:r>
              <a:rPr lang="en-US" dirty="0"/>
              <a:t>Running on Azure App Service </a:t>
            </a:r>
          </a:p>
          <a:p>
            <a:r>
              <a:rPr lang="en-US" dirty="0"/>
              <a:t>Configured using Infrastructure as Code with Bicep</a:t>
            </a:r>
          </a:p>
          <a:p>
            <a:r>
              <a:rPr lang="en-US" dirty="0"/>
              <a:t>Deployed via GitHub Actions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B04A2ACA-FF87-8A20-6F8F-BFF8BF708272}"/>
              </a:ext>
            </a:extLst>
          </p:cNvPr>
          <p:cNvGrpSpPr/>
          <p:nvPr/>
        </p:nvGrpSpPr>
        <p:grpSpPr>
          <a:xfrm>
            <a:off x="9970651" y="6185410"/>
            <a:ext cx="2130724" cy="474323"/>
            <a:chOff x="9970651" y="6185410"/>
            <a:chExt cx="2130724" cy="474323"/>
          </a:xfrm>
        </p:grpSpPr>
        <p:sp>
          <p:nvSpPr>
            <p:cNvPr id="5" name="Subtitle 2">
              <a:extLst>
                <a:ext uri="{FF2B5EF4-FFF2-40B4-BE49-F238E27FC236}">
                  <a16:creationId xmlns:a16="http://schemas.microsoft.com/office/drawing/2014/main" id="{5258820E-D2AE-6AE9-CDB9-EAC898D35AC7}"/>
                </a:ext>
              </a:extLst>
            </p:cNvPr>
            <p:cNvSpPr txBox="1">
              <a:spLocks/>
            </p:cNvSpPr>
            <p:nvPr/>
          </p:nvSpPr>
          <p:spPr>
            <a:xfrm>
              <a:off x="10041147" y="6185410"/>
              <a:ext cx="2060228" cy="474323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 err="1">
                  <a:solidFill>
                    <a:schemeClr val="bg1">
                      <a:lumMod val="65000"/>
                    </a:schemeClr>
                  </a:solidFill>
                </a:rPr>
                <a:t>scottsauber</a:t>
              </a:r>
              <a:endParaRPr lang="en-US" dirty="0">
                <a:solidFill>
                  <a:schemeClr val="bg1">
                    <a:lumMod val="65000"/>
                  </a:schemeClr>
                </a:solidFill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5D74B29E-2554-BA60-5B26-1A510C83F47E}"/>
                </a:ext>
              </a:extLst>
            </p:cNvPr>
            <p:cNvSpPr/>
            <p:nvPr/>
          </p:nvSpPr>
          <p:spPr>
            <a:xfrm>
              <a:off x="9970651" y="6285411"/>
              <a:ext cx="347472" cy="274320"/>
            </a:xfrm>
            <a:prstGeom prst="rect">
              <a:avLst/>
            </a:prstGeom>
            <a:blipFill dpi="0" rotWithShape="1">
              <a:blip r:embed="rId3">
                <a:alphaModFix amt="50000"/>
              </a:blip>
              <a:srcRect/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1948002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Features of What We’re Building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749836"/>
          </a:xfrm>
        </p:spPr>
        <p:txBody>
          <a:bodyPr>
            <a:normAutofit lnSpcReduction="10000"/>
          </a:bodyPr>
          <a:lstStyle/>
          <a:p>
            <a:r>
              <a:rPr lang="en-US" dirty="0"/>
              <a:t>Zero Downtime Deployments</a:t>
            </a:r>
          </a:p>
          <a:p>
            <a:r>
              <a:rPr lang="en-US" dirty="0"/>
              <a:t>Infrastructure managed by code, not clicking in the Azure Portal</a:t>
            </a:r>
          </a:p>
          <a:p>
            <a:r>
              <a:rPr lang="en-US" dirty="0"/>
              <a:t>Automated Build and Deploys</a:t>
            </a:r>
          </a:p>
          <a:p>
            <a:r>
              <a:rPr lang="en-US" dirty="0">
                <a:hlinkClick r:id="rId3"/>
              </a:rPr>
              <a:t>Follows Azure Naming Standards for naming resources</a:t>
            </a:r>
            <a:endParaRPr lang="en-US" dirty="0"/>
          </a:p>
          <a:p>
            <a:r>
              <a:rPr lang="en-US" dirty="0"/>
              <a:t>Versioning your app so you know what’s deployed*</a:t>
            </a:r>
          </a:p>
          <a:p>
            <a:r>
              <a:rPr lang="en-US" dirty="0"/>
              <a:t>Health Checks*</a:t>
            </a:r>
          </a:p>
          <a:p>
            <a:r>
              <a:rPr lang="en-US" dirty="0"/>
              <a:t>Secrets in Key Vault, not Source Control*</a:t>
            </a:r>
          </a:p>
          <a:p>
            <a:r>
              <a:rPr lang="en-US" dirty="0"/>
              <a:t>Observability using Application Insights*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sz="2000" dirty="0"/>
              <a:t>* Might not get to these in 4 hours.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B04A2ACA-FF87-8A20-6F8F-BFF8BF708272}"/>
              </a:ext>
            </a:extLst>
          </p:cNvPr>
          <p:cNvGrpSpPr/>
          <p:nvPr/>
        </p:nvGrpSpPr>
        <p:grpSpPr>
          <a:xfrm>
            <a:off x="9970651" y="6185410"/>
            <a:ext cx="2130724" cy="474323"/>
            <a:chOff x="9970651" y="6185410"/>
            <a:chExt cx="2130724" cy="474323"/>
          </a:xfrm>
        </p:grpSpPr>
        <p:sp>
          <p:nvSpPr>
            <p:cNvPr id="5" name="Subtitle 2">
              <a:extLst>
                <a:ext uri="{FF2B5EF4-FFF2-40B4-BE49-F238E27FC236}">
                  <a16:creationId xmlns:a16="http://schemas.microsoft.com/office/drawing/2014/main" id="{5258820E-D2AE-6AE9-CDB9-EAC898D35AC7}"/>
                </a:ext>
              </a:extLst>
            </p:cNvPr>
            <p:cNvSpPr txBox="1">
              <a:spLocks/>
            </p:cNvSpPr>
            <p:nvPr/>
          </p:nvSpPr>
          <p:spPr>
            <a:xfrm>
              <a:off x="10041147" y="6185410"/>
              <a:ext cx="2060228" cy="474323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 err="1">
                  <a:solidFill>
                    <a:schemeClr val="bg1">
                      <a:lumMod val="65000"/>
                    </a:schemeClr>
                  </a:solidFill>
                </a:rPr>
                <a:t>scottsauber</a:t>
              </a:r>
              <a:endParaRPr lang="en-US" dirty="0">
                <a:solidFill>
                  <a:schemeClr val="bg1">
                    <a:lumMod val="65000"/>
                  </a:schemeClr>
                </a:solidFill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5D74B29E-2554-BA60-5B26-1A510C83F47E}"/>
                </a:ext>
              </a:extLst>
            </p:cNvPr>
            <p:cNvSpPr/>
            <p:nvPr/>
          </p:nvSpPr>
          <p:spPr>
            <a:xfrm>
              <a:off x="9970651" y="6285411"/>
              <a:ext cx="347472" cy="274320"/>
            </a:xfrm>
            <a:prstGeom prst="rect">
              <a:avLst/>
            </a:prstGeom>
            <a:blipFill dpi="0" rotWithShape="1">
              <a:blip r:embed="rId4">
                <a:alphaModFix amt="50000"/>
              </a:blip>
              <a:srcRect/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4855591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0CD6AB-0DDF-A657-0DAC-68B2F1EBDB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1FB7CE-EBB5-32D6-E64F-638715251B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Why is this important?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42FBE4-0E3E-6A87-7351-546DA52EE3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749836"/>
          </a:xfrm>
        </p:spPr>
        <p:txBody>
          <a:bodyPr>
            <a:normAutofit/>
          </a:bodyPr>
          <a:lstStyle/>
          <a:p>
            <a:r>
              <a:rPr lang="en-US" dirty="0">
                <a:hlinkClick r:id="rId3"/>
              </a:rPr>
              <a:t>https://dora.dev/</a:t>
            </a:r>
            <a:r>
              <a:rPr lang="en-US" dirty="0"/>
              <a:t>  </a:t>
            </a:r>
          </a:p>
          <a:p>
            <a:r>
              <a:rPr lang="en-US" dirty="0"/>
              <a:t>DORA</a:t>
            </a:r>
          </a:p>
          <a:p>
            <a:r>
              <a:rPr lang="en-US" dirty="0"/>
              <a:t>We will touch on </a:t>
            </a:r>
            <a:r>
              <a:rPr lang="en-US" dirty="0">
                <a:hlinkClick r:id="rId4"/>
              </a:rPr>
              <a:t>6 of the 18 capabilities</a:t>
            </a:r>
            <a:r>
              <a:rPr lang="en-US" dirty="0"/>
              <a:t> listed for high performing teams: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Continuous Delivery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Deployment Automation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Flexible Infrastructure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Continuous Integration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Version Control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Monitoring/Observability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72B3E041-5CDE-A8D0-A0F8-A8A792BC66C0}"/>
              </a:ext>
            </a:extLst>
          </p:cNvPr>
          <p:cNvGrpSpPr/>
          <p:nvPr/>
        </p:nvGrpSpPr>
        <p:grpSpPr>
          <a:xfrm>
            <a:off x="9970651" y="6185410"/>
            <a:ext cx="2130724" cy="474323"/>
            <a:chOff x="9970651" y="6185410"/>
            <a:chExt cx="2130724" cy="474323"/>
          </a:xfrm>
        </p:grpSpPr>
        <p:sp>
          <p:nvSpPr>
            <p:cNvPr id="5" name="Subtitle 2">
              <a:extLst>
                <a:ext uri="{FF2B5EF4-FFF2-40B4-BE49-F238E27FC236}">
                  <a16:creationId xmlns:a16="http://schemas.microsoft.com/office/drawing/2014/main" id="{510BEA5E-E495-3620-518E-FFCF7B0C1398}"/>
                </a:ext>
              </a:extLst>
            </p:cNvPr>
            <p:cNvSpPr txBox="1">
              <a:spLocks/>
            </p:cNvSpPr>
            <p:nvPr/>
          </p:nvSpPr>
          <p:spPr>
            <a:xfrm>
              <a:off x="10041147" y="6185410"/>
              <a:ext cx="2060228" cy="474323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 err="1">
                  <a:solidFill>
                    <a:schemeClr val="bg1">
                      <a:lumMod val="65000"/>
                    </a:schemeClr>
                  </a:solidFill>
                </a:rPr>
                <a:t>scottsauber</a:t>
              </a:r>
              <a:endParaRPr lang="en-US" dirty="0">
                <a:solidFill>
                  <a:schemeClr val="bg1">
                    <a:lumMod val="65000"/>
                  </a:schemeClr>
                </a:solidFill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D4964416-8F98-0D14-9E9C-76CD32AFFFFF}"/>
                </a:ext>
              </a:extLst>
            </p:cNvPr>
            <p:cNvSpPr/>
            <p:nvPr/>
          </p:nvSpPr>
          <p:spPr>
            <a:xfrm>
              <a:off x="9970651" y="6285411"/>
              <a:ext cx="347472" cy="274320"/>
            </a:xfrm>
            <a:prstGeom prst="rect">
              <a:avLst/>
            </a:prstGeom>
            <a:blipFill dpi="0" rotWithShape="1">
              <a:blip r:embed="rId5">
                <a:alphaModFix amt="50000"/>
              </a:blip>
              <a:srcRect/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0386566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B04A2ACA-FF87-8A20-6F8F-BFF8BF708272}"/>
              </a:ext>
            </a:extLst>
          </p:cNvPr>
          <p:cNvGrpSpPr/>
          <p:nvPr/>
        </p:nvGrpSpPr>
        <p:grpSpPr>
          <a:xfrm>
            <a:off x="9970651" y="6185410"/>
            <a:ext cx="2130724" cy="474323"/>
            <a:chOff x="9970651" y="6185410"/>
            <a:chExt cx="2130724" cy="474323"/>
          </a:xfrm>
        </p:grpSpPr>
        <p:sp>
          <p:nvSpPr>
            <p:cNvPr id="5" name="Subtitle 2">
              <a:extLst>
                <a:ext uri="{FF2B5EF4-FFF2-40B4-BE49-F238E27FC236}">
                  <a16:creationId xmlns:a16="http://schemas.microsoft.com/office/drawing/2014/main" id="{5258820E-D2AE-6AE9-CDB9-EAC898D35AC7}"/>
                </a:ext>
              </a:extLst>
            </p:cNvPr>
            <p:cNvSpPr txBox="1">
              <a:spLocks/>
            </p:cNvSpPr>
            <p:nvPr/>
          </p:nvSpPr>
          <p:spPr>
            <a:xfrm>
              <a:off x="10041147" y="6185410"/>
              <a:ext cx="2060228" cy="474323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 err="1">
                  <a:solidFill>
                    <a:schemeClr val="bg1">
                      <a:lumMod val="65000"/>
                    </a:schemeClr>
                  </a:solidFill>
                </a:rPr>
                <a:t>scottsauber</a:t>
              </a:r>
              <a:endParaRPr lang="en-US" dirty="0">
                <a:solidFill>
                  <a:schemeClr val="bg1">
                    <a:lumMod val="65000"/>
                  </a:schemeClr>
                </a:solidFill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5D74B29E-2554-BA60-5B26-1A510C83F47E}"/>
                </a:ext>
              </a:extLst>
            </p:cNvPr>
            <p:cNvSpPr/>
            <p:nvPr/>
          </p:nvSpPr>
          <p:spPr>
            <a:xfrm>
              <a:off x="9970651" y="6285411"/>
              <a:ext cx="347472" cy="274320"/>
            </a:xfrm>
            <a:prstGeom prst="rect">
              <a:avLst/>
            </a:prstGeom>
            <a:blipFill dpi="0" rotWithShape="1">
              <a:blip r:embed="rId3">
                <a:alphaModFix amt="50000"/>
              </a:blip>
              <a:srcRect/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2" name="Picture 11">
            <a:extLst>
              <a:ext uri="{FF2B5EF4-FFF2-40B4-BE49-F238E27FC236}">
                <a16:creationId xmlns:a16="http://schemas.microsoft.com/office/drawing/2014/main" id="{1411F28B-C8B2-F43C-D886-86174CB389B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18673" y="725536"/>
            <a:ext cx="8699450" cy="4790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72101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EF92AF-D7E6-3BAF-C146-3286F17E61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02DF6E42-F215-523D-FE38-CE0D3A47AAE9}"/>
              </a:ext>
            </a:extLst>
          </p:cNvPr>
          <p:cNvGrpSpPr/>
          <p:nvPr/>
        </p:nvGrpSpPr>
        <p:grpSpPr>
          <a:xfrm>
            <a:off x="9970651" y="6185410"/>
            <a:ext cx="2130724" cy="474323"/>
            <a:chOff x="9970651" y="6185410"/>
            <a:chExt cx="2130724" cy="474323"/>
          </a:xfrm>
        </p:grpSpPr>
        <p:sp>
          <p:nvSpPr>
            <p:cNvPr id="5" name="Subtitle 2">
              <a:extLst>
                <a:ext uri="{FF2B5EF4-FFF2-40B4-BE49-F238E27FC236}">
                  <a16:creationId xmlns:a16="http://schemas.microsoft.com/office/drawing/2014/main" id="{56D20293-D463-9645-2365-F2508BAB206E}"/>
                </a:ext>
              </a:extLst>
            </p:cNvPr>
            <p:cNvSpPr txBox="1">
              <a:spLocks/>
            </p:cNvSpPr>
            <p:nvPr/>
          </p:nvSpPr>
          <p:spPr>
            <a:xfrm>
              <a:off x="10041147" y="6185410"/>
              <a:ext cx="2060228" cy="474323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 err="1">
                  <a:solidFill>
                    <a:schemeClr val="bg1">
                      <a:lumMod val="65000"/>
                    </a:schemeClr>
                  </a:solidFill>
                </a:rPr>
                <a:t>scottsauber</a:t>
              </a:r>
              <a:endParaRPr lang="en-US" dirty="0">
                <a:solidFill>
                  <a:schemeClr val="bg1">
                    <a:lumMod val="65000"/>
                  </a:schemeClr>
                </a:solidFill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7FA41FD7-3B1F-827B-355F-E53A6EF4BA20}"/>
                </a:ext>
              </a:extLst>
            </p:cNvPr>
            <p:cNvSpPr/>
            <p:nvPr/>
          </p:nvSpPr>
          <p:spPr>
            <a:xfrm>
              <a:off x="9970651" y="6285411"/>
              <a:ext cx="347472" cy="274320"/>
            </a:xfrm>
            <a:prstGeom prst="rect">
              <a:avLst/>
            </a:prstGeom>
            <a:blipFill dpi="0" rotWithShape="1">
              <a:blip r:embed="rId3">
                <a:alphaModFix amt="50000"/>
              </a:blip>
              <a:srcRect/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2" name="Picture 1">
            <a:extLst>
              <a:ext uri="{FF2B5EF4-FFF2-40B4-BE49-F238E27FC236}">
                <a16:creationId xmlns:a16="http://schemas.microsoft.com/office/drawing/2014/main" id="{D3F1DB15-9F35-26FD-99F7-3A661C29E95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6038" y="342305"/>
            <a:ext cx="10619924" cy="61733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357067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69B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FE7171-AFDD-4862-9A69-284665CD33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326910"/>
            <a:ext cx="12192000" cy="2747938"/>
          </a:xfrm>
        </p:spPr>
        <p:txBody>
          <a:bodyPr>
            <a:normAutofit/>
          </a:bodyPr>
          <a:lstStyle/>
          <a:p>
            <a:r>
              <a:rPr lang="en-US" sz="9600" b="1" dirty="0">
                <a:solidFill>
                  <a:schemeClr val="bg1"/>
                </a:solidFill>
                <a:latin typeface="+mn-lt"/>
                <a:ea typeface="Open Sans" panose="020B0606030504020204" pitchFamily="34" charset="0"/>
                <a:cs typeface="Open Sans" panose="020B0606030504020204" pitchFamily="34" charset="0"/>
              </a:rPr>
              <a:t>Azure</a:t>
            </a:r>
          </a:p>
        </p:txBody>
      </p:sp>
      <p:pic>
        <p:nvPicPr>
          <p:cNvPr id="3074" name="Picture 2" descr="Azure has a new logo, but where do you download it? Here!">
            <a:extLst>
              <a:ext uri="{FF2B5EF4-FFF2-40B4-BE49-F238E27FC236}">
                <a16:creationId xmlns:a16="http://schemas.microsoft.com/office/drawing/2014/main" id="{B4BAF72D-B99A-2D2D-4FCA-DD55E05BA7F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58576" y="3074848"/>
            <a:ext cx="3074847" cy="30748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8266277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What is Azure?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749836"/>
          </a:xfrm>
        </p:spPr>
        <p:txBody>
          <a:bodyPr>
            <a:normAutofit/>
          </a:bodyPr>
          <a:lstStyle/>
          <a:p>
            <a:r>
              <a:rPr lang="en-US" dirty="0"/>
              <a:t>Microsoft offering for cloud hosting</a:t>
            </a:r>
          </a:p>
          <a:p>
            <a:r>
              <a:rPr lang="en-US" dirty="0"/>
              <a:t>Offers many services from hosting web apps to databases to caching to messaging to…</a:t>
            </a:r>
          </a:p>
          <a:p>
            <a:r>
              <a:rPr lang="en-US" dirty="0"/>
              <a:t>You should probably be picking PaaS offerings (i.e. not VMs)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B04A2ACA-FF87-8A20-6F8F-BFF8BF708272}"/>
              </a:ext>
            </a:extLst>
          </p:cNvPr>
          <p:cNvGrpSpPr/>
          <p:nvPr/>
        </p:nvGrpSpPr>
        <p:grpSpPr>
          <a:xfrm>
            <a:off x="9970651" y="6185410"/>
            <a:ext cx="2130724" cy="474323"/>
            <a:chOff x="9970651" y="6185410"/>
            <a:chExt cx="2130724" cy="474323"/>
          </a:xfrm>
        </p:grpSpPr>
        <p:sp>
          <p:nvSpPr>
            <p:cNvPr id="5" name="Subtitle 2">
              <a:extLst>
                <a:ext uri="{FF2B5EF4-FFF2-40B4-BE49-F238E27FC236}">
                  <a16:creationId xmlns:a16="http://schemas.microsoft.com/office/drawing/2014/main" id="{5258820E-D2AE-6AE9-CDB9-EAC898D35AC7}"/>
                </a:ext>
              </a:extLst>
            </p:cNvPr>
            <p:cNvSpPr txBox="1">
              <a:spLocks/>
            </p:cNvSpPr>
            <p:nvPr/>
          </p:nvSpPr>
          <p:spPr>
            <a:xfrm>
              <a:off x="10041147" y="6185410"/>
              <a:ext cx="2060228" cy="474323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 err="1">
                  <a:solidFill>
                    <a:schemeClr val="bg1">
                      <a:lumMod val="65000"/>
                    </a:schemeClr>
                  </a:solidFill>
                </a:rPr>
                <a:t>scottsauber</a:t>
              </a:r>
              <a:endParaRPr lang="en-US" dirty="0">
                <a:solidFill>
                  <a:schemeClr val="bg1">
                    <a:lumMod val="65000"/>
                  </a:schemeClr>
                </a:solidFill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5D74B29E-2554-BA60-5B26-1A510C83F47E}"/>
                </a:ext>
              </a:extLst>
            </p:cNvPr>
            <p:cNvSpPr/>
            <p:nvPr/>
          </p:nvSpPr>
          <p:spPr>
            <a:xfrm>
              <a:off x="9970651" y="6285411"/>
              <a:ext cx="347472" cy="274320"/>
            </a:xfrm>
            <a:prstGeom prst="rect">
              <a:avLst/>
            </a:prstGeom>
            <a:blipFill dpi="0" rotWithShape="1">
              <a:blip r:embed="rId3">
                <a:alphaModFix amt="50000"/>
              </a:blip>
              <a:srcRect/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5483138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E77B72-642B-3693-F07E-208318C56B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C32F04C8-A0BA-ABD2-3F63-1F457ADC2895}"/>
              </a:ext>
            </a:extLst>
          </p:cNvPr>
          <p:cNvGrpSpPr/>
          <p:nvPr/>
        </p:nvGrpSpPr>
        <p:grpSpPr>
          <a:xfrm>
            <a:off x="9970651" y="6185410"/>
            <a:ext cx="2130724" cy="474323"/>
            <a:chOff x="9970651" y="6185410"/>
            <a:chExt cx="2130724" cy="474323"/>
          </a:xfrm>
        </p:grpSpPr>
        <p:sp>
          <p:nvSpPr>
            <p:cNvPr id="5" name="Subtitle 2">
              <a:extLst>
                <a:ext uri="{FF2B5EF4-FFF2-40B4-BE49-F238E27FC236}">
                  <a16:creationId xmlns:a16="http://schemas.microsoft.com/office/drawing/2014/main" id="{BA4BC916-BEDD-EAE4-DF95-2706BCDB560E}"/>
                </a:ext>
              </a:extLst>
            </p:cNvPr>
            <p:cNvSpPr txBox="1">
              <a:spLocks/>
            </p:cNvSpPr>
            <p:nvPr/>
          </p:nvSpPr>
          <p:spPr>
            <a:xfrm>
              <a:off x="10041147" y="6185410"/>
              <a:ext cx="2060228" cy="474323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 err="1">
                  <a:solidFill>
                    <a:schemeClr val="bg1">
                      <a:lumMod val="65000"/>
                    </a:schemeClr>
                  </a:solidFill>
                </a:rPr>
                <a:t>scottsauber</a:t>
              </a:r>
              <a:endParaRPr lang="en-US" dirty="0">
                <a:solidFill>
                  <a:schemeClr val="bg1">
                    <a:lumMod val="65000"/>
                  </a:schemeClr>
                </a:solidFill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CE8688F9-7951-DC95-1E37-5C06B3437A49}"/>
                </a:ext>
              </a:extLst>
            </p:cNvPr>
            <p:cNvSpPr/>
            <p:nvPr/>
          </p:nvSpPr>
          <p:spPr>
            <a:xfrm>
              <a:off x="9970651" y="6285411"/>
              <a:ext cx="347472" cy="274320"/>
            </a:xfrm>
            <a:prstGeom prst="rect">
              <a:avLst/>
            </a:prstGeom>
            <a:blipFill dpi="0" rotWithShape="1">
              <a:blip r:embed="rId3">
                <a:alphaModFix amt="50000"/>
              </a:blip>
              <a:srcRect/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1" name="Picture 2" descr="IaaS vs. PaaS vs. SaaS">
            <a:extLst>
              <a:ext uri="{FF2B5EF4-FFF2-40B4-BE49-F238E27FC236}">
                <a16:creationId xmlns:a16="http://schemas.microsoft.com/office/drawing/2014/main" id="{D3823EC2-4C91-2450-F1F7-7D76D328FBC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50652" y="195485"/>
            <a:ext cx="9693779" cy="61899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9083940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Subscriptions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749836"/>
          </a:xfrm>
        </p:spPr>
        <p:txBody>
          <a:bodyPr>
            <a:normAutofit/>
          </a:bodyPr>
          <a:lstStyle/>
          <a:p>
            <a:r>
              <a:rPr lang="en-US" dirty="0"/>
              <a:t>Top-</a:t>
            </a:r>
            <a:r>
              <a:rPr lang="en-US" dirty="0" err="1"/>
              <a:t>ish</a:t>
            </a:r>
            <a:r>
              <a:rPr lang="en-US" dirty="0"/>
              <a:t> level organization (ignoring Tenants, Management Groups for a minute)</a:t>
            </a:r>
          </a:p>
          <a:p>
            <a:r>
              <a:rPr lang="en-US" dirty="0"/>
              <a:t>Recommended per team per environment</a:t>
            </a:r>
          </a:p>
          <a:p>
            <a:r>
              <a:rPr lang="en-US" dirty="0"/>
              <a:t>My default naming convention: sub-&lt;team/dept&gt;-&lt;environment&gt;</a:t>
            </a:r>
          </a:p>
          <a:p>
            <a:pPr lvl="1"/>
            <a:r>
              <a:rPr lang="en-US" dirty="0" err="1"/>
              <a:t>Eg</a:t>
            </a:r>
            <a:r>
              <a:rPr lang="en-US" dirty="0"/>
              <a:t>: sub-accounting-dev</a:t>
            </a:r>
          </a:p>
          <a:p>
            <a:r>
              <a:rPr lang="en-US" dirty="0"/>
              <a:t>Role access separation</a:t>
            </a:r>
          </a:p>
          <a:p>
            <a:r>
              <a:rPr lang="en-US" dirty="0"/>
              <a:t>Billing separation</a:t>
            </a:r>
          </a:p>
          <a:p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B04A2ACA-FF87-8A20-6F8F-BFF8BF708272}"/>
              </a:ext>
            </a:extLst>
          </p:cNvPr>
          <p:cNvGrpSpPr/>
          <p:nvPr/>
        </p:nvGrpSpPr>
        <p:grpSpPr>
          <a:xfrm>
            <a:off x="9970651" y="6185410"/>
            <a:ext cx="2130724" cy="474323"/>
            <a:chOff x="9970651" y="6185410"/>
            <a:chExt cx="2130724" cy="474323"/>
          </a:xfrm>
        </p:grpSpPr>
        <p:sp>
          <p:nvSpPr>
            <p:cNvPr id="5" name="Subtitle 2">
              <a:extLst>
                <a:ext uri="{FF2B5EF4-FFF2-40B4-BE49-F238E27FC236}">
                  <a16:creationId xmlns:a16="http://schemas.microsoft.com/office/drawing/2014/main" id="{5258820E-D2AE-6AE9-CDB9-EAC898D35AC7}"/>
                </a:ext>
              </a:extLst>
            </p:cNvPr>
            <p:cNvSpPr txBox="1">
              <a:spLocks/>
            </p:cNvSpPr>
            <p:nvPr/>
          </p:nvSpPr>
          <p:spPr>
            <a:xfrm>
              <a:off x="10041147" y="6185410"/>
              <a:ext cx="2060228" cy="474323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 err="1">
                  <a:solidFill>
                    <a:schemeClr val="bg1">
                      <a:lumMod val="65000"/>
                    </a:schemeClr>
                  </a:solidFill>
                </a:rPr>
                <a:t>scottsauber</a:t>
              </a:r>
              <a:endParaRPr lang="en-US" dirty="0">
                <a:solidFill>
                  <a:schemeClr val="bg1">
                    <a:lumMod val="65000"/>
                  </a:schemeClr>
                </a:solidFill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5D74B29E-2554-BA60-5B26-1A510C83F47E}"/>
                </a:ext>
              </a:extLst>
            </p:cNvPr>
            <p:cNvSpPr/>
            <p:nvPr/>
          </p:nvSpPr>
          <p:spPr>
            <a:xfrm>
              <a:off x="9970651" y="6285411"/>
              <a:ext cx="347472" cy="274320"/>
            </a:xfrm>
            <a:prstGeom prst="rect">
              <a:avLst/>
            </a:prstGeom>
            <a:blipFill dpi="0" rotWithShape="1">
              <a:blip r:embed="rId3">
                <a:alphaModFix amt="50000"/>
              </a:blip>
              <a:srcRect/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7126480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Resource Groups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749836"/>
          </a:xfrm>
        </p:spPr>
        <p:txBody>
          <a:bodyPr>
            <a:normAutofit/>
          </a:bodyPr>
          <a:lstStyle/>
          <a:p>
            <a:r>
              <a:rPr lang="en-US" dirty="0"/>
              <a:t>Related groups of resources (i.e. web, DB, Key Vault, </a:t>
            </a:r>
            <a:r>
              <a:rPr lang="en-US" dirty="0" err="1"/>
              <a:t>etc</a:t>
            </a:r>
            <a:r>
              <a:rPr lang="en-US" dirty="0"/>
              <a:t>)</a:t>
            </a:r>
          </a:p>
          <a:p>
            <a:r>
              <a:rPr lang="en-US" dirty="0"/>
              <a:t>Quickly view all resources related to that app</a:t>
            </a:r>
          </a:p>
          <a:p>
            <a:r>
              <a:rPr lang="en-US" dirty="0"/>
              <a:t>Conceptually, RG = folder, and Resources = files</a:t>
            </a:r>
          </a:p>
          <a:p>
            <a:r>
              <a:rPr lang="en-US" dirty="0"/>
              <a:t>Recommended per app per environment</a:t>
            </a:r>
          </a:p>
          <a:p>
            <a:r>
              <a:rPr lang="en-US" dirty="0"/>
              <a:t>Default naming convention: </a:t>
            </a:r>
            <a:r>
              <a:rPr lang="en-US" dirty="0" err="1"/>
              <a:t>rg</a:t>
            </a:r>
            <a:r>
              <a:rPr lang="en-US" dirty="0"/>
              <a:t>-&lt;product name&gt;-&lt;environment&gt;</a:t>
            </a:r>
          </a:p>
          <a:p>
            <a:pPr lvl="1"/>
            <a:r>
              <a:rPr lang="en-US" dirty="0" err="1"/>
              <a:t>Eg</a:t>
            </a:r>
            <a:r>
              <a:rPr lang="en-US" dirty="0"/>
              <a:t>: </a:t>
            </a:r>
            <a:r>
              <a:rPr lang="en-US" dirty="0" err="1"/>
              <a:t>rg</a:t>
            </a:r>
            <a:r>
              <a:rPr lang="en-US" dirty="0"/>
              <a:t>-</a:t>
            </a:r>
            <a:r>
              <a:rPr lang="en-US" dirty="0" err="1"/>
              <a:t>fancyapp</a:t>
            </a:r>
            <a:r>
              <a:rPr lang="en-US" dirty="0"/>
              <a:t>-dev</a:t>
            </a:r>
          </a:p>
          <a:p>
            <a:r>
              <a:rPr lang="en-US" dirty="0"/>
              <a:t>May have many RG’s in a single subscription</a:t>
            </a:r>
          </a:p>
          <a:p>
            <a:r>
              <a:rPr lang="en-US" dirty="0"/>
              <a:t>Role access separation</a:t>
            </a:r>
          </a:p>
          <a:p>
            <a:r>
              <a:rPr lang="en-US" dirty="0"/>
              <a:t>Billing separation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B04A2ACA-FF87-8A20-6F8F-BFF8BF708272}"/>
              </a:ext>
            </a:extLst>
          </p:cNvPr>
          <p:cNvGrpSpPr/>
          <p:nvPr/>
        </p:nvGrpSpPr>
        <p:grpSpPr>
          <a:xfrm>
            <a:off x="9970651" y="6185410"/>
            <a:ext cx="2130724" cy="474323"/>
            <a:chOff x="9970651" y="6185410"/>
            <a:chExt cx="2130724" cy="474323"/>
          </a:xfrm>
        </p:grpSpPr>
        <p:sp>
          <p:nvSpPr>
            <p:cNvPr id="5" name="Subtitle 2">
              <a:extLst>
                <a:ext uri="{FF2B5EF4-FFF2-40B4-BE49-F238E27FC236}">
                  <a16:creationId xmlns:a16="http://schemas.microsoft.com/office/drawing/2014/main" id="{5258820E-D2AE-6AE9-CDB9-EAC898D35AC7}"/>
                </a:ext>
              </a:extLst>
            </p:cNvPr>
            <p:cNvSpPr txBox="1">
              <a:spLocks/>
            </p:cNvSpPr>
            <p:nvPr/>
          </p:nvSpPr>
          <p:spPr>
            <a:xfrm>
              <a:off x="10041147" y="6185410"/>
              <a:ext cx="2060228" cy="474323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 err="1">
                  <a:solidFill>
                    <a:schemeClr val="bg1">
                      <a:lumMod val="65000"/>
                    </a:schemeClr>
                  </a:solidFill>
                </a:rPr>
                <a:t>scottsauber</a:t>
              </a:r>
              <a:endParaRPr lang="en-US" dirty="0">
                <a:solidFill>
                  <a:schemeClr val="bg1">
                    <a:lumMod val="65000"/>
                  </a:schemeClr>
                </a:solidFill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5D74B29E-2554-BA60-5B26-1A510C83F47E}"/>
                </a:ext>
              </a:extLst>
            </p:cNvPr>
            <p:cNvSpPr/>
            <p:nvPr/>
          </p:nvSpPr>
          <p:spPr>
            <a:xfrm>
              <a:off x="9970651" y="6285411"/>
              <a:ext cx="347472" cy="274320"/>
            </a:xfrm>
            <a:prstGeom prst="rect">
              <a:avLst/>
            </a:prstGeom>
            <a:blipFill dpi="0" rotWithShape="1">
              <a:blip r:embed="rId3">
                <a:alphaModFix amt="50000"/>
              </a:blip>
              <a:srcRect/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2328164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B04A2ACA-FF87-8A20-6F8F-BFF8BF708272}"/>
              </a:ext>
            </a:extLst>
          </p:cNvPr>
          <p:cNvGrpSpPr/>
          <p:nvPr/>
        </p:nvGrpSpPr>
        <p:grpSpPr>
          <a:xfrm>
            <a:off x="9970651" y="6185410"/>
            <a:ext cx="2130724" cy="474323"/>
            <a:chOff x="9970651" y="6185410"/>
            <a:chExt cx="2130724" cy="474323"/>
          </a:xfrm>
        </p:grpSpPr>
        <p:sp>
          <p:nvSpPr>
            <p:cNvPr id="5" name="Subtitle 2">
              <a:extLst>
                <a:ext uri="{FF2B5EF4-FFF2-40B4-BE49-F238E27FC236}">
                  <a16:creationId xmlns:a16="http://schemas.microsoft.com/office/drawing/2014/main" id="{5258820E-D2AE-6AE9-CDB9-EAC898D35AC7}"/>
                </a:ext>
              </a:extLst>
            </p:cNvPr>
            <p:cNvSpPr txBox="1">
              <a:spLocks/>
            </p:cNvSpPr>
            <p:nvPr/>
          </p:nvSpPr>
          <p:spPr>
            <a:xfrm>
              <a:off x="10041147" y="6185410"/>
              <a:ext cx="2060228" cy="474323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 err="1">
                  <a:solidFill>
                    <a:schemeClr val="bg1">
                      <a:lumMod val="65000"/>
                    </a:schemeClr>
                  </a:solidFill>
                </a:rPr>
                <a:t>scottsauber</a:t>
              </a:r>
              <a:endParaRPr lang="en-US" dirty="0">
                <a:solidFill>
                  <a:schemeClr val="bg1">
                    <a:lumMod val="65000"/>
                  </a:schemeClr>
                </a:solidFill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5D74B29E-2554-BA60-5B26-1A510C83F47E}"/>
                </a:ext>
              </a:extLst>
            </p:cNvPr>
            <p:cNvSpPr/>
            <p:nvPr/>
          </p:nvSpPr>
          <p:spPr>
            <a:xfrm>
              <a:off x="9970651" y="6285411"/>
              <a:ext cx="347472" cy="274320"/>
            </a:xfrm>
            <a:prstGeom prst="rect">
              <a:avLst/>
            </a:prstGeom>
            <a:blipFill dpi="0" rotWithShape="1">
              <a:blip r:embed="rId3">
                <a:alphaModFix amt="50000"/>
              </a:blip>
              <a:srcRect/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030" name="Picture 6">
            <a:extLst>
              <a:ext uri="{FF2B5EF4-FFF2-40B4-BE49-F238E27FC236}">
                <a16:creationId xmlns:a16="http://schemas.microsoft.com/office/drawing/2014/main" id="{6209617A-CE10-CFB9-BE82-E1A36C4FE07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47875" y="661988"/>
            <a:ext cx="8096249" cy="51521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4970182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69B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ED9EA72-7737-0DD7-9599-BC0C2F75A0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A23CEE-3A62-7771-FF5E-207E162BD47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326910"/>
            <a:ext cx="12192000" cy="2747938"/>
          </a:xfrm>
        </p:spPr>
        <p:txBody>
          <a:bodyPr>
            <a:normAutofit/>
          </a:bodyPr>
          <a:lstStyle/>
          <a:p>
            <a:r>
              <a:rPr lang="en-US" sz="9600" b="1" dirty="0">
                <a:solidFill>
                  <a:schemeClr val="bg1"/>
                </a:solidFill>
                <a:latin typeface="+mn-lt"/>
                <a:ea typeface="Open Sans" panose="020B0606030504020204" pitchFamily="34" charset="0"/>
                <a:cs typeface="Open Sans" panose="020B0606030504020204" pitchFamily="34" charset="0"/>
              </a:rPr>
              <a:t>Questions?</a:t>
            </a:r>
          </a:p>
        </p:txBody>
      </p:sp>
      <p:pic>
        <p:nvPicPr>
          <p:cNvPr id="3074" name="Picture 2" descr="Azure has a new logo, but where do you download it? Here!">
            <a:extLst>
              <a:ext uri="{FF2B5EF4-FFF2-40B4-BE49-F238E27FC236}">
                <a16:creationId xmlns:a16="http://schemas.microsoft.com/office/drawing/2014/main" id="{26009366-A181-47BF-E733-E3421BAAB5F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58576" y="3074848"/>
            <a:ext cx="3074847" cy="30748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0093149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69B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FE7171-AFDD-4862-9A69-284665CD33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326910"/>
            <a:ext cx="12192000" cy="2747938"/>
          </a:xfrm>
        </p:spPr>
        <p:txBody>
          <a:bodyPr>
            <a:normAutofit/>
          </a:bodyPr>
          <a:lstStyle/>
          <a:p>
            <a:r>
              <a:rPr lang="en-US" sz="9600" b="1" dirty="0">
                <a:solidFill>
                  <a:schemeClr val="bg1"/>
                </a:solidFill>
                <a:latin typeface="+mn-lt"/>
                <a:ea typeface="Open Sans" panose="020B0606030504020204" pitchFamily="34" charset="0"/>
                <a:cs typeface="Open Sans" panose="020B0606030504020204" pitchFamily="34" charset="0"/>
              </a:rPr>
              <a:t>Azure App Service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3D2AE236-7C6C-1FC9-BA07-4C735C41446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424982" y="3298548"/>
            <a:ext cx="2765977" cy="27659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595318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What is Azure App Service?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749836"/>
          </a:xfrm>
        </p:spPr>
        <p:txBody>
          <a:bodyPr>
            <a:normAutofit/>
          </a:bodyPr>
          <a:lstStyle/>
          <a:p>
            <a:r>
              <a:rPr lang="en-US" dirty="0"/>
              <a:t>PaaS offering for hosting applications</a:t>
            </a:r>
          </a:p>
          <a:p>
            <a:r>
              <a:rPr lang="en-US" dirty="0"/>
              <a:t>✅Handles OS patches, Framework patches</a:t>
            </a:r>
          </a:p>
          <a:p>
            <a:r>
              <a:rPr lang="en-US" dirty="0"/>
              <a:t>✅Zero downtime deployments with slots</a:t>
            </a:r>
          </a:p>
          <a:p>
            <a:r>
              <a:rPr lang="en-US" dirty="0"/>
              <a:t>✅SSL Certs</a:t>
            </a:r>
          </a:p>
          <a:p>
            <a:r>
              <a:rPr lang="en-US" dirty="0"/>
              <a:t>✅Autoscaling</a:t>
            </a:r>
          </a:p>
          <a:p>
            <a:r>
              <a:rPr lang="en-US" dirty="0"/>
              <a:t>✅Custom Domains</a:t>
            </a:r>
          </a:p>
          <a:p>
            <a:r>
              <a:rPr lang="en-US" dirty="0"/>
              <a:t>✅Very simple</a:t>
            </a:r>
          </a:p>
          <a:p>
            <a:r>
              <a:rPr lang="en-US" dirty="0"/>
              <a:t>✅And More</a:t>
            </a:r>
          </a:p>
          <a:p>
            <a:r>
              <a:rPr lang="en-US" dirty="0"/>
              <a:t>❌Less control because PaaS</a:t>
            </a:r>
          </a:p>
          <a:p>
            <a:endParaRPr lang="en-US" dirty="0"/>
          </a:p>
          <a:p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B04A2ACA-FF87-8A20-6F8F-BFF8BF708272}"/>
              </a:ext>
            </a:extLst>
          </p:cNvPr>
          <p:cNvGrpSpPr/>
          <p:nvPr/>
        </p:nvGrpSpPr>
        <p:grpSpPr>
          <a:xfrm>
            <a:off x="9970651" y="6185410"/>
            <a:ext cx="2130724" cy="474323"/>
            <a:chOff x="9970651" y="6185410"/>
            <a:chExt cx="2130724" cy="474323"/>
          </a:xfrm>
        </p:grpSpPr>
        <p:sp>
          <p:nvSpPr>
            <p:cNvPr id="5" name="Subtitle 2">
              <a:extLst>
                <a:ext uri="{FF2B5EF4-FFF2-40B4-BE49-F238E27FC236}">
                  <a16:creationId xmlns:a16="http://schemas.microsoft.com/office/drawing/2014/main" id="{5258820E-D2AE-6AE9-CDB9-EAC898D35AC7}"/>
                </a:ext>
              </a:extLst>
            </p:cNvPr>
            <p:cNvSpPr txBox="1">
              <a:spLocks/>
            </p:cNvSpPr>
            <p:nvPr/>
          </p:nvSpPr>
          <p:spPr>
            <a:xfrm>
              <a:off x="10041147" y="6185410"/>
              <a:ext cx="2060228" cy="474323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 err="1">
                  <a:solidFill>
                    <a:schemeClr val="bg1">
                      <a:lumMod val="65000"/>
                    </a:schemeClr>
                  </a:solidFill>
                </a:rPr>
                <a:t>scottsauber</a:t>
              </a:r>
              <a:endParaRPr lang="en-US" dirty="0">
                <a:solidFill>
                  <a:schemeClr val="bg1">
                    <a:lumMod val="65000"/>
                  </a:schemeClr>
                </a:solidFill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5D74B29E-2554-BA60-5B26-1A510C83F47E}"/>
                </a:ext>
              </a:extLst>
            </p:cNvPr>
            <p:cNvSpPr/>
            <p:nvPr/>
          </p:nvSpPr>
          <p:spPr>
            <a:xfrm>
              <a:off x="9970651" y="6285411"/>
              <a:ext cx="347472" cy="274320"/>
            </a:xfrm>
            <a:prstGeom prst="rect">
              <a:avLst/>
            </a:prstGeom>
            <a:blipFill dpi="0" rotWithShape="1">
              <a:blip r:embed="rId3">
                <a:alphaModFix amt="50000"/>
              </a:blip>
              <a:srcRect/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6254775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What is an Azure App Service Plan?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199" y="1825625"/>
            <a:ext cx="10666343" cy="4749836"/>
          </a:xfrm>
        </p:spPr>
        <p:txBody>
          <a:bodyPr>
            <a:normAutofit/>
          </a:bodyPr>
          <a:lstStyle/>
          <a:p>
            <a:r>
              <a:rPr lang="en-US" dirty="0"/>
              <a:t>Kinda like VM for your App Service(s)</a:t>
            </a:r>
          </a:p>
          <a:p>
            <a:r>
              <a:rPr lang="en-US" dirty="0"/>
              <a:t>Pick how much memory, storage, CPU</a:t>
            </a:r>
          </a:p>
          <a:p>
            <a:r>
              <a:rPr lang="en-US" dirty="0"/>
              <a:t>Multiple app service on one ASP (should you?)</a:t>
            </a:r>
          </a:p>
          <a:p>
            <a:r>
              <a:rPr lang="en-US" dirty="0"/>
              <a:t>Many apps can get away with P0V3 ($62/</a:t>
            </a:r>
            <a:r>
              <a:rPr lang="en-US" dirty="0" err="1"/>
              <a:t>mo</a:t>
            </a:r>
            <a:r>
              <a:rPr lang="en-US" dirty="0"/>
              <a:t> for Linux)</a:t>
            </a:r>
          </a:p>
          <a:p>
            <a:r>
              <a:rPr lang="en-US" dirty="0"/>
              <a:t>Need to be at least Standard to get Slots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B04A2ACA-FF87-8A20-6F8F-BFF8BF708272}"/>
              </a:ext>
            </a:extLst>
          </p:cNvPr>
          <p:cNvGrpSpPr/>
          <p:nvPr/>
        </p:nvGrpSpPr>
        <p:grpSpPr>
          <a:xfrm>
            <a:off x="9970651" y="6185410"/>
            <a:ext cx="2130724" cy="474323"/>
            <a:chOff x="9970651" y="6185410"/>
            <a:chExt cx="2130724" cy="474323"/>
          </a:xfrm>
        </p:grpSpPr>
        <p:sp>
          <p:nvSpPr>
            <p:cNvPr id="5" name="Subtitle 2">
              <a:extLst>
                <a:ext uri="{FF2B5EF4-FFF2-40B4-BE49-F238E27FC236}">
                  <a16:creationId xmlns:a16="http://schemas.microsoft.com/office/drawing/2014/main" id="{5258820E-D2AE-6AE9-CDB9-EAC898D35AC7}"/>
                </a:ext>
              </a:extLst>
            </p:cNvPr>
            <p:cNvSpPr txBox="1">
              <a:spLocks/>
            </p:cNvSpPr>
            <p:nvPr/>
          </p:nvSpPr>
          <p:spPr>
            <a:xfrm>
              <a:off x="10041147" y="6185410"/>
              <a:ext cx="2060228" cy="474323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 err="1">
                  <a:solidFill>
                    <a:schemeClr val="bg1">
                      <a:lumMod val="65000"/>
                    </a:schemeClr>
                  </a:solidFill>
                </a:rPr>
                <a:t>scottsauber</a:t>
              </a:r>
              <a:endParaRPr lang="en-US" dirty="0">
                <a:solidFill>
                  <a:schemeClr val="bg1">
                    <a:lumMod val="65000"/>
                  </a:schemeClr>
                </a:solidFill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5D74B29E-2554-BA60-5B26-1A510C83F47E}"/>
                </a:ext>
              </a:extLst>
            </p:cNvPr>
            <p:cNvSpPr/>
            <p:nvPr/>
          </p:nvSpPr>
          <p:spPr>
            <a:xfrm>
              <a:off x="9970651" y="6285411"/>
              <a:ext cx="347472" cy="274320"/>
            </a:xfrm>
            <a:prstGeom prst="rect">
              <a:avLst/>
            </a:prstGeom>
            <a:blipFill dpi="0" rotWithShape="1">
              <a:blip r:embed="rId3">
                <a:alphaModFix amt="50000"/>
              </a:blip>
              <a:srcRect/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8079789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DAAA96-8CB0-4E95-A2A8-9143253A83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75E8EF-1314-C3C7-8831-A8B3EB5FA4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$ an issue?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0BC59D-95D4-B9FE-00CF-0AEBDA2495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0666343" cy="4749836"/>
          </a:xfrm>
        </p:spPr>
        <p:txBody>
          <a:bodyPr>
            <a:normAutofit/>
          </a:bodyPr>
          <a:lstStyle/>
          <a:p>
            <a:r>
              <a:rPr lang="en-US" dirty="0"/>
              <a:t>Savings Plan – commit to $ amount</a:t>
            </a:r>
          </a:p>
          <a:p>
            <a:r>
              <a:rPr lang="en-US" dirty="0"/>
              <a:t>Save 25% for 1 yr or 45% for 3 yr commitment</a:t>
            </a:r>
          </a:p>
          <a:p>
            <a:r>
              <a:rPr lang="en-US" dirty="0"/>
              <a:t>Reservation – commit to compute tier</a:t>
            </a:r>
          </a:p>
          <a:p>
            <a:r>
              <a:rPr lang="en-US" dirty="0"/>
              <a:t>Save 35% for 1 yr or 55% for 3 yr commitment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ABF129E5-E438-D66C-A5E0-79FE7FC349BC}"/>
              </a:ext>
            </a:extLst>
          </p:cNvPr>
          <p:cNvGrpSpPr/>
          <p:nvPr/>
        </p:nvGrpSpPr>
        <p:grpSpPr>
          <a:xfrm>
            <a:off x="9970651" y="6185410"/>
            <a:ext cx="2130724" cy="474323"/>
            <a:chOff x="9970651" y="6185410"/>
            <a:chExt cx="2130724" cy="474323"/>
          </a:xfrm>
        </p:grpSpPr>
        <p:sp>
          <p:nvSpPr>
            <p:cNvPr id="5" name="Subtitle 2">
              <a:extLst>
                <a:ext uri="{FF2B5EF4-FFF2-40B4-BE49-F238E27FC236}">
                  <a16:creationId xmlns:a16="http://schemas.microsoft.com/office/drawing/2014/main" id="{5DCDE673-8D3C-CE59-F219-6E227BFEFB3E}"/>
                </a:ext>
              </a:extLst>
            </p:cNvPr>
            <p:cNvSpPr txBox="1">
              <a:spLocks/>
            </p:cNvSpPr>
            <p:nvPr/>
          </p:nvSpPr>
          <p:spPr>
            <a:xfrm>
              <a:off x="10041147" y="6185410"/>
              <a:ext cx="2060228" cy="474323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 err="1">
                  <a:solidFill>
                    <a:schemeClr val="bg1">
                      <a:lumMod val="65000"/>
                    </a:schemeClr>
                  </a:solidFill>
                </a:rPr>
                <a:t>scottsauber</a:t>
              </a:r>
              <a:endParaRPr lang="en-US" dirty="0">
                <a:solidFill>
                  <a:schemeClr val="bg1">
                    <a:lumMod val="65000"/>
                  </a:schemeClr>
                </a:solidFill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FCECFE74-B8F9-6006-363E-B1BBEFA6BA70}"/>
                </a:ext>
              </a:extLst>
            </p:cNvPr>
            <p:cNvSpPr/>
            <p:nvPr/>
          </p:nvSpPr>
          <p:spPr>
            <a:xfrm>
              <a:off x="9970651" y="6285411"/>
              <a:ext cx="347472" cy="274320"/>
            </a:xfrm>
            <a:prstGeom prst="rect">
              <a:avLst/>
            </a:prstGeom>
            <a:blipFill dpi="0" rotWithShape="1">
              <a:blip r:embed="rId3">
                <a:alphaModFix amt="50000"/>
              </a:blip>
              <a:srcRect/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4228059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DFC7DA-E92C-49F4-78CA-16A11E5A1A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C3F190FE-0A12-5CB7-7D09-832AC75BD4EA}"/>
              </a:ext>
            </a:extLst>
          </p:cNvPr>
          <p:cNvGrpSpPr/>
          <p:nvPr/>
        </p:nvGrpSpPr>
        <p:grpSpPr>
          <a:xfrm>
            <a:off x="9970651" y="6185410"/>
            <a:ext cx="2130724" cy="474323"/>
            <a:chOff x="9970651" y="6185410"/>
            <a:chExt cx="2130724" cy="474323"/>
          </a:xfrm>
        </p:grpSpPr>
        <p:sp>
          <p:nvSpPr>
            <p:cNvPr id="5" name="Subtitle 2">
              <a:extLst>
                <a:ext uri="{FF2B5EF4-FFF2-40B4-BE49-F238E27FC236}">
                  <a16:creationId xmlns:a16="http://schemas.microsoft.com/office/drawing/2014/main" id="{873E7D4B-68E6-E78C-EE0C-A4153DEDB567}"/>
                </a:ext>
              </a:extLst>
            </p:cNvPr>
            <p:cNvSpPr txBox="1">
              <a:spLocks/>
            </p:cNvSpPr>
            <p:nvPr/>
          </p:nvSpPr>
          <p:spPr>
            <a:xfrm>
              <a:off x="10041147" y="6185410"/>
              <a:ext cx="2060228" cy="474323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 err="1">
                  <a:solidFill>
                    <a:schemeClr val="bg1">
                      <a:lumMod val="65000"/>
                    </a:schemeClr>
                  </a:solidFill>
                </a:rPr>
                <a:t>scottsauber</a:t>
              </a:r>
              <a:endParaRPr lang="en-US" dirty="0">
                <a:solidFill>
                  <a:schemeClr val="bg1">
                    <a:lumMod val="65000"/>
                  </a:schemeClr>
                </a:solidFill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81E410F2-B0E2-22B0-1E13-24DFB277C2FA}"/>
                </a:ext>
              </a:extLst>
            </p:cNvPr>
            <p:cNvSpPr/>
            <p:nvPr/>
          </p:nvSpPr>
          <p:spPr>
            <a:xfrm>
              <a:off x="9970651" y="6285411"/>
              <a:ext cx="347472" cy="274320"/>
            </a:xfrm>
            <a:prstGeom prst="rect">
              <a:avLst/>
            </a:prstGeom>
            <a:blipFill dpi="0" rotWithShape="1">
              <a:blip r:embed="rId3">
                <a:alphaModFix amt="50000"/>
              </a:blip>
              <a:srcRect/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1" name="Picture 10">
            <a:extLst>
              <a:ext uri="{FF2B5EF4-FFF2-40B4-BE49-F238E27FC236}">
                <a16:creationId xmlns:a16="http://schemas.microsoft.com/office/drawing/2014/main" id="{B23FB99B-289D-2937-EC35-3CB365A27EC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5283" y="150001"/>
            <a:ext cx="10715268" cy="65254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215155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1320E9-27E3-90F4-940C-A7A395C8DC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E600A205-BEB8-3C7B-478A-3AACC9FA2C23}"/>
              </a:ext>
            </a:extLst>
          </p:cNvPr>
          <p:cNvGrpSpPr/>
          <p:nvPr/>
        </p:nvGrpSpPr>
        <p:grpSpPr>
          <a:xfrm>
            <a:off x="9970651" y="6185410"/>
            <a:ext cx="2130724" cy="474323"/>
            <a:chOff x="9970651" y="6185410"/>
            <a:chExt cx="2130724" cy="474323"/>
          </a:xfrm>
        </p:grpSpPr>
        <p:sp>
          <p:nvSpPr>
            <p:cNvPr id="5" name="Subtitle 2">
              <a:extLst>
                <a:ext uri="{FF2B5EF4-FFF2-40B4-BE49-F238E27FC236}">
                  <a16:creationId xmlns:a16="http://schemas.microsoft.com/office/drawing/2014/main" id="{FE7D3898-CB27-C372-D7BE-313853A07AB7}"/>
                </a:ext>
              </a:extLst>
            </p:cNvPr>
            <p:cNvSpPr txBox="1">
              <a:spLocks/>
            </p:cNvSpPr>
            <p:nvPr/>
          </p:nvSpPr>
          <p:spPr>
            <a:xfrm>
              <a:off x="10041147" y="6185410"/>
              <a:ext cx="2060228" cy="474323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 err="1">
                  <a:solidFill>
                    <a:schemeClr val="bg1">
                      <a:lumMod val="65000"/>
                    </a:schemeClr>
                  </a:solidFill>
                </a:rPr>
                <a:t>scottsauber</a:t>
              </a:r>
              <a:endParaRPr lang="en-US" dirty="0">
                <a:solidFill>
                  <a:schemeClr val="bg1">
                    <a:lumMod val="65000"/>
                  </a:schemeClr>
                </a:solidFill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13028536-0C01-847D-4B26-F820A2816A33}"/>
                </a:ext>
              </a:extLst>
            </p:cNvPr>
            <p:cNvSpPr/>
            <p:nvPr/>
          </p:nvSpPr>
          <p:spPr>
            <a:xfrm>
              <a:off x="9970651" y="6285411"/>
              <a:ext cx="347472" cy="274320"/>
            </a:xfrm>
            <a:prstGeom prst="rect">
              <a:avLst/>
            </a:prstGeom>
            <a:blipFill dpi="0" rotWithShape="1">
              <a:blip r:embed="rId3">
                <a:alphaModFix amt="50000"/>
              </a:blip>
              <a:srcRect/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3" name="Picture 2">
            <a:extLst>
              <a:ext uri="{FF2B5EF4-FFF2-40B4-BE49-F238E27FC236}">
                <a16:creationId xmlns:a16="http://schemas.microsoft.com/office/drawing/2014/main" id="{B241AFF1-AF45-1AFF-C7E4-EFE2CF6916E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607174"/>
            <a:ext cx="12102714" cy="52005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332474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883E1D-8FC1-29BA-4BEB-25023734FB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A612EA48-6A4A-B91C-E7FD-CF3C28D67921}"/>
              </a:ext>
            </a:extLst>
          </p:cNvPr>
          <p:cNvGrpSpPr/>
          <p:nvPr/>
        </p:nvGrpSpPr>
        <p:grpSpPr>
          <a:xfrm>
            <a:off x="9970651" y="6185410"/>
            <a:ext cx="2130724" cy="474323"/>
            <a:chOff x="9970651" y="6185410"/>
            <a:chExt cx="2130724" cy="474323"/>
          </a:xfrm>
        </p:grpSpPr>
        <p:sp>
          <p:nvSpPr>
            <p:cNvPr id="5" name="Subtitle 2">
              <a:extLst>
                <a:ext uri="{FF2B5EF4-FFF2-40B4-BE49-F238E27FC236}">
                  <a16:creationId xmlns:a16="http://schemas.microsoft.com/office/drawing/2014/main" id="{A73F65F7-A418-7CF9-22C1-7642DD35E016}"/>
                </a:ext>
              </a:extLst>
            </p:cNvPr>
            <p:cNvSpPr txBox="1">
              <a:spLocks/>
            </p:cNvSpPr>
            <p:nvPr/>
          </p:nvSpPr>
          <p:spPr>
            <a:xfrm>
              <a:off x="10041147" y="6185410"/>
              <a:ext cx="2060228" cy="474323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 err="1">
                  <a:solidFill>
                    <a:schemeClr val="bg1">
                      <a:lumMod val="65000"/>
                    </a:schemeClr>
                  </a:solidFill>
                </a:rPr>
                <a:t>scottsauber</a:t>
              </a:r>
              <a:endParaRPr lang="en-US" dirty="0">
                <a:solidFill>
                  <a:schemeClr val="bg1">
                    <a:lumMod val="65000"/>
                  </a:schemeClr>
                </a:solidFill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DEBE8198-9F2D-7A13-4038-CBBCFFBB0AF3}"/>
                </a:ext>
              </a:extLst>
            </p:cNvPr>
            <p:cNvSpPr/>
            <p:nvPr/>
          </p:nvSpPr>
          <p:spPr>
            <a:xfrm>
              <a:off x="9970651" y="6285411"/>
              <a:ext cx="347472" cy="274320"/>
            </a:xfrm>
            <a:prstGeom prst="rect">
              <a:avLst/>
            </a:prstGeom>
            <a:blipFill dpi="0" rotWithShape="1">
              <a:blip r:embed="rId3">
                <a:alphaModFix amt="50000"/>
              </a:blip>
              <a:srcRect/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2" name="Picture 1">
            <a:extLst>
              <a:ext uri="{FF2B5EF4-FFF2-40B4-BE49-F238E27FC236}">
                <a16:creationId xmlns:a16="http://schemas.microsoft.com/office/drawing/2014/main" id="{99BEE1EB-ACFF-8A39-D317-DCF12229188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1" y="598470"/>
            <a:ext cx="12260363" cy="52915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330148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95B6DF-2672-622E-ACDC-6D3F7E2CF3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DFE19C0A-F83B-F74E-7496-A47079D394B3}"/>
              </a:ext>
            </a:extLst>
          </p:cNvPr>
          <p:cNvGrpSpPr/>
          <p:nvPr/>
        </p:nvGrpSpPr>
        <p:grpSpPr>
          <a:xfrm>
            <a:off x="9970651" y="6185410"/>
            <a:ext cx="2130724" cy="474323"/>
            <a:chOff x="9970651" y="6185410"/>
            <a:chExt cx="2130724" cy="474323"/>
          </a:xfrm>
        </p:grpSpPr>
        <p:sp>
          <p:nvSpPr>
            <p:cNvPr id="5" name="Subtitle 2">
              <a:extLst>
                <a:ext uri="{FF2B5EF4-FFF2-40B4-BE49-F238E27FC236}">
                  <a16:creationId xmlns:a16="http://schemas.microsoft.com/office/drawing/2014/main" id="{120989F4-BE7A-C836-390D-F82BB556A5FA}"/>
                </a:ext>
              </a:extLst>
            </p:cNvPr>
            <p:cNvSpPr txBox="1">
              <a:spLocks/>
            </p:cNvSpPr>
            <p:nvPr/>
          </p:nvSpPr>
          <p:spPr>
            <a:xfrm>
              <a:off x="10041147" y="6185410"/>
              <a:ext cx="2060228" cy="474323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 err="1">
                  <a:solidFill>
                    <a:schemeClr val="bg1">
                      <a:lumMod val="65000"/>
                    </a:schemeClr>
                  </a:solidFill>
                </a:rPr>
                <a:t>scottsauber</a:t>
              </a:r>
              <a:endParaRPr lang="en-US" dirty="0">
                <a:solidFill>
                  <a:schemeClr val="bg1">
                    <a:lumMod val="65000"/>
                  </a:schemeClr>
                </a:solidFill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667C9B74-4EB5-BD2D-1251-56F78E356AF9}"/>
                </a:ext>
              </a:extLst>
            </p:cNvPr>
            <p:cNvSpPr/>
            <p:nvPr/>
          </p:nvSpPr>
          <p:spPr>
            <a:xfrm>
              <a:off x="9970651" y="6285411"/>
              <a:ext cx="347472" cy="274320"/>
            </a:xfrm>
            <a:prstGeom prst="rect">
              <a:avLst/>
            </a:prstGeom>
            <a:blipFill dpi="0" rotWithShape="1">
              <a:blip r:embed="rId3">
                <a:alphaModFix amt="50000"/>
              </a:blip>
              <a:srcRect/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3" name="Picture 2">
            <a:extLst>
              <a:ext uri="{FF2B5EF4-FFF2-40B4-BE49-F238E27FC236}">
                <a16:creationId xmlns:a16="http://schemas.microsoft.com/office/drawing/2014/main" id="{B61E5257-5216-D86B-DA6A-61490E1815A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1" y="680482"/>
            <a:ext cx="12195469" cy="50448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503582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69B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FE7171-AFDD-4862-9A69-284665CD33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326910"/>
            <a:ext cx="12192000" cy="2747938"/>
          </a:xfrm>
        </p:spPr>
        <p:txBody>
          <a:bodyPr>
            <a:normAutofit/>
          </a:bodyPr>
          <a:lstStyle/>
          <a:p>
            <a:r>
              <a:rPr lang="en-US" sz="9600" b="1" dirty="0">
                <a:solidFill>
                  <a:schemeClr val="bg1"/>
                </a:solidFill>
                <a:latin typeface="+mn-lt"/>
                <a:ea typeface="Open Sans" panose="020B0606030504020204" pitchFamily="34" charset="0"/>
                <a:cs typeface="Open Sans" panose="020B0606030504020204" pitchFamily="34" charset="0"/>
              </a:rPr>
              <a:t>Live Demo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3D2AE236-7C6C-1FC9-BA07-4C735C41446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713011" y="3462545"/>
            <a:ext cx="2765977" cy="27659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987517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69B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B9EFCDF-B2EE-6A80-CE6D-2E2F8D7364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A4BE07-36E0-B0A9-6A74-C65080BC9F1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326910"/>
            <a:ext cx="12192000" cy="2747938"/>
          </a:xfrm>
        </p:spPr>
        <p:txBody>
          <a:bodyPr>
            <a:normAutofit/>
          </a:bodyPr>
          <a:lstStyle/>
          <a:p>
            <a:r>
              <a:rPr lang="en-US" sz="9600" b="1" dirty="0">
                <a:solidFill>
                  <a:schemeClr val="bg1"/>
                </a:solidFill>
                <a:latin typeface="+mn-lt"/>
                <a:ea typeface="Open Sans" panose="020B0606030504020204" pitchFamily="34" charset="0"/>
                <a:cs typeface="Open Sans" panose="020B0606030504020204" pitchFamily="34" charset="0"/>
              </a:rPr>
              <a:t>Questions?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0F1A91F0-2DBD-E119-D441-4C4E9DBDFA0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713011" y="3462545"/>
            <a:ext cx="2765977" cy="27659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972118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69B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FE7171-AFDD-4862-9A69-284665CD33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326910"/>
            <a:ext cx="12192000" cy="2747938"/>
          </a:xfrm>
        </p:spPr>
        <p:txBody>
          <a:bodyPr>
            <a:normAutofit/>
          </a:bodyPr>
          <a:lstStyle/>
          <a:p>
            <a:r>
              <a:rPr lang="en-US" sz="9600" b="1" dirty="0">
                <a:solidFill>
                  <a:schemeClr val="bg1"/>
                </a:solidFill>
                <a:latin typeface="+mn-lt"/>
                <a:ea typeface="Open Sans" panose="020B0606030504020204" pitchFamily="34" charset="0"/>
                <a:cs typeface="Open Sans" panose="020B0606030504020204" pitchFamily="34" charset="0"/>
              </a:rPr>
              <a:t>Bicep</a:t>
            </a:r>
          </a:p>
        </p:txBody>
      </p:sp>
      <p:pic>
        <p:nvPicPr>
          <p:cNvPr id="2050" name="Picture 2" descr="Bicep - Visual Studio Marketplace">
            <a:extLst>
              <a:ext uri="{FF2B5EF4-FFF2-40B4-BE49-F238E27FC236}">
                <a16:creationId xmlns:a16="http://schemas.microsoft.com/office/drawing/2014/main" id="{8C2B5FBC-24AF-C673-DDC3-7A8EF167EF5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63716" y="3349258"/>
            <a:ext cx="3054627" cy="30546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5295914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Infrastructure as Code (</a:t>
            </a:r>
            <a:r>
              <a:rPr lang="en-US" dirty="0" err="1">
                <a:solidFill>
                  <a:schemeClr val="bg1">
                    <a:lumMod val="65000"/>
                  </a:schemeClr>
                </a:solidFill>
              </a:rPr>
              <a:t>IaC</a:t>
            </a:r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749836"/>
          </a:xfrm>
        </p:spPr>
        <p:txBody>
          <a:bodyPr>
            <a:normAutofit/>
          </a:bodyPr>
          <a:lstStyle/>
          <a:p>
            <a:r>
              <a:rPr lang="en-US" dirty="0"/>
              <a:t>Source code defining what resources to provision</a:t>
            </a:r>
          </a:p>
          <a:p>
            <a:r>
              <a:rPr lang="en-US" dirty="0"/>
              <a:t>Stored in version control</a:t>
            </a:r>
          </a:p>
          <a:p>
            <a:r>
              <a:rPr lang="en-US" dirty="0"/>
              <a:t>Declarative – what resources to create, not how to create them</a:t>
            </a:r>
          </a:p>
          <a:p>
            <a:r>
              <a:rPr lang="en-US" dirty="0"/>
              <a:t>Deployed via pipeline</a:t>
            </a:r>
          </a:p>
          <a:p>
            <a:r>
              <a:rPr lang="en-US" dirty="0"/>
              <a:t>Need a new env? Few lines of code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B04A2ACA-FF87-8A20-6F8F-BFF8BF708272}"/>
              </a:ext>
            </a:extLst>
          </p:cNvPr>
          <p:cNvGrpSpPr/>
          <p:nvPr/>
        </p:nvGrpSpPr>
        <p:grpSpPr>
          <a:xfrm>
            <a:off x="9970651" y="6185410"/>
            <a:ext cx="2130724" cy="474323"/>
            <a:chOff x="9970651" y="6185410"/>
            <a:chExt cx="2130724" cy="474323"/>
          </a:xfrm>
        </p:grpSpPr>
        <p:sp>
          <p:nvSpPr>
            <p:cNvPr id="5" name="Subtitle 2">
              <a:extLst>
                <a:ext uri="{FF2B5EF4-FFF2-40B4-BE49-F238E27FC236}">
                  <a16:creationId xmlns:a16="http://schemas.microsoft.com/office/drawing/2014/main" id="{5258820E-D2AE-6AE9-CDB9-EAC898D35AC7}"/>
                </a:ext>
              </a:extLst>
            </p:cNvPr>
            <p:cNvSpPr txBox="1">
              <a:spLocks/>
            </p:cNvSpPr>
            <p:nvPr/>
          </p:nvSpPr>
          <p:spPr>
            <a:xfrm>
              <a:off x="10041147" y="6185410"/>
              <a:ext cx="2060228" cy="474323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 err="1">
                  <a:solidFill>
                    <a:schemeClr val="bg1">
                      <a:lumMod val="65000"/>
                    </a:schemeClr>
                  </a:solidFill>
                </a:rPr>
                <a:t>scottsauber</a:t>
              </a:r>
              <a:endParaRPr lang="en-US" dirty="0">
                <a:solidFill>
                  <a:schemeClr val="bg1">
                    <a:lumMod val="65000"/>
                  </a:schemeClr>
                </a:solidFill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5D74B29E-2554-BA60-5B26-1A510C83F47E}"/>
                </a:ext>
              </a:extLst>
            </p:cNvPr>
            <p:cNvSpPr/>
            <p:nvPr/>
          </p:nvSpPr>
          <p:spPr>
            <a:xfrm>
              <a:off x="9970651" y="6285411"/>
              <a:ext cx="347472" cy="274320"/>
            </a:xfrm>
            <a:prstGeom prst="rect">
              <a:avLst/>
            </a:prstGeom>
            <a:blipFill dpi="0" rotWithShape="1">
              <a:blip r:embed="rId3">
                <a:alphaModFix amt="50000"/>
              </a:blip>
              <a:srcRect/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8504703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B2B2B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B2B2B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B2B2B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B2B2B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B2B2B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FDF517-9119-4F11-7ACD-945E1DC4D7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01C127-2503-BEBA-4067-E43209B41C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Without IAC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BE74F1-0784-CBA7-2F14-6732466141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749836"/>
          </a:xfrm>
        </p:spPr>
        <p:txBody>
          <a:bodyPr>
            <a:normAutofit/>
          </a:bodyPr>
          <a:lstStyle/>
          <a:p>
            <a:r>
              <a:rPr lang="en-US" dirty="0"/>
              <a:t>Clickety Clack Configuration™️ (</a:t>
            </a:r>
            <a:r>
              <a:rPr lang="en-US" dirty="0" err="1"/>
              <a:t>ClickOps</a:t>
            </a:r>
            <a:r>
              <a:rPr lang="en-US" dirty="0"/>
              <a:t>)</a:t>
            </a:r>
          </a:p>
          <a:p>
            <a:r>
              <a:rPr lang="en-US" dirty="0"/>
              <a:t>Repeat yourself for each environment</a:t>
            </a:r>
          </a:p>
          <a:p>
            <a:r>
              <a:rPr lang="en-US" dirty="0"/>
              <a:t>“It worked in Dev/UAT/Staging, not Prod”</a:t>
            </a:r>
          </a:p>
          <a:p>
            <a:r>
              <a:rPr lang="en-US" dirty="0"/>
              <a:t>“It works on my machine”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1F49776E-A345-48A0-6CCA-76A4446FC480}"/>
              </a:ext>
            </a:extLst>
          </p:cNvPr>
          <p:cNvGrpSpPr/>
          <p:nvPr/>
        </p:nvGrpSpPr>
        <p:grpSpPr>
          <a:xfrm>
            <a:off x="9970651" y="6185410"/>
            <a:ext cx="2130724" cy="474323"/>
            <a:chOff x="9970651" y="6185410"/>
            <a:chExt cx="2130724" cy="474323"/>
          </a:xfrm>
        </p:grpSpPr>
        <p:sp>
          <p:nvSpPr>
            <p:cNvPr id="5" name="Subtitle 2">
              <a:extLst>
                <a:ext uri="{FF2B5EF4-FFF2-40B4-BE49-F238E27FC236}">
                  <a16:creationId xmlns:a16="http://schemas.microsoft.com/office/drawing/2014/main" id="{58C1C9CE-AB52-49AF-9449-FA2E7A9C1647}"/>
                </a:ext>
              </a:extLst>
            </p:cNvPr>
            <p:cNvSpPr txBox="1">
              <a:spLocks/>
            </p:cNvSpPr>
            <p:nvPr/>
          </p:nvSpPr>
          <p:spPr>
            <a:xfrm>
              <a:off x="10041147" y="6185410"/>
              <a:ext cx="2060228" cy="474323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 err="1">
                  <a:solidFill>
                    <a:schemeClr val="bg1">
                      <a:lumMod val="65000"/>
                    </a:schemeClr>
                  </a:solidFill>
                </a:rPr>
                <a:t>scottsauber</a:t>
              </a:r>
              <a:endParaRPr lang="en-US" dirty="0">
                <a:solidFill>
                  <a:schemeClr val="bg1">
                    <a:lumMod val="65000"/>
                  </a:schemeClr>
                </a:solidFill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06A1D084-17FE-5D01-797E-15E8E0D0809E}"/>
                </a:ext>
              </a:extLst>
            </p:cNvPr>
            <p:cNvSpPr/>
            <p:nvPr/>
          </p:nvSpPr>
          <p:spPr>
            <a:xfrm>
              <a:off x="9970651" y="6285411"/>
              <a:ext cx="347472" cy="274320"/>
            </a:xfrm>
            <a:prstGeom prst="rect">
              <a:avLst/>
            </a:prstGeom>
            <a:blipFill dpi="0" rotWithShape="1">
              <a:blip r:embed="rId3">
                <a:alphaModFix amt="50000"/>
              </a:blip>
              <a:srcRect/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7325020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B2B2B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B2B2B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B2B2B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B2B2B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A12243-E182-0C4C-DAA4-FBBD0B67AC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E4495B-EF49-DFF2-BD6D-34173C26FC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What is Azure Bicep?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297BDC-6590-8196-4355-6AACDF6934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749836"/>
          </a:xfrm>
        </p:spPr>
        <p:txBody>
          <a:bodyPr>
            <a:normAutofit lnSpcReduction="10000"/>
          </a:bodyPr>
          <a:lstStyle/>
          <a:p>
            <a:r>
              <a:rPr lang="en-US" dirty="0"/>
              <a:t>Used to configure Azure resources</a:t>
            </a:r>
          </a:p>
          <a:p>
            <a:r>
              <a:rPr lang="en-US" dirty="0"/>
              <a:t>Built and maintained by Microsoft</a:t>
            </a:r>
          </a:p>
          <a:p>
            <a:r>
              <a:rPr lang="en-US" dirty="0"/>
              <a:t>Domain-specific language (fancy word for custom)</a:t>
            </a:r>
          </a:p>
          <a:p>
            <a:r>
              <a:rPr lang="en-US" dirty="0"/>
              <a:t>Provides </a:t>
            </a:r>
            <a:r>
              <a:rPr lang="en-US" dirty="0" err="1"/>
              <a:t>intellisense</a:t>
            </a:r>
            <a:r>
              <a:rPr lang="en-US" dirty="0"/>
              <a:t>, error checking, “</a:t>
            </a:r>
            <a:r>
              <a:rPr lang="en-US" dirty="0" err="1"/>
              <a:t>whatif</a:t>
            </a:r>
            <a:r>
              <a:rPr lang="en-US" dirty="0"/>
              <a:t>,” and orders the resource creations</a:t>
            </a:r>
          </a:p>
          <a:p>
            <a:r>
              <a:rPr lang="en-US" dirty="0"/>
              <a:t>Built on top of Azure Resource Manager (ARM) – don’t use ARM directly </a:t>
            </a:r>
          </a:p>
          <a:p>
            <a:r>
              <a:rPr lang="en-US" dirty="0"/>
              <a:t>Can compose multiple files into “modules”</a:t>
            </a:r>
          </a:p>
          <a:p>
            <a:r>
              <a:rPr lang="en-US" dirty="0"/>
              <a:t>Can pass data between modules via outputs</a:t>
            </a:r>
          </a:p>
          <a:p>
            <a:r>
              <a:rPr lang="en-US" dirty="0"/>
              <a:t>No state file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C5D1F560-E83D-E58F-A86B-903B6DFB417F}"/>
              </a:ext>
            </a:extLst>
          </p:cNvPr>
          <p:cNvGrpSpPr/>
          <p:nvPr/>
        </p:nvGrpSpPr>
        <p:grpSpPr>
          <a:xfrm>
            <a:off x="9970651" y="6185410"/>
            <a:ext cx="2130724" cy="474323"/>
            <a:chOff x="9970651" y="6185410"/>
            <a:chExt cx="2130724" cy="474323"/>
          </a:xfrm>
        </p:grpSpPr>
        <p:sp>
          <p:nvSpPr>
            <p:cNvPr id="5" name="Subtitle 2">
              <a:extLst>
                <a:ext uri="{FF2B5EF4-FFF2-40B4-BE49-F238E27FC236}">
                  <a16:creationId xmlns:a16="http://schemas.microsoft.com/office/drawing/2014/main" id="{376892D4-BDCB-3FF0-85CD-A333992245CB}"/>
                </a:ext>
              </a:extLst>
            </p:cNvPr>
            <p:cNvSpPr txBox="1">
              <a:spLocks/>
            </p:cNvSpPr>
            <p:nvPr/>
          </p:nvSpPr>
          <p:spPr>
            <a:xfrm>
              <a:off x="10041147" y="6185410"/>
              <a:ext cx="2060228" cy="474323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 err="1">
                  <a:solidFill>
                    <a:schemeClr val="bg1">
                      <a:lumMod val="65000"/>
                    </a:schemeClr>
                  </a:solidFill>
                </a:rPr>
                <a:t>scottsauber</a:t>
              </a:r>
              <a:endParaRPr lang="en-US" dirty="0">
                <a:solidFill>
                  <a:schemeClr val="bg1">
                    <a:lumMod val="65000"/>
                  </a:schemeClr>
                </a:solidFill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8FC7A8CB-7681-F320-351B-9E54A9465F03}"/>
                </a:ext>
              </a:extLst>
            </p:cNvPr>
            <p:cNvSpPr/>
            <p:nvPr/>
          </p:nvSpPr>
          <p:spPr>
            <a:xfrm>
              <a:off x="9970651" y="6285411"/>
              <a:ext cx="347472" cy="274320"/>
            </a:xfrm>
            <a:prstGeom prst="rect">
              <a:avLst/>
            </a:prstGeom>
            <a:blipFill dpi="0" rotWithShape="1">
              <a:blip r:embed="rId3">
                <a:alphaModFix amt="50000"/>
              </a:blip>
              <a:srcRect/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4452475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B2B2B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B2B2B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B2B2B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B2B2B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B2B2B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B2B2B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B2B2B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B2B2B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What does Bicep look like?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B04A2ACA-FF87-8A20-6F8F-BFF8BF708272}"/>
              </a:ext>
            </a:extLst>
          </p:cNvPr>
          <p:cNvGrpSpPr/>
          <p:nvPr/>
        </p:nvGrpSpPr>
        <p:grpSpPr>
          <a:xfrm>
            <a:off x="9970651" y="6185410"/>
            <a:ext cx="2130724" cy="474323"/>
            <a:chOff x="9970651" y="6185410"/>
            <a:chExt cx="2130724" cy="474323"/>
          </a:xfrm>
        </p:grpSpPr>
        <p:sp>
          <p:nvSpPr>
            <p:cNvPr id="5" name="Subtitle 2">
              <a:extLst>
                <a:ext uri="{FF2B5EF4-FFF2-40B4-BE49-F238E27FC236}">
                  <a16:creationId xmlns:a16="http://schemas.microsoft.com/office/drawing/2014/main" id="{5258820E-D2AE-6AE9-CDB9-EAC898D35AC7}"/>
                </a:ext>
              </a:extLst>
            </p:cNvPr>
            <p:cNvSpPr txBox="1">
              <a:spLocks/>
            </p:cNvSpPr>
            <p:nvPr/>
          </p:nvSpPr>
          <p:spPr>
            <a:xfrm>
              <a:off x="10041147" y="6185410"/>
              <a:ext cx="2060228" cy="474323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 err="1">
                  <a:solidFill>
                    <a:schemeClr val="bg1">
                      <a:lumMod val="65000"/>
                    </a:schemeClr>
                  </a:solidFill>
                </a:rPr>
                <a:t>scottsauber</a:t>
              </a:r>
              <a:endParaRPr lang="en-US" dirty="0">
                <a:solidFill>
                  <a:schemeClr val="bg1">
                    <a:lumMod val="65000"/>
                  </a:schemeClr>
                </a:solidFill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5D74B29E-2554-BA60-5B26-1A510C83F47E}"/>
                </a:ext>
              </a:extLst>
            </p:cNvPr>
            <p:cNvSpPr/>
            <p:nvPr/>
          </p:nvSpPr>
          <p:spPr>
            <a:xfrm>
              <a:off x="9970651" y="6285411"/>
              <a:ext cx="347472" cy="274320"/>
            </a:xfrm>
            <a:prstGeom prst="rect">
              <a:avLst/>
            </a:prstGeom>
            <a:blipFill dpi="0" rotWithShape="1">
              <a:blip r:embed="rId3">
                <a:alphaModFix amt="50000"/>
              </a:blip>
              <a:srcRect/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7" name="Picture 6">
            <a:extLst>
              <a:ext uri="{FF2B5EF4-FFF2-40B4-BE49-F238E27FC236}">
                <a16:creationId xmlns:a16="http://schemas.microsoft.com/office/drawing/2014/main" id="{FD0FB2CA-D39C-929A-5D26-87F9E8772AB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4452" y="2021624"/>
            <a:ext cx="10349348" cy="2966459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31BBE171-42A9-076C-A8E3-863245F37D6D}"/>
              </a:ext>
            </a:extLst>
          </p:cNvPr>
          <p:cNvSpPr/>
          <p:nvPr/>
        </p:nvSpPr>
        <p:spPr>
          <a:xfrm>
            <a:off x="1067519" y="2061882"/>
            <a:ext cx="1312903" cy="385314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600BAC3-4FD8-29AD-B27E-4E33D20F153E}"/>
              </a:ext>
            </a:extLst>
          </p:cNvPr>
          <p:cNvSpPr/>
          <p:nvPr/>
        </p:nvSpPr>
        <p:spPr>
          <a:xfrm>
            <a:off x="2443489" y="2061882"/>
            <a:ext cx="2153359" cy="385314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6272CC4-967D-F750-65FF-123BB0E8E8AF}"/>
              </a:ext>
            </a:extLst>
          </p:cNvPr>
          <p:cNvSpPr/>
          <p:nvPr/>
        </p:nvSpPr>
        <p:spPr>
          <a:xfrm>
            <a:off x="4659915" y="2061882"/>
            <a:ext cx="5658208" cy="385314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61448E6-0D1E-1A89-616B-0A6E68D9D5F8}"/>
              </a:ext>
            </a:extLst>
          </p:cNvPr>
          <p:cNvSpPr/>
          <p:nvPr/>
        </p:nvSpPr>
        <p:spPr>
          <a:xfrm>
            <a:off x="1308772" y="2487453"/>
            <a:ext cx="3944058" cy="2144181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42866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2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408EF2-43AE-0071-AD18-B3F92CC7BB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0F4E0175-7095-9A01-C3EE-25546178EDA6}"/>
              </a:ext>
            </a:extLst>
          </p:cNvPr>
          <p:cNvGrpSpPr/>
          <p:nvPr/>
        </p:nvGrpSpPr>
        <p:grpSpPr>
          <a:xfrm>
            <a:off x="9970651" y="6185410"/>
            <a:ext cx="2130724" cy="474323"/>
            <a:chOff x="9970651" y="6185410"/>
            <a:chExt cx="2130724" cy="474323"/>
          </a:xfrm>
        </p:grpSpPr>
        <p:sp>
          <p:nvSpPr>
            <p:cNvPr id="5" name="Subtitle 2">
              <a:extLst>
                <a:ext uri="{FF2B5EF4-FFF2-40B4-BE49-F238E27FC236}">
                  <a16:creationId xmlns:a16="http://schemas.microsoft.com/office/drawing/2014/main" id="{1C203757-6C7C-4E3A-1104-AC584E034715}"/>
                </a:ext>
              </a:extLst>
            </p:cNvPr>
            <p:cNvSpPr txBox="1">
              <a:spLocks/>
            </p:cNvSpPr>
            <p:nvPr/>
          </p:nvSpPr>
          <p:spPr>
            <a:xfrm>
              <a:off x="10041147" y="6185410"/>
              <a:ext cx="2060228" cy="474323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 err="1">
                  <a:solidFill>
                    <a:schemeClr val="bg1">
                      <a:lumMod val="65000"/>
                    </a:schemeClr>
                  </a:solidFill>
                </a:rPr>
                <a:t>scottsauber</a:t>
              </a:r>
              <a:endParaRPr lang="en-US" dirty="0">
                <a:solidFill>
                  <a:schemeClr val="bg1">
                    <a:lumMod val="65000"/>
                  </a:schemeClr>
                </a:solidFill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8A39B85C-1512-ADDB-33D2-9ACBD2DD0CDC}"/>
                </a:ext>
              </a:extLst>
            </p:cNvPr>
            <p:cNvSpPr/>
            <p:nvPr/>
          </p:nvSpPr>
          <p:spPr>
            <a:xfrm>
              <a:off x="9970651" y="6285411"/>
              <a:ext cx="347472" cy="274320"/>
            </a:xfrm>
            <a:prstGeom prst="rect">
              <a:avLst/>
            </a:prstGeom>
            <a:blipFill dpi="0" rotWithShape="1">
              <a:blip r:embed="rId3">
                <a:alphaModFix amt="50000"/>
              </a:blip>
              <a:srcRect/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3" name="Picture 12">
            <a:extLst>
              <a:ext uri="{FF2B5EF4-FFF2-40B4-BE49-F238E27FC236}">
                <a16:creationId xmlns:a16="http://schemas.microsoft.com/office/drawing/2014/main" id="{5B3920F7-EF14-4A06-88E2-4A947198262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43024" y="142908"/>
            <a:ext cx="7369170" cy="2888284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8CEAC8E2-6EDF-C3EA-E338-8170B667917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00057" y="3068332"/>
            <a:ext cx="6666148" cy="3767822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BABBBFC5-D382-FCED-5FB6-65A554C646D7}"/>
              </a:ext>
            </a:extLst>
          </p:cNvPr>
          <p:cNvSpPr/>
          <p:nvPr/>
        </p:nvSpPr>
        <p:spPr>
          <a:xfrm>
            <a:off x="3089245" y="1102173"/>
            <a:ext cx="1955296" cy="247207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51D2F38-4852-A881-8919-C5838E21B251}"/>
              </a:ext>
            </a:extLst>
          </p:cNvPr>
          <p:cNvSpPr/>
          <p:nvPr/>
        </p:nvSpPr>
        <p:spPr>
          <a:xfrm>
            <a:off x="2141128" y="4987508"/>
            <a:ext cx="3681540" cy="325595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A068445-3FFB-87F3-DF47-6A8EEC0B9D29}"/>
              </a:ext>
            </a:extLst>
          </p:cNvPr>
          <p:cNvSpPr/>
          <p:nvPr/>
        </p:nvSpPr>
        <p:spPr>
          <a:xfrm>
            <a:off x="3089245" y="1389600"/>
            <a:ext cx="1746642" cy="247207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1E88641-B2B1-8678-3033-C5C4363B5F84}"/>
              </a:ext>
            </a:extLst>
          </p:cNvPr>
          <p:cNvSpPr/>
          <p:nvPr/>
        </p:nvSpPr>
        <p:spPr>
          <a:xfrm>
            <a:off x="2161344" y="5494470"/>
            <a:ext cx="3784595" cy="325595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7219E48-F28D-BADD-C8B3-689E3574A3B9}"/>
              </a:ext>
            </a:extLst>
          </p:cNvPr>
          <p:cNvSpPr/>
          <p:nvPr/>
        </p:nvSpPr>
        <p:spPr>
          <a:xfrm>
            <a:off x="3089245" y="1637984"/>
            <a:ext cx="1955297" cy="278287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DA56485E-C8EB-C107-FEDF-328ECCA60E10}"/>
              </a:ext>
            </a:extLst>
          </p:cNvPr>
          <p:cNvSpPr/>
          <p:nvPr/>
        </p:nvSpPr>
        <p:spPr>
          <a:xfrm>
            <a:off x="2161344" y="5896188"/>
            <a:ext cx="3166265" cy="325595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B0835595-0AE4-F1EF-D25E-C98E891E42A0}"/>
              </a:ext>
            </a:extLst>
          </p:cNvPr>
          <p:cNvSpPr/>
          <p:nvPr/>
        </p:nvSpPr>
        <p:spPr>
          <a:xfrm>
            <a:off x="3089245" y="1916271"/>
            <a:ext cx="1252096" cy="866537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02B056CB-9D86-D312-8A23-B9FAE8C6A5C2}"/>
              </a:ext>
            </a:extLst>
          </p:cNvPr>
          <p:cNvSpPr/>
          <p:nvPr/>
        </p:nvSpPr>
        <p:spPr>
          <a:xfrm>
            <a:off x="2161344" y="6355876"/>
            <a:ext cx="5284625" cy="325595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15664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  <p:par>
                                <p:cTn id="8" presetID="21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  <p:par>
                                <p:cTn id="16" presetID="21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8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23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  <p:par>
                                <p:cTn id="24" presetID="21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26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31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21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34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B04A2ACA-FF87-8A20-6F8F-BFF8BF708272}"/>
              </a:ext>
            </a:extLst>
          </p:cNvPr>
          <p:cNvGrpSpPr/>
          <p:nvPr/>
        </p:nvGrpSpPr>
        <p:grpSpPr>
          <a:xfrm>
            <a:off x="9970651" y="6185410"/>
            <a:ext cx="2130724" cy="474323"/>
            <a:chOff x="9970651" y="6185410"/>
            <a:chExt cx="2130724" cy="474323"/>
          </a:xfrm>
        </p:grpSpPr>
        <p:sp>
          <p:nvSpPr>
            <p:cNvPr id="5" name="Subtitle 2">
              <a:extLst>
                <a:ext uri="{FF2B5EF4-FFF2-40B4-BE49-F238E27FC236}">
                  <a16:creationId xmlns:a16="http://schemas.microsoft.com/office/drawing/2014/main" id="{5258820E-D2AE-6AE9-CDB9-EAC898D35AC7}"/>
                </a:ext>
              </a:extLst>
            </p:cNvPr>
            <p:cNvSpPr txBox="1">
              <a:spLocks/>
            </p:cNvSpPr>
            <p:nvPr/>
          </p:nvSpPr>
          <p:spPr>
            <a:xfrm>
              <a:off x="10041147" y="6185410"/>
              <a:ext cx="2060228" cy="474323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 err="1">
                  <a:solidFill>
                    <a:schemeClr val="bg1">
                      <a:lumMod val="65000"/>
                    </a:schemeClr>
                  </a:solidFill>
                </a:rPr>
                <a:t>scottsauber</a:t>
              </a:r>
              <a:endParaRPr lang="en-US" dirty="0">
                <a:solidFill>
                  <a:schemeClr val="bg1">
                    <a:lumMod val="65000"/>
                  </a:schemeClr>
                </a:solidFill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5D74B29E-2554-BA60-5B26-1A510C83F47E}"/>
                </a:ext>
              </a:extLst>
            </p:cNvPr>
            <p:cNvSpPr/>
            <p:nvPr/>
          </p:nvSpPr>
          <p:spPr>
            <a:xfrm>
              <a:off x="9970651" y="6285411"/>
              <a:ext cx="347472" cy="274320"/>
            </a:xfrm>
            <a:prstGeom prst="rect">
              <a:avLst/>
            </a:prstGeom>
            <a:blipFill dpi="0" rotWithShape="1">
              <a:blip r:embed="rId3">
                <a:alphaModFix amt="50000"/>
              </a:blip>
              <a:srcRect/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3" name="Picture 2">
            <a:extLst>
              <a:ext uri="{FF2B5EF4-FFF2-40B4-BE49-F238E27FC236}">
                <a16:creationId xmlns:a16="http://schemas.microsoft.com/office/drawing/2014/main" id="{F27BEF77-C983-40AD-5EC5-5AE48432C8D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1326" y="143129"/>
            <a:ext cx="10349348" cy="2966459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B886A544-C878-2CFF-7E99-5F4D397D659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1326" y="3380539"/>
            <a:ext cx="7544499" cy="2637604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CE329039-5A47-540E-0BEA-FCDF7CA8A5FC}"/>
              </a:ext>
            </a:extLst>
          </p:cNvPr>
          <p:cNvSpPr/>
          <p:nvPr/>
        </p:nvSpPr>
        <p:spPr>
          <a:xfrm>
            <a:off x="2309911" y="183386"/>
            <a:ext cx="2172637" cy="385314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8EB5529-D186-25AF-4154-9906C18AA7F2}"/>
              </a:ext>
            </a:extLst>
          </p:cNvPr>
          <p:cNvSpPr/>
          <p:nvPr/>
        </p:nvSpPr>
        <p:spPr>
          <a:xfrm>
            <a:off x="3288915" y="4699341"/>
            <a:ext cx="2436024" cy="385314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1523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  <p:par>
                                <p:cTn id="8" presetID="21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B04A2ACA-FF87-8A20-6F8F-BFF8BF708272}"/>
              </a:ext>
            </a:extLst>
          </p:cNvPr>
          <p:cNvGrpSpPr/>
          <p:nvPr/>
        </p:nvGrpSpPr>
        <p:grpSpPr>
          <a:xfrm>
            <a:off x="9970651" y="6185410"/>
            <a:ext cx="2130724" cy="474323"/>
            <a:chOff x="9970651" y="6185410"/>
            <a:chExt cx="2130724" cy="474323"/>
          </a:xfrm>
        </p:grpSpPr>
        <p:sp>
          <p:nvSpPr>
            <p:cNvPr id="5" name="Subtitle 2">
              <a:extLst>
                <a:ext uri="{FF2B5EF4-FFF2-40B4-BE49-F238E27FC236}">
                  <a16:creationId xmlns:a16="http://schemas.microsoft.com/office/drawing/2014/main" id="{5258820E-D2AE-6AE9-CDB9-EAC898D35AC7}"/>
                </a:ext>
              </a:extLst>
            </p:cNvPr>
            <p:cNvSpPr txBox="1">
              <a:spLocks/>
            </p:cNvSpPr>
            <p:nvPr/>
          </p:nvSpPr>
          <p:spPr>
            <a:xfrm>
              <a:off x="10041147" y="6185410"/>
              <a:ext cx="2060228" cy="474323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 err="1">
                  <a:solidFill>
                    <a:schemeClr val="bg1">
                      <a:lumMod val="65000"/>
                    </a:schemeClr>
                  </a:solidFill>
                </a:rPr>
                <a:t>scottsauber</a:t>
              </a:r>
              <a:endParaRPr lang="en-US" dirty="0">
                <a:solidFill>
                  <a:schemeClr val="bg1">
                    <a:lumMod val="65000"/>
                  </a:schemeClr>
                </a:solidFill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5D74B29E-2554-BA60-5B26-1A510C83F47E}"/>
                </a:ext>
              </a:extLst>
            </p:cNvPr>
            <p:cNvSpPr/>
            <p:nvPr/>
          </p:nvSpPr>
          <p:spPr>
            <a:xfrm>
              <a:off x="9970651" y="6285411"/>
              <a:ext cx="347472" cy="274320"/>
            </a:xfrm>
            <a:prstGeom prst="rect">
              <a:avLst/>
            </a:prstGeom>
            <a:blipFill dpi="0" rotWithShape="1">
              <a:blip r:embed="rId3">
                <a:alphaModFix amt="50000"/>
              </a:blip>
              <a:srcRect/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7" name="Picture 6">
            <a:extLst>
              <a:ext uri="{FF2B5EF4-FFF2-40B4-BE49-F238E27FC236}">
                <a16:creationId xmlns:a16="http://schemas.microsoft.com/office/drawing/2014/main" id="{D3C0C97C-A766-F5F8-73D0-2A5819D496F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94827" y="888504"/>
            <a:ext cx="7229528" cy="3610001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CE329039-5A47-540E-0BEA-FCDF7CA8A5FC}"/>
              </a:ext>
            </a:extLst>
          </p:cNvPr>
          <p:cNvSpPr/>
          <p:nvPr/>
        </p:nvSpPr>
        <p:spPr>
          <a:xfrm>
            <a:off x="1971978" y="927600"/>
            <a:ext cx="2813710" cy="1174525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8EB5529-D186-25AF-4154-9906C18AA7F2}"/>
              </a:ext>
            </a:extLst>
          </p:cNvPr>
          <p:cNvSpPr/>
          <p:nvPr/>
        </p:nvSpPr>
        <p:spPr>
          <a:xfrm>
            <a:off x="2195610" y="2510786"/>
            <a:ext cx="4041193" cy="580283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72914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  <p:par>
                                <p:cTn id="8" presetID="21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B04A2ACA-FF87-8A20-6F8F-BFF8BF708272}"/>
              </a:ext>
            </a:extLst>
          </p:cNvPr>
          <p:cNvGrpSpPr/>
          <p:nvPr/>
        </p:nvGrpSpPr>
        <p:grpSpPr>
          <a:xfrm>
            <a:off x="9970651" y="6185410"/>
            <a:ext cx="2130724" cy="474323"/>
            <a:chOff x="9970651" y="6185410"/>
            <a:chExt cx="2130724" cy="474323"/>
          </a:xfrm>
        </p:grpSpPr>
        <p:sp>
          <p:nvSpPr>
            <p:cNvPr id="5" name="Subtitle 2">
              <a:extLst>
                <a:ext uri="{FF2B5EF4-FFF2-40B4-BE49-F238E27FC236}">
                  <a16:creationId xmlns:a16="http://schemas.microsoft.com/office/drawing/2014/main" id="{5258820E-D2AE-6AE9-CDB9-EAC898D35AC7}"/>
                </a:ext>
              </a:extLst>
            </p:cNvPr>
            <p:cNvSpPr txBox="1">
              <a:spLocks/>
            </p:cNvSpPr>
            <p:nvPr/>
          </p:nvSpPr>
          <p:spPr>
            <a:xfrm>
              <a:off x="10041147" y="6185410"/>
              <a:ext cx="2060228" cy="474323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 err="1">
                  <a:solidFill>
                    <a:schemeClr val="bg1">
                      <a:lumMod val="65000"/>
                    </a:schemeClr>
                  </a:solidFill>
                </a:rPr>
                <a:t>scottsauber</a:t>
              </a:r>
              <a:endParaRPr lang="en-US" dirty="0">
                <a:solidFill>
                  <a:schemeClr val="bg1">
                    <a:lumMod val="65000"/>
                  </a:schemeClr>
                </a:solidFill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5D74B29E-2554-BA60-5B26-1A510C83F47E}"/>
                </a:ext>
              </a:extLst>
            </p:cNvPr>
            <p:cNvSpPr/>
            <p:nvPr/>
          </p:nvSpPr>
          <p:spPr>
            <a:xfrm>
              <a:off x="9970651" y="6285411"/>
              <a:ext cx="347472" cy="274320"/>
            </a:xfrm>
            <a:prstGeom prst="rect">
              <a:avLst/>
            </a:prstGeom>
            <a:blipFill dpi="0" rotWithShape="1">
              <a:blip r:embed="rId3">
                <a:alphaModFix amt="50000"/>
              </a:blip>
              <a:srcRect/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3" name="Picture 2">
            <a:extLst>
              <a:ext uri="{FF2B5EF4-FFF2-40B4-BE49-F238E27FC236}">
                <a16:creationId xmlns:a16="http://schemas.microsoft.com/office/drawing/2014/main" id="{8FDDAFF8-6082-7F77-6F43-CE018E0C839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87025" y="2257213"/>
            <a:ext cx="6710842" cy="2786895"/>
          </a:xfrm>
          <a:prstGeom prst="rect">
            <a:avLst/>
          </a:prstGeom>
        </p:spPr>
      </p:pic>
      <p:sp>
        <p:nvSpPr>
          <p:cNvPr id="8" name="Title 1">
            <a:extLst>
              <a:ext uri="{FF2B5EF4-FFF2-40B4-BE49-F238E27FC236}">
                <a16:creationId xmlns:a16="http://schemas.microsoft.com/office/drawing/2014/main" id="{FAC2C370-5E5B-CA56-0417-4E2EBF5A89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 err="1">
                <a:solidFill>
                  <a:schemeClr val="bg1">
                    <a:lumMod val="65000"/>
                  </a:schemeClr>
                </a:solidFill>
              </a:rPr>
              <a:t>dev.biccepparam</a:t>
            </a:r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 file</a:t>
            </a:r>
          </a:p>
        </p:txBody>
      </p:sp>
    </p:spTree>
    <p:extLst>
      <p:ext uri="{BB962C8B-B14F-4D97-AF65-F5344CB8AC3E}">
        <p14:creationId xmlns:p14="http://schemas.microsoft.com/office/powerpoint/2010/main" val="172340750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B04A2ACA-FF87-8A20-6F8F-BFF8BF708272}"/>
              </a:ext>
            </a:extLst>
          </p:cNvPr>
          <p:cNvGrpSpPr/>
          <p:nvPr/>
        </p:nvGrpSpPr>
        <p:grpSpPr>
          <a:xfrm>
            <a:off x="9970651" y="6185410"/>
            <a:ext cx="2130724" cy="474323"/>
            <a:chOff x="9970651" y="6185410"/>
            <a:chExt cx="2130724" cy="474323"/>
          </a:xfrm>
        </p:grpSpPr>
        <p:sp>
          <p:nvSpPr>
            <p:cNvPr id="5" name="Subtitle 2">
              <a:extLst>
                <a:ext uri="{FF2B5EF4-FFF2-40B4-BE49-F238E27FC236}">
                  <a16:creationId xmlns:a16="http://schemas.microsoft.com/office/drawing/2014/main" id="{5258820E-D2AE-6AE9-CDB9-EAC898D35AC7}"/>
                </a:ext>
              </a:extLst>
            </p:cNvPr>
            <p:cNvSpPr txBox="1">
              <a:spLocks/>
            </p:cNvSpPr>
            <p:nvPr/>
          </p:nvSpPr>
          <p:spPr>
            <a:xfrm>
              <a:off x="10041147" y="6185410"/>
              <a:ext cx="2060228" cy="474323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 err="1">
                  <a:solidFill>
                    <a:schemeClr val="bg1">
                      <a:lumMod val="65000"/>
                    </a:schemeClr>
                  </a:solidFill>
                </a:rPr>
                <a:t>scottsauber</a:t>
              </a:r>
              <a:endParaRPr lang="en-US" dirty="0">
                <a:solidFill>
                  <a:schemeClr val="bg1">
                    <a:lumMod val="65000"/>
                  </a:schemeClr>
                </a:solidFill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5D74B29E-2554-BA60-5B26-1A510C83F47E}"/>
                </a:ext>
              </a:extLst>
            </p:cNvPr>
            <p:cNvSpPr/>
            <p:nvPr/>
          </p:nvSpPr>
          <p:spPr>
            <a:xfrm>
              <a:off x="9970651" y="6285411"/>
              <a:ext cx="347472" cy="274320"/>
            </a:xfrm>
            <a:prstGeom prst="rect">
              <a:avLst/>
            </a:prstGeom>
            <a:blipFill dpi="0" rotWithShape="1">
              <a:blip r:embed="rId3">
                <a:alphaModFix amt="50000"/>
              </a:blip>
              <a:srcRect/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3" name="Picture 2">
            <a:extLst>
              <a:ext uri="{FF2B5EF4-FFF2-40B4-BE49-F238E27FC236}">
                <a16:creationId xmlns:a16="http://schemas.microsoft.com/office/drawing/2014/main" id="{9FA458A7-631B-04E2-1E9E-C45CB995405E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t="23647"/>
          <a:stretch/>
        </p:blipFill>
        <p:spPr>
          <a:xfrm>
            <a:off x="1495385" y="2334701"/>
            <a:ext cx="8985175" cy="2479813"/>
          </a:xfrm>
          <a:prstGeom prst="rect">
            <a:avLst/>
          </a:prstGeom>
        </p:spPr>
      </p:pic>
      <p:sp>
        <p:nvSpPr>
          <p:cNvPr id="8" name="Title 1">
            <a:extLst>
              <a:ext uri="{FF2B5EF4-FFF2-40B4-BE49-F238E27FC236}">
                <a16:creationId xmlns:a16="http://schemas.microsoft.com/office/drawing/2014/main" id="{BF4B8CDE-291C-17BA-2138-89952B6A8F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But how do I deploy it?</a:t>
            </a:r>
          </a:p>
        </p:txBody>
      </p:sp>
    </p:spTree>
    <p:extLst>
      <p:ext uri="{BB962C8B-B14F-4D97-AF65-F5344CB8AC3E}">
        <p14:creationId xmlns:p14="http://schemas.microsoft.com/office/powerpoint/2010/main" val="54809370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Key Concepts – Quiz time!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749836"/>
          </a:xfrm>
        </p:spPr>
        <p:txBody>
          <a:bodyPr>
            <a:normAutofit/>
          </a:bodyPr>
          <a:lstStyle/>
          <a:p>
            <a:r>
              <a:rPr lang="en-US" dirty="0"/>
              <a:t>Resources</a:t>
            </a:r>
          </a:p>
          <a:p>
            <a:r>
              <a:rPr lang="en-US" dirty="0"/>
              <a:t>Modules</a:t>
            </a:r>
          </a:p>
          <a:p>
            <a:r>
              <a:rPr lang="en-US" dirty="0"/>
              <a:t>Parameters</a:t>
            </a:r>
          </a:p>
          <a:p>
            <a:r>
              <a:rPr lang="en-US" dirty="0"/>
              <a:t>.</a:t>
            </a:r>
            <a:r>
              <a:rPr lang="en-US" dirty="0" err="1"/>
              <a:t>bicepparam</a:t>
            </a:r>
            <a:endParaRPr lang="en-US" dirty="0"/>
          </a:p>
          <a:p>
            <a:r>
              <a:rPr lang="en-US" dirty="0"/>
              <a:t>Outputs</a:t>
            </a:r>
          </a:p>
          <a:p>
            <a:r>
              <a:rPr lang="en-US" dirty="0"/>
              <a:t>--</a:t>
            </a:r>
            <a:r>
              <a:rPr lang="en-US" dirty="0" err="1"/>
              <a:t>whatif</a:t>
            </a:r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B04A2ACA-FF87-8A20-6F8F-BFF8BF708272}"/>
              </a:ext>
            </a:extLst>
          </p:cNvPr>
          <p:cNvGrpSpPr/>
          <p:nvPr/>
        </p:nvGrpSpPr>
        <p:grpSpPr>
          <a:xfrm>
            <a:off x="9970651" y="6185410"/>
            <a:ext cx="2130724" cy="474323"/>
            <a:chOff x="9970651" y="6185410"/>
            <a:chExt cx="2130724" cy="474323"/>
          </a:xfrm>
        </p:grpSpPr>
        <p:sp>
          <p:nvSpPr>
            <p:cNvPr id="5" name="Subtitle 2">
              <a:extLst>
                <a:ext uri="{FF2B5EF4-FFF2-40B4-BE49-F238E27FC236}">
                  <a16:creationId xmlns:a16="http://schemas.microsoft.com/office/drawing/2014/main" id="{5258820E-D2AE-6AE9-CDB9-EAC898D35AC7}"/>
                </a:ext>
              </a:extLst>
            </p:cNvPr>
            <p:cNvSpPr txBox="1">
              <a:spLocks/>
            </p:cNvSpPr>
            <p:nvPr/>
          </p:nvSpPr>
          <p:spPr>
            <a:xfrm>
              <a:off x="10041147" y="6185410"/>
              <a:ext cx="2060228" cy="474323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 err="1">
                  <a:solidFill>
                    <a:schemeClr val="bg1">
                      <a:lumMod val="65000"/>
                    </a:schemeClr>
                  </a:solidFill>
                </a:rPr>
                <a:t>scottsauber</a:t>
              </a:r>
              <a:endParaRPr lang="en-US" dirty="0">
                <a:solidFill>
                  <a:schemeClr val="bg1">
                    <a:lumMod val="65000"/>
                  </a:schemeClr>
                </a:solidFill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5D74B29E-2554-BA60-5B26-1A510C83F47E}"/>
                </a:ext>
              </a:extLst>
            </p:cNvPr>
            <p:cNvSpPr/>
            <p:nvPr/>
          </p:nvSpPr>
          <p:spPr>
            <a:xfrm>
              <a:off x="9970651" y="6285411"/>
              <a:ext cx="347472" cy="274320"/>
            </a:xfrm>
            <a:prstGeom prst="rect">
              <a:avLst/>
            </a:prstGeom>
            <a:blipFill dpi="0" rotWithShape="1">
              <a:blip r:embed="rId3">
                <a:alphaModFix amt="50000"/>
              </a:blip>
              <a:srcRect/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41292583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B2B2B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B2B2B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B2B2B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B2B2B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B2B2B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B2B2B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Benefits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749836"/>
          </a:xfrm>
        </p:spPr>
        <p:txBody>
          <a:bodyPr>
            <a:normAutofit/>
          </a:bodyPr>
          <a:lstStyle/>
          <a:p>
            <a:r>
              <a:rPr lang="en-US" dirty="0"/>
              <a:t>No manual work of configuring in the portal (and repeating for each env)</a:t>
            </a:r>
          </a:p>
          <a:p>
            <a:r>
              <a:rPr lang="en-US" dirty="0"/>
              <a:t>Eliminate configuration drift</a:t>
            </a:r>
          </a:p>
          <a:p>
            <a:r>
              <a:rPr lang="en-US" dirty="0"/>
              <a:t>Traceability of who, did what, and when</a:t>
            </a:r>
          </a:p>
          <a:p>
            <a:r>
              <a:rPr lang="en-US" dirty="0"/>
              <a:t>Give Contributor access to the pipeline – not to individuals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B04A2ACA-FF87-8A20-6F8F-BFF8BF708272}"/>
              </a:ext>
            </a:extLst>
          </p:cNvPr>
          <p:cNvGrpSpPr/>
          <p:nvPr/>
        </p:nvGrpSpPr>
        <p:grpSpPr>
          <a:xfrm>
            <a:off x="9970651" y="6185410"/>
            <a:ext cx="2130724" cy="474323"/>
            <a:chOff x="9970651" y="6185410"/>
            <a:chExt cx="2130724" cy="474323"/>
          </a:xfrm>
        </p:grpSpPr>
        <p:sp>
          <p:nvSpPr>
            <p:cNvPr id="5" name="Subtitle 2">
              <a:extLst>
                <a:ext uri="{FF2B5EF4-FFF2-40B4-BE49-F238E27FC236}">
                  <a16:creationId xmlns:a16="http://schemas.microsoft.com/office/drawing/2014/main" id="{5258820E-D2AE-6AE9-CDB9-EAC898D35AC7}"/>
                </a:ext>
              </a:extLst>
            </p:cNvPr>
            <p:cNvSpPr txBox="1">
              <a:spLocks/>
            </p:cNvSpPr>
            <p:nvPr/>
          </p:nvSpPr>
          <p:spPr>
            <a:xfrm>
              <a:off x="10041147" y="6185410"/>
              <a:ext cx="2060228" cy="474323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 err="1">
                  <a:solidFill>
                    <a:schemeClr val="bg1">
                      <a:lumMod val="65000"/>
                    </a:schemeClr>
                  </a:solidFill>
                </a:rPr>
                <a:t>scottsauber</a:t>
              </a:r>
              <a:endParaRPr lang="en-US" dirty="0">
                <a:solidFill>
                  <a:schemeClr val="bg1">
                    <a:lumMod val="65000"/>
                  </a:schemeClr>
                </a:solidFill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5D74B29E-2554-BA60-5B26-1A510C83F47E}"/>
                </a:ext>
              </a:extLst>
            </p:cNvPr>
            <p:cNvSpPr/>
            <p:nvPr/>
          </p:nvSpPr>
          <p:spPr>
            <a:xfrm>
              <a:off x="9970651" y="6285411"/>
              <a:ext cx="347472" cy="274320"/>
            </a:xfrm>
            <a:prstGeom prst="rect">
              <a:avLst/>
            </a:prstGeom>
            <a:blipFill dpi="0" rotWithShape="1">
              <a:blip r:embed="rId3">
                <a:alphaModFix amt="50000"/>
              </a:blip>
              <a:srcRect/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8680266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B2B2B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B2B2B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B2B2B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B2B2B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Additional Resources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749836"/>
          </a:xfrm>
        </p:spPr>
        <p:txBody>
          <a:bodyPr>
            <a:normAutofit/>
          </a:bodyPr>
          <a:lstStyle/>
          <a:p>
            <a:r>
              <a:rPr lang="en-US" dirty="0"/>
              <a:t>Documentation for various Bicep resources:</a:t>
            </a:r>
            <a:endParaRPr lang="en-US" dirty="0">
              <a:hlinkClick r:id="rId3"/>
            </a:endParaRPr>
          </a:p>
          <a:p>
            <a:pPr lvl="1"/>
            <a:r>
              <a:rPr lang="en-US" dirty="0">
                <a:hlinkClick r:id="rId3"/>
              </a:rPr>
              <a:t>https://learn.microsoft.com/en-us/azure/templates/microsoft.web/sites?pivots=deployment-language-bicep</a:t>
            </a:r>
            <a:r>
              <a:rPr lang="en-US" dirty="0"/>
              <a:t> 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B04A2ACA-FF87-8A20-6F8F-BFF8BF708272}"/>
              </a:ext>
            </a:extLst>
          </p:cNvPr>
          <p:cNvGrpSpPr/>
          <p:nvPr/>
        </p:nvGrpSpPr>
        <p:grpSpPr>
          <a:xfrm>
            <a:off x="9970651" y="6185410"/>
            <a:ext cx="2130724" cy="474323"/>
            <a:chOff x="9970651" y="6185410"/>
            <a:chExt cx="2130724" cy="474323"/>
          </a:xfrm>
        </p:grpSpPr>
        <p:sp>
          <p:nvSpPr>
            <p:cNvPr id="5" name="Subtitle 2">
              <a:extLst>
                <a:ext uri="{FF2B5EF4-FFF2-40B4-BE49-F238E27FC236}">
                  <a16:creationId xmlns:a16="http://schemas.microsoft.com/office/drawing/2014/main" id="{5258820E-D2AE-6AE9-CDB9-EAC898D35AC7}"/>
                </a:ext>
              </a:extLst>
            </p:cNvPr>
            <p:cNvSpPr txBox="1">
              <a:spLocks/>
            </p:cNvSpPr>
            <p:nvPr/>
          </p:nvSpPr>
          <p:spPr>
            <a:xfrm>
              <a:off x="10041147" y="6185410"/>
              <a:ext cx="2060228" cy="474323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 err="1">
                  <a:solidFill>
                    <a:schemeClr val="bg1">
                      <a:lumMod val="65000"/>
                    </a:schemeClr>
                  </a:solidFill>
                </a:rPr>
                <a:t>scottsauber</a:t>
              </a:r>
              <a:endParaRPr lang="en-US" dirty="0">
                <a:solidFill>
                  <a:schemeClr val="bg1">
                    <a:lumMod val="65000"/>
                  </a:schemeClr>
                </a:solidFill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5D74B29E-2554-BA60-5B26-1A510C83F47E}"/>
                </a:ext>
              </a:extLst>
            </p:cNvPr>
            <p:cNvSpPr/>
            <p:nvPr/>
          </p:nvSpPr>
          <p:spPr>
            <a:xfrm>
              <a:off x="9970651" y="6285411"/>
              <a:ext cx="347472" cy="274320"/>
            </a:xfrm>
            <a:prstGeom prst="rect">
              <a:avLst/>
            </a:prstGeom>
            <a:blipFill dpi="0" rotWithShape="1">
              <a:blip r:embed="rId4">
                <a:alphaModFix amt="50000"/>
              </a:blip>
              <a:srcRect/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745654857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69B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FE7171-AFDD-4862-9A69-284665CD33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326910"/>
            <a:ext cx="12192000" cy="2747938"/>
          </a:xfrm>
        </p:spPr>
        <p:txBody>
          <a:bodyPr>
            <a:normAutofit/>
          </a:bodyPr>
          <a:lstStyle/>
          <a:p>
            <a:r>
              <a:rPr lang="en-US" sz="9600" b="1" dirty="0">
                <a:solidFill>
                  <a:schemeClr val="bg1"/>
                </a:solidFill>
                <a:latin typeface="+mn-lt"/>
                <a:ea typeface="Open Sans" panose="020B0606030504020204" pitchFamily="34" charset="0"/>
                <a:cs typeface="Open Sans" panose="020B0606030504020204" pitchFamily="34" charset="0"/>
              </a:rPr>
              <a:t>Live Demo</a:t>
            </a:r>
          </a:p>
        </p:txBody>
      </p:sp>
      <p:pic>
        <p:nvPicPr>
          <p:cNvPr id="2050" name="Picture 2" descr="Bicep - Visual Studio Marketplace">
            <a:extLst>
              <a:ext uri="{FF2B5EF4-FFF2-40B4-BE49-F238E27FC236}">
                <a16:creationId xmlns:a16="http://schemas.microsoft.com/office/drawing/2014/main" id="{8C2B5FBC-24AF-C673-DDC3-7A8EF167EF5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63716" y="3349258"/>
            <a:ext cx="3054627" cy="30546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58797757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69B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8BE0A56-2203-4F61-A18A-1965EE7C69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03D86F-AA7F-F9B8-258B-C4343ABF3D4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326910"/>
            <a:ext cx="12192000" cy="2747938"/>
          </a:xfrm>
        </p:spPr>
        <p:txBody>
          <a:bodyPr>
            <a:normAutofit/>
          </a:bodyPr>
          <a:lstStyle/>
          <a:p>
            <a:r>
              <a:rPr lang="en-US" sz="9600" b="1" dirty="0">
                <a:solidFill>
                  <a:schemeClr val="bg1"/>
                </a:solidFill>
                <a:latin typeface="+mn-lt"/>
                <a:ea typeface="Open Sans" panose="020B0606030504020204" pitchFamily="34" charset="0"/>
                <a:cs typeface="Open Sans" panose="020B0606030504020204" pitchFamily="34" charset="0"/>
              </a:rPr>
              <a:t>Questions?</a:t>
            </a:r>
          </a:p>
        </p:txBody>
      </p:sp>
      <p:pic>
        <p:nvPicPr>
          <p:cNvPr id="2050" name="Picture 2" descr="Bicep - Visual Studio Marketplace">
            <a:extLst>
              <a:ext uri="{FF2B5EF4-FFF2-40B4-BE49-F238E27FC236}">
                <a16:creationId xmlns:a16="http://schemas.microsoft.com/office/drawing/2014/main" id="{28CE64C6-676D-8AF3-D94A-E52B4222101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63716" y="3349258"/>
            <a:ext cx="3054627" cy="30546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58207880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69B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5C7CCA0-23A3-916A-E8F6-9B7930E502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145594-E976-EDA4-E0AB-C508CCF75F8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326910"/>
            <a:ext cx="12192000" cy="2747938"/>
          </a:xfrm>
        </p:spPr>
        <p:txBody>
          <a:bodyPr>
            <a:normAutofit/>
          </a:bodyPr>
          <a:lstStyle/>
          <a:p>
            <a:r>
              <a:rPr lang="en-US" sz="9600" b="1" dirty="0">
                <a:solidFill>
                  <a:schemeClr val="bg1"/>
                </a:solidFill>
                <a:latin typeface="+mn-lt"/>
                <a:ea typeface="Open Sans" panose="020B0606030504020204" pitchFamily="34" charset="0"/>
                <a:cs typeface="Open Sans" panose="020B0606030504020204" pitchFamily="34" charset="0"/>
              </a:rPr>
              <a:t>Break then Hands On</a:t>
            </a:r>
          </a:p>
        </p:txBody>
      </p:sp>
      <p:pic>
        <p:nvPicPr>
          <p:cNvPr id="2050" name="Picture 2" descr="Bicep - Visual Studio Marketplace">
            <a:extLst>
              <a:ext uri="{FF2B5EF4-FFF2-40B4-BE49-F238E27FC236}">
                <a16:creationId xmlns:a16="http://schemas.microsoft.com/office/drawing/2014/main" id="{A970A80F-7C18-D9B3-1158-33B6F05E4F5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63716" y="3349258"/>
            <a:ext cx="3054627" cy="30546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58857738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69B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FE7171-AFDD-4862-9A69-284665CD33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326910"/>
            <a:ext cx="12192000" cy="2747938"/>
          </a:xfrm>
        </p:spPr>
        <p:txBody>
          <a:bodyPr>
            <a:normAutofit fontScale="90000"/>
          </a:bodyPr>
          <a:lstStyle/>
          <a:p>
            <a:r>
              <a:rPr lang="en-US" sz="9600" b="1" dirty="0">
                <a:solidFill>
                  <a:schemeClr val="bg1"/>
                </a:solidFill>
                <a:latin typeface="+mn-lt"/>
                <a:ea typeface="Open Sans" panose="020B0606030504020204" pitchFamily="34" charset="0"/>
                <a:cs typeface="Open Sans" panose="020B0606030504020204" pitchFamily="34" charset="0"/>
              </a:rPr>
              <a:t>Hands On for 25 mins</a:t>
            </a:r>
            <a:br>
              <a:rPr lang="en-US" sz="9600" b="1" dirty="0">
                <a:solidFill>
                  <a:schemeClr val="bg1"/>
                </a:solidFill>
                <a:latin typeface="+mn-lt"/>
                <a:ea typeface="Open Sans" panose="020B0606030504020204" pitchFamily="34" charset="0"/>
                <a:cs typeface="Open Sans" panose="020B0606030504020204" pitchFamily="34" charset="0"/>
              </a:rPr>
            </a:br>
            <a:r>
              <a:rPr lang="en-US" sz="4000" b="1" dirty="0">
                <a:solidFill>
                  <a:schemeClr val="bg1"/>
                </a:solidFill>
                <a:latin typeface="+mn-lt"/>
                <a:ea typeface="Open Sans" panose="020B0606030504020204" pitchFamily="34" charset="0"/>
                <a:cs typeface="Open Sans" panose="020B0606030504020204" pitchFamily="34" charset="0"/>
              </a:rPr>
              <a:t>Module 4:</a:t>
            </a:r>
            <a:br>
              <a:rPr lang="en-US" sz="4000" b="1" dirty="0">
                <a:solidFill>
                  <a:schemeClr val="bg1"/>
                </a:solidFill>
                <a:latin typeface="+mn-lt"/>
                <a:ea typeface="Open Sans" panose="020B0606030504020204" pitchFamily="34" charset="0"/>
                <a:cs typeface="Open Sans" panose="020B0606030504020204" pitchFamily="34" charset="0"/>
              </a:rPr>
            </a:br>
            <a:r>
              <a:rPr lang="en-US" sz="3300" b="1" dirty="0">
                <a:solidFill>
                  <a:schemeClr val="bg1"/>
                </a:solidFill>
                <a:latin typeface="+mn-lt"/>
                <a:ea typeface="Open Sans" panose="020B0606030504020204" pitchFamily="34" charset="0"/>
                <a:cs typeface="Open Sans" panose="020B0606030504020204" pitchFamily="34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https://github.com/scottsauber/workshop-dotnet-azure-github-bicep</a:t>
            </a:r>
            <a:r>
              <a:rPr lang="en-US" sz="3300" b="1" dirty="0">
                <a:solidFill>
                  <a:schemeClr val="bg1"/>
                </a:solidFill>
                <a:latin typeface="+mn-lt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</a:p>
        </p:txBody>
      </p:sp>
      <p:pic>
        <p:nvPicPr>
          <p:cNvPr id="2050" name="Picture 2" descr="Bicep - Visual Studio Marketplace">
            <a:extLst>
              <a:ext uri="{FF2B5EF4-FFF2-40B4-BE49-F238E27FC236}">
                <a16:creationId xmlns:a16="http://schemas.microsoft.com/office/drawing/2014/main" id="{8C2B5FBC-24AF-C673-DDC3-7A8EF167EF5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63716" y="3349258"/>
            <a:ext cx="3054627" cy="30546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02412494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69B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3A8684A-15D4-F7D9-E540-A257598197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5CE6CB-5FBD-C378-CF53-C1B5613DB3A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326910"/>
            <a:ext cx="12192000" cy="2747938"/>
          </a:xfrm>
        </p:spPr>
        <p:txBody>
          <a:bodyPr>
            <a:normAutofit/>
          </a:bodyPr>
          <a:lstStyle/>
          <a:p>
            <a:r>
              <a:rPr lang="en-US" sz="9600" b="1" dirty="0">
                <a:solidFill>
                  <a:schemeClr val="bg1"/>
                </a:solidFill>
                <a:latin typeface="+mn-lt"/>
                <a:ea typeface="Open Sans" panose="020B0606030504020204" pitchFamily="34" charset="0"/>
                <a:cs typeface="Open Sans" panose="020B0606030504020204" pitchFamily="34" charset="0"/>
              </a:rPr>
              <a:t>CI/CD Pipelines</a:t>
            </a:r>
          </a:p>
        </p:txBody>
      </p:sp>
      <p:pic>
        <p:nvPicPr>
          <p:cNvPr id="4098" name="Picture 2" descr="What is GitHub? — Pythia Foundations">
            <a:extLst>
              <a:ext uri="{FF2B5EF4-FFF2-40B4-BE49-F238E27FC236}">
                <a16:creationId xmlns:a16="http://schemas.microsoft.com/office/drawing/2014/main" id="{182FE219-5575-5835-C1EC-52C4E567DCB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06373" y="3259442"/>
            <a:ext cx="5579253" cy="31383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02056177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Continuous Integration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749836"/>
          </a:xfrm>
        </p:spPr>
        <p:txBody>
          <a:bodyPr>
            <a:normAutofit/>
          </a:bodyPr>
          <a:lstStyle/>
          <a:p>
            <a:r>
              <a:rPr lang="en-US" dirty="0"/>
              <a:t>Automated verification of your application that generates artifacts</a:t>
            </a:r>
          </a:p>
          <a:p>
            <a:r>
              <a:rPr lang="en-US" dirty="0"/>
              <a:t>Compiles the app</a:t>
            </a:r>
          </a:p>
          <a:p>
            <a:r>
              <a:rPr lang="en-US" dirty="0"/>
              <a:t>Runs the tests</a:t>
            </a:r>
          </a:p>
          <a:p>
            <a:r>
              <a:rPr lang="en-US" dirty="0"/>
              <a:t>Independent witness - eliminates “works on my machine”</a:t>
            </a:r>
          </a:p>
          <a:p>
            <a:pPr marL="0" indent="0">
              <a:buNone/>
            </a:pPr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B04A2ACA-FF87-8A20-6F8F-BFF8BF708272}"/>
              </a:ext>
            </a:extLst>
          </p:cNvPr>
          <p:cNvGrpSpPr/>
          <p:nvPr/>
        </p:nvGrpSpPr>
        <p:grpSpPr>
          <a:xfrm>
            <a:off x="9970651" y="6185410"/>
            <a:ext cx="2130724" cy="474323"/>
            <a:chOff x="9970651" y="6185410"/>
            <a:chExt cx="2130724" cy="474323"/>
          </a:xfrm>
        </p:grpSpPr>
        <p:sp>
          <p:nvSpPr>
            <p:cNvPr id="5" name="Subtitle 2">
              <a:extLst>
                <a:ext uri="{FF2B5EF4-FFF2-40B4-BE49-F238E27FC236}">
                  <a16:creationId xmlns:a16="http://schemas.microsoft.com/office/drawing/2014/main" id="{5258820E-D2AE-6AE9-CDB9-EAC898D35AC7}"/>
                </a:ext>
              </a:extLst>
            </p:cNvPr>
            <p:cNvSpPr txBox="1">
              <a:spLocks/>
            </p:cNvSpPr>
            <p:nvPr/>
          </p:nvSpPr>
          <p:spPr>
            <a:xfrm>
              <a:off x="10041147" y="6185410"/>
              <a:ext cx="2060228" cy="474323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 err="1">
                  <a:solidFill>
                    <a:schemeClr val="bg1">
                      <a:lumMod val="65000"/>
                    </a:schemeClr>
                  </a:solidFill>
                </a:rPr>
                <a:t>scottsauber</a:t>
              </a:r>
              <a:endParaRPr lang="en-US" dirty="0">
                <a:solidFill>
                  <a:schemeClr val="bg1">
                    <a:lumMod val="65000"/>
                  </a:schemeClr>
                </a:solidFill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5D74B29E-2554-BA60-5B26-1A510C83F47E}"/>
                </a:ext>
              </a:extLst>
            </p:cNvPr>
            <p:cNvSpPr/>
            <p:nvPr/>
          </p:nvSpPr>
          <p:spPr>
            <a:xfrm>
              <a:off x="9970651" y="6285411"/>
              <a:ext cx="347472" cy="274320"/>
            </a:xfrm>
            <a:prstGeom prst="rect">
              <a:avLst/>
            </a:prstGeom>
            <a:blipFill dpi="0" rotWithShape="1">
              <a:blip r:embed="rId3">
                <a:alphaModFix amt="50000"/>
              </a:blip>
              <a:srcRect/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3742608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B2B2B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B2B2B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B2B2B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B2B2B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0958AD-A9C7-7A71-B5AA-9F1A420CA6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63CDE3-FF6D-1769-A9A2-9EED3C4FD1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Continuous Delivery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BA7B3D-80E8-B325-F395-0C7A54BB766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749836"/>
          </a:xfrm>
        </p:spPr>
        <p:txBody>
          <a:bodyPr>
            <a:normAutofit/>
          </a:bodyPr>
          <a:lstStyle/>
          <a:p>
            <a:r>
              <a:rPr lang="en-US" dirty="0"/>
              <a:t>Takes the artifacts from CI and deploys them automatically</a:t>
            </a:r>
          </a:p>
          <a:p>
            <a:r>
              <a:rPr lang="en-US" dirty="0"/>
              <a:t>Doesn’t deploy all the way to Production</a:t>
            </a:r>
          </a:p>
          <a:p>
            <a:r>
              <a:rPr lang="en-US" dirty="0"/>
              <a:t>Deploying to Production is a button click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C86A16AC-4E11-7014-B5BC-62D52CBBDE13}"/>
              </a:ext>
            </a:extLst>
          </p:cNvPr>
          <p:cNvGrpSpPr/>
          <p:nvPr/>
        </p:nvGrpSpPr>
        <p:grpSpPr>
          <a:xfrm>
            <a:off x="9970651" y="6185410"/>
            <a:ext cx="2130724" cy="474323"/>
            <a:chOff x="9970651" y="6185410"/>
            <a:chExt cx="2130724" cy="474323"/>
          </a:xfrm>
        </p:grpSpPr>
        <p:sp>
          <p:nvSpPr>
            <p:cNvPr id="5" name="Subtitle 2">
              <a:extLst>
                <a:ext uri="{FF2B5EF4-FFF2-40B4-BE49-F238E27FC236}">
                  <a16:creationId xmlns:a16="http://schemas.microsoft.com/office/drawing/2014/main" id="{187DDDD9-BC4F-6D58-4E00-9E9F712E2257}"/>
                </a:ext>
              </a:extLst>
            </p:cNvPr>
            <p:cNvSpPr txBox="1">
              <a:spLocks/>
            </p:cNvSpPr>
            <p:nvPr/>
          </p:nvSpPr>
          <p:spPr>
            <a:xfrm>
              <a:off x="10041147" y="6185410"/>
              <a:ext cx="2060228" cy="474323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 err="1">
                  <a:solidFill>
                    <a:schemeClr val="bg1">
                      <a:lumMod val="65000"/>
                    </a:schemeClr>
                  </a:solidFill>
                </a:rPr>
                <a:t>scottsauber</a:t>
              </a:r>
              <a:endParaRPr lang="en-US" dirty="0">
                <a:solidFill>
                  <a:schemeClr val="bg1">
                    <a:lumMod val="65000"/>
                  </a:schemeClr>
                </a:solidFill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BE941D8A-4239-9FBB-00D4-6B3A3775F5F4}"/>
                </a:ext>
              </a:extLst>
            </p:cNvPr>
            <p:cNvSpPr/>
            <p:nvPr/>
          </p:nvSpPr>
          <p:spPr>
            <a:xfrm>
              <a:off x="9970651" y="6285411"/>
              <a:ext cx="347472" cy="274320"/>
            </a:xfrm>
            <a:prstGeom prst="rect">
              <a:avLst/>
            </a:prstGeom>
            <a:blipFill dpi="0" rotWithShape="1">
              <a:blip r:embed="rId3">
                <a:alphaModFix amt="50000"/>
              </a:blip>
              <a:srcRect/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7875176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B2B2B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B2B2B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B2B2B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7E83F5-2153-0B2D-A6CE-92E35CDF2C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536D05-2F99-F6E9-C3BF-8073FBF68E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Continuous Deployment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EB413D-3329-0E0C-6C6B-ADFF069544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749836"/>
          </a:xfrm>
        </p:spPr>
        <p:txBody>
          <a:bodyPr>
            <a:normAutofit/>
          </a:bodyPr>
          <a:lstStyle/>
          <a:p>
            <a:r>
              <a:rPr lang="en-US" dirty="0"/>
              <a:t>Deploys all the way to Production automatically</a:t>
            </a:r>
          </a:p>
          <a:p>
            <a:r>
              <a:rPr lang="en-US" dirty="0"/>
              <a:t>If the pipeline is green, it’s going to Production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D5B208A-EFD7-B687-3551-FB99750C4F85}"/>
              </a:ext>
            </a:extLst>
          </p:cNvPr>
          <p:cNvGrpSpPr/>
          <p:nvPr/>
        </p:nvGrpSpPr>
        <p:grpSpPr>
          <a:xfrm>
            <a:off x="9970651" y="6185410"/>
            <a:ext cx="2130724" cy="474323"/>
            <a:chOff x="9970651" y="6185410"/>
            <a:chExt cx="2130724" cy="474323"/>
          </a:xfrm>
        </p:grpSpPr>
        <p:sp>
          <p:nvSpPr>
            <p:cNvPr id="5" name="Subtitle 2">
              <a:extLst>
                <a:ext uri="{FF2B5EF4-FFF2-40B4-BE49-F238E27FC236}">
                  <a16:creationId xmlns:a16="http://schemas.microsoft.com/office/drawing/2014/main" id="{04610DA1-6A01-6F29-3BC4-9C1CBB431D88}"/>
                </a:ext>
              </a:extLst>
            </p:cNvPr>
            <p:cNvSpPr txBox="1">
              <a:spLocks/>
            </p:cNvSpPr>
            <p:nvPr/>
          </p:nvSpPr>
          <p:spPr>
            <a:xfrm>
              <a:off x="10041147" y="6185410"/>
              <a:ext cx="2060228" cy="474323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 err="1">
                  <a:solidFill>
                    <a:schemeClr val="bg1">
                      <a:lumMod val="65000"/>
                    </a:schemeClr>
                  </a:solidFill>
                </a:rPr>
                <a:t>scottsauber</a:t>
              </a:r>
              <a:endParaRPr lang="en-US" dirty="0">
                <a:solidFill>
                  <a:schemeClr val="bg1">
                    <a:lumMod val="65000"/>
                  </a:schemeClr>
                </a:solidFill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092E88CA-289A-417E-E27F-8016EA03A437}"/>
                </a:ext>
              </a:extLst>
            </p:cNvPr>
            <p:cNvSpPr/>
            <p:nvPr/>
          </p:nvSpPr>
          <p:spPr>
            <a:xfrm>
              <a:off x="9970651" y="6285411"/>
              <a:ext cx="347472" cy="274320"/>
            </a:xfrm>
            <a:prstGeom prst="rect">
              <a:avLst/>
            </a:prstGeom>
            <a:blipFill dpi="0" rotWithShape="1">
              <a:blip r:embed="rId3">
                <a:alphaModFix amt="50000"/>
              </a:blip>
              <a:srcRect/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41937190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B2B2B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B2B2B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2D1132-F44F-75BF-DC6E-B1B1BFB687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23ACA1-E393-75ED-BB51-FDDA161E84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Confident Green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483343-6A99-304B-CB35-1C987B5870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749836"/>
          </a:xfrm>
        </p:spPr>
        <p:txBody>
          <a:bodyPr>
            <a:normAutofit/>
          </a:bodyPr>
          <a:lstStyle/>
          <a:p>
            <a:r>
              <a:rPr lang="en-US" dirty="0"/>
              <a:t>If our build passes – why aren’t we shipping to Production?</a:t>
            </a:r>
          </a:p>
          <a:p>
            <a:r>
              <a:rPr lang="en-US" dirty="0"/>
              <a:t>Likely lack of confidence</a:t>
            </a:r>
          </a:p>
          <a:p>
            <a:r>
              <a:rPr lang="en-US" dirty="0"/>
              <a:t>Likely missing automated tests or zero downtime deployments, let’s fix that</a:t>
            </a:r>
          </a:p>
          <a:p>
            <a:r>
              <a:rPr lang="en-US" dirty="0"/>
              <a:t>Ok now why?</a:t>
            </a:r>
          </a:p>
          <a:p>
            <a:r>
              <a:rPr lang="en-US" dirty="0"/>
              <a:t>Repeat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3CE23C61-2E4A-36CA-8675-CB23056940BD}"/>
              </a:ext>
            </a:extLst>
          </p:cNvPr>
          <p:cNvGrpSpPr/>
          <p:nvPr/>
        </p:nvGrpSpPr>
        <p:grpSpPr>
          <a:xfrm>
            <a:off x="9970651" y="6185410"/>
            <a:ext cx="2130724" cy="474323"/>
            <a:chOff x="9970651" y="6185410"/>
            <a:chExt cx="2130724" cy="474323"/>
          </a:xfrm>
        </p:grpSpPr>
        <p:sp>
          <p:nvSpPr>
            <p:cNvPr id="5" name="Subtitle 2">
              <a:extLst>
                <a:ext uri="{FF2B5EF4-FFF2-40B4-BE49-F238E27FC236}">
                  <a16:creationId xmlns:a16="http://schemas.microsoft.com/office/drawing/2014/main" id="{4904AA7B-C46E-63F9-8093-47D52A14635A}"/>
                </a:ext>
              </a:extLst>
            </p:cNvPr>
            <p:cNvSpPr txBox="1">
              <a:spLocks/>
            </p:cNvSpPr>
            <p:nvPr/>
          </p:nvSpPr>
          <p:spPr>
            <a:xfrm>
              <a:off x="10041147" y="6185410"/>
              <a:ext cx="2060228" cy="474323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 err="1">
                  <a:solidFill>
                    <a:schemeClr val="bg1">
                      <a:lumMod val="65000"/>
                    </a:schemeClr>
                  </a:solidFill>
                </a:rPr>
                <a:t>scottsauber</a:t>
              </a:r>
              <a:endParaRPr lang="en-US" dirty="0">
                <a:solidFill>
                  <a:schemeClr val="bg1">
                    <a:lumMod val="65000"/>
                  </a:schemeClr>
                </a:solidFill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4C249648-B19F-F457-71C2-B8686F941FEE}"/>
                </a:ext>
              </a:extLst>
            </p:cNvPr>
            <p:cNvSpPr/>
            <p:nvPr/>
          </p:nvSpPr>
          <p:spPr>
            <a:xfrm>
              <a:off x="9970651" y="6285411"/>
              <a:ext cx="347472" cy="274320"/>
            </a:xfrm>
            <a:prstGeom prst="rect">
              <a:avLst/>
            </a:prstGeom>
            <a:blipFill dpi="0" rotWithShape="1">
              <a:blip r:embed="rId3">
                <a:alphaModFix amt="50000"/>
              </a:blip>
              <a:srcRect/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1805530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B2B2B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B2B2B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B2B2B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B2B2B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B2B2B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5B7D4A-A5AE-85A3-CA7B-6827935A08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BBBA82-F728-F065-BF75-0AA3080235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Before CI/CD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D2ADEBF1-D9CD-BD44-7D22-E961BF10F628}"/>
              </a:ext>
            </a:extLst>
          </p:cNvPr>
          <p:cNvGrpSpPr/>
          <p:nvPr/>
        </p:nvGrpSpPr>
        <p:grpSpPr>
          <a:xfrm>
            <a:off x="9970651" y="6185410"/>
            <a:ext cx="2130724" cy="474323"/>
            <a:chOff x="9970651" y="6185410"/>
            <a:chExt cx="2130724" cy="474323"/>
          </a:xfrm>
        </p:grpSpPr>
        <p:sp>
          <p:nvSpPr>
            <p:cNvPr id="5" name="Subtitle 2">
              <a:extLst>
                <a:ext uri="{FF2B5EF4-FFF2-40B4-BE49-F238E27FC236}">
                  <a16:creationId xmlns:a16="http://schemas.microsoft.com/office/drawing/2014/main" id="{4BAA261D-4693-5EA2-9904-5ADA6DD26115}"/>
                </a:ext>
              </a:extLst>
            </p:cNvPr>
            <p:cNvSpPr txBox="1">
              <a:spLocks/>
            </p:cNvSpPr>
            <p:nvPr/>
          </p:nvSpPr>
          <p:spPr>
            <a:xfrm>
              <a:off x="10041147" y="6185410"/>
              <a:ext cx="2060228" cy="474323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 err="1">
                  <a:solidFill>
                    <a:schemeClr val="bg1">
                      <a:lumMod val="65000"/>
                    </a:schemeClr>
                  </a:solidFill>
                </a:rPr>
                <a:t>scottsauber</a:t>
              </a:r>
              <a:endParaRPr lang="en-US" dirty="0">
                <a:solidFill>
                  <a:schemeClr val="bg1">
                    <a:lumMod val="65000"/>
                  </a:schemeClr>
                </a:solidFill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81E6FC48-42F2-18AA-D007-B38782E4F382}"/>
                </a:ext>
              </a:extLst>
            </p:cNvPr>
            <p:cNvSpPr/>
            <p:nvPr/>
          </p:nvSpPr>
          <p:spPr>
            <a:xfrm>
              <a:off x="9970651" y="6285411"/>
              <a:ext cx="347472" cy="274320"/>
            </a:xfrm>
            <a:prstGeom prst="rect">
              <a:avLst/>
            </a:prstGeom>
            <a:blipFill dpi="0" rotWithShape="1">
              <a:blip r:embed="rId3">
                <a:alphaModFix amt="50000"/>
              </a:blip>
              <a:srcRect/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9" name="Picture 8">
            <a:extLst>
              <a:ext uri="{FF2B5EF4-FFF2-40B4-BE49-F238E27FC236}">
                <a16:creationId xmlns:a16="http://schemas.microsoft.com/office/drawing/2014/main" id="{BF5F0253-6AE6-0F00-89AB-D6193D804C7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9130" y="2097953"/>
            <a:ext cx="9395385" cy="37443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0805243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6B169C-B707-4CDF-E228-BEB5C57459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12FFF1-36AC-7F76-CB1E-35D766309F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After CI/CD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9BBBD1A9-3B60-CB11-BD45-CCE7CA6F7E7A}"/>
              </a:ext>
            </a:extLst>
          </p:cNvPr>
          <p:cNvGrpSpPr/>
          <p:nvPr/>
        </p:nvGrpSpPr>
        <p:grpSpPr>
          <a:xfrm>
            <a:off x="9970651" y="6185410"/>
            <a:ext cx="2130724" cy="474323"/>
            <a:chOff x="9970651" y="6185410"/>
            <a:chExt cx="2130724" cy="474323"/>
          </a:xfrm>
        </p:grpSpPr>
        <p:sp>
          <p:nvSpPr>
            <p:cNvPr id="5" name="Subtitle 2">
              <a:extLst>
                <a:ext uri="{FF2B5EF4-FFF2-40B4-BE49-F238E27FC236}">
                  <a16:creationId xmlns:a16="http://schemas.microsoft.com/office/drawing/2014/main" id="{2C13BED3-ABC0-96C1-46C1-F93613B9AF92}"/>
                </a:ext>
              </a:extLst>
            </p:cNvPr>
            <p:cNvSpPr txBox="1">
              <a:spLocks/>
            </p:cNvSpPr>
            <p:nvPr/>
          </p:nvSpPr>
          <p:spPr>
            <a:xfrm>
              <a:off x="10041147" y="6185410"/>
              <a:ext cx="2060228" cy="474323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 err="1">
                  <a:solidFill>
                    <a:schemeClr val="bg1">
                      <a:lumMod val="65000"/>
                    </a:schemeClr>
                  </a:solidFill>
                </a:rPr>
                <a:t>scottsauber</a:t>
              </a:r>
              <a:endParaRPr lang="en-US" dirty="0">
                <a:solidFill>
                  <a:schemeClr val="bg1">
                    <a:lumMod val="65000"/>
                  </a:schemeClr>
                </a:solidFill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906759F7-0A81-367F-0E9E-F1E99AE2EA54}"/>
                </a:ext>
              </a:extLst>
            </p:cNvPr>
            <p:cNvSpPr/>
            <p:nvPr/>
          </p:nvSpPr>
          <p:spPr>
            <a:xfrm>
              <a:off x="9970651" y="6285411"/>
              <a:ext cx="347472" cy="274320"/>
            </a:xfrm>
            <a:prstGeom prst="rect">
              <a:avLst/>
            </a:prstGeom>
            <a:blipFill dpi="0" rotWithShape="1">
              <a:blip r:embed="rId3">
                <a:alphaModFix amt="50000"/>
              </a:blip>
              <a:srcRect/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3" name="Picture 2">
            <a:extLst>
              <a:ext uri="{FF2B5EF4-FFF2-40B4-BE49-F238E27FC236}">
                <a16:creationId xmlns:a16="http://schemas.microsoft.com/office/drawing/2014/main" id="{57907AB7-0345-23D3-E283-70867FE83DC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2994" y="1857902"/>
            <a:ext cx="10213301" cy="40703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3231864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B36446-6129-0097-287E-78E3FBD592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EE75E5-17B4-B426-F4E4-B3497C7B5C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What’s in a Pipeline?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C47055A9-CD0C-3F73-5C19-2CDA382B992F}"/>
              </a:ext>
            </a:extLst>
          </p:cNvPr>
          <p:cNvGrpSpPr/>
          <p:nvPr/>
        </p:nvGrpSpPr>
        <p:grpSpPr>
          <a:xfrm>
            <a:off x="9970651" y="6185410"/>
            <a:ext cx="2130724" cy="474323"/>
            <a:chOff x="9970651" y="6185410"/>
            <a:chExt cx="2130724" cy="474323"/>
          </a:xfrm>
        </p:grpSpPr>
        <p:sp>
          <p:nvSpPr>
            <p:cNvPr id="5" name="Subtitle 2">
              <a:extLst>
                <a:ext uri="{FF2B5EF4-FFF2-40B4-BE49-F238E27FC236}">
                  <a16:creationId xmlns:a16="http://schemas.microsoft.com/office/drawing/2014/main" id="{847B2D18-2A1A-C059-A585-216B570CD016}"/>
                </a:ext>
              </a:extLst>
            </p:cNvPr>
            <p:cNvSpPr txBox="1">
              <a:spLocks/>
            </p:cNvSpPr>
            <p:nvPr/>
          </p:nvSpPr>
          <p:spPr>
            <a:xfrm>
              <a:off x="10041147" y="6185410"/>
              <a:ext cx="2060228" cy="474323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 err="1">
                  <a:solidFill>
                    <a:schemeClr val="bg1">
                      <a:lumMod val="65000"/>
                    </a:schemeClr>
                  </a:solidFill>
                </a:rPr>
                <a:t>scottsauber</a:t>
              </a:r>
              <a:endParaRPr lang="en-US" dirty="0">
                <a:solidFill>
                  <a:schemeClr val="bg1">
                    <a:lumMod val="65000"/>
                  </a:schemeClr>
                </a:solidFill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4F86D905-DC13-F8D2-E50F-CA682E580024}"/>
                </a:ext>
              </a:extLst>
            </p:cNvPr>
            <p:cNvSpPr/>
            <p:nvPr/>
          </p:nvSpPr>
          <p:spPr>
            <a:xfrm>
              <a:off x="9970651" y="6285411"/>
              <a:ext cx="347472" cy="274320"/>
            </a:xfrm>
            <a:prstGeom prst="rect">
              <a:avLst/>
            </a:prstGeom>
            <a:blipFill dpi="0" rotWithShape="1">
              <a:blip r:embed="rId3">
                <a:alphaModFix amt="50000"/>
              </a:blip>
              <a:srcRect/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7" name="Picture 6">
            <a:extLst>
              <a:ext uri="{FF2B5EF4-FFF2-40B4-BE49-F238E27FC236}">
                <a16:creationId xmlns:a16="http://schemas.microsoft.com/office/drawing/2014/main" id="{CEA91CFB-4F24-28E1-4B32-86A3A61B090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5201" y="1690688"/>
            <a:ext cx="9648089" cy="43947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2919224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69B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FE7171-AFDD-4862-9A69-284665CD33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326910"/>
            <a:ext cx="12192000" cy="2747938"/>
          </a:xfrm>
        </p:spPr>
        <p:txBody>
          <a:bodyPr>
            <a:normAutofit/>
          </a:bodyPr>
          <a:lstStyle/>
          <a:p>
            <a:r>
              <a:rPr lang="en-US" sz="9600" b="1" dirty="0">
                <a:solidFill>
                  <a:schemeClr val="bg1"/>
                </a:solidFill>
                <a:latin typeface="+mn-lt"/>
                <a:ea typeface="Open Sans" panose="020B0606030504020204" pitchFamily="34" charset="0"/>
                <a:cs typeface="Open Sans" panose="020B0606030504020204" pitchFamily="34" charset="0"/>
              </a:rPr>
              <a:t>GitHub Actions</a:t>
            </a:r>
          </a:p>
        </p:txBody>
      </p:sp>
      <p:pic>
        <p:nvPicPr>
          <p:cNvPr id="4098" name="Picture 2" descr="What is GitHub? — Pythia Foundations">
            <a:extLst>
              <a:ext uri="{FF2B5EF4-FFF2-40B4-BE49-F238E27FC236}">
                <a16:creationId xmlns:a16="http://schemas.microsoft.com/office/drawing/2014/main" id="{6E0DB4C6-4724-3888-0D99-1BD27A5D3D8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06373" y="3259442"/>
            <a:ext cx="5579253" cy="31383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58200045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A23ADC-2D27-0AA7-4F9C-CD2EB8CCED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FF7A57-DA1F-9956-D24A-4F3A0AC438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What is GitHub Actions?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053F15-A75B-EDC5-3ED9-91DD9C4653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749836"/>
          </a:xfrm>
        </p:spPr>
        <p:txBody>
          <a:bodyPr>
            <a:normAutofit/>
          </a:bodyPr>
          <a:lstStyle/>
          <a:p>
            <a:r>
              <a:rPr lang="en-US" dirty="0"/>
              <a:t>Thing doer on a trigger</a:t>
            </a:r>
          </a:p>
          <a:p>
            <a:r>
              <a:rPr lang="en-US" dirty="0"/>
              <a:t>Trigger could be PR, push to main branch, open an issue, </a:t>
            </a:r>
            <a:r>
              <a:rPr lang="en-US" dirty="0" err="1"/>
              <a:t>etc</a:t>
            </a:r>
            <a:endParaRPr lang="en-US" dirty="0"/>
          </a:p>
          <a:p>
            <a:r>
              <a:rPr lang="en-US" dirty="0"/>
              <a:t>Automatically build and deploys your application</a:t>
            </a:r>
          </a:p>
          <a:p>
            <a:r>
              <a:rPr lang="en-US" dirty="0"/>
              <a:t>Including the infrastructure (i.e. Bicep) and Database Migrations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B43D0DE2-CFD0-9661-1A46-8FE5C586D401}"/>
              </a:ext>
            </a:extLst>
          </p:cNvPr>
          <p:cNvGrpSpPr/>
          <p:nvPr/>
        </p:nvGrpSpPr>
        <p:grpSpPr>
          <a:xfrm>
            <a:off x="9970651" y="6185410"/>
            <a:ext cx="2130724" cy="474323"/>
            <a:chOff x="9970651" y="6185410"/>
            <a:chExt cx="2130724" cy="474323"/>
          </a:xfrm>
        </p:grpSpPr>
        <p:sp>
          <p:nvSpPr>
            <p:cNvPr id="5" name="Subtitle 2">
              <a:extLst>
                <a:ext uri="{FF2B5EF4-FFF2-40B4-BE49-F238E27FC236}">
                  <a16:creationId xmlns:a16="http://schemas.microsoft.com/office/drawing/2014/main" id="{66B2E8B6-488F-4612-0A7E-1FF7F4C9C79F}"/>
                </a:ext>
              </a:extLst>
            </p:cNvPr>
            <p:cNvSpPr txBox="1">
              <a:spLocks/>
            </p:cNvSpPr>
            <p:nvPr/>
          </p:nvSpPr>
          <p:spPr>
            <a:xfrm>
              <a:off x="10041147" y="6185410"/>
              <a:ext cx="2060228" cy="474323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 err="1">
                  <a:solidFill>
                    <a:schemeClr val="bg1">
                      <a:lumMod val="65000"/>
                    </a:schemeClr>
                  </a:solidFill>
                </a:rPr>
                <a:t>scottsauber</a:t>
              </a:r>
              <a:endParaRPr lang="en-US" dirty="0">
                <a:solidFill>
                  <a:schemeClr val="bg1">
                    <a:lumMod val="65000"/>
                  </a:schemeClr>
                </a:solidFill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551CDF52-5461-52A0-5CB2-2ECF85FE090E}"/>
                </a:ext>
              </a:extLst>
            </p:cNvPr>
            <p:cNvSpPr/>
            <p:nvPr/>
          </p:nvSpPr>
          <p:spPr>
            <a:xfrm>
              <a:off x="9970651" y="6285411"/>
              <a:ext cx="347472" cy="274320"/>
            </a:xfrm>
            <a:prstGeom prst="rect">
              <a:avLst/>
            </a:prstGeom>
            <a:blipFill dpi="0" rotWithShape="1">
              <a:blip r:embed="rId3">
                <a:alphaModFix amt="50000"/>
              </a:blip>
              <a:srcRect/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0266672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B2B2B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B2B2B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B2B2B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B2B2B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Concepts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749836"/>
          </a:xfrm>
        </p:spPr>
        <p:txBody>
          <a:bodyPr>
            <a:normAutofit/>
          </a:bodyPr>
          <a:lstStyle/>
          <a:p>
            <a:r>
              <a:rPr lang="en-US" dirty="0"/>
              <a:t>Workflows</a:t>
            </a:r>
          </a:p>
          <a:p>
            <a:r>
              <a:rPr lang="en-US" dirty="0"/>
              <a:t>Triggers</a:t>
            </a:r>
          </a:p>
          <a:p>
            <a:r>
              <a:rPr lang="en-US" dirty="0"/>
              <a:t>Jobs</a:t>
            </a:r>
          </a:p>
          <a:p>
            <a:r>
              <a:rPr lang="en-US" dirty="0"/>
              <a:t>Steps</a:t>
            </a:r>
          </a:p>
          <a:p>
            <a:r>
              <a:rPr lang="en-US" dirty="0"/>
              <a:t>Inputs</a:t>
            </a:r>
          </a:p>
          <a:p>
            <a:r>
              <a:rPr lang="en-US" dirty="0"/>
              <a:t>Secrets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B04A2ACA-FF87-8A20-6F8F-BFF8BF708272}"/>
              </a:ext>
            </a:extLst>
          </p:cNvPr>
          <p:cNvGrpSpPr/>
          <p:nvPr/>
        </p:nvGrpSpPr>
        <p:grpSpPr>
          <a:xfrm>
            <a:off x="9970651" y="6185410"/>
            <a:ext cx="2130724" cy="474323"/>
            <a:chOff x="9970651" y="6185410"/>
            <a:chExt cx="2130724" cy="474323"/>
          </a:xfrm>
        </p:grpSpPr>
        <p:sp>
          <p:nvSpPr>
            <p:cNvPr id="5" name="Subtitle 2">
              <a:extLst>
                <a:ext uri="{FF2B5EF4-FFF2-40B4-BE49-F238E27FC236}">
                  <a16:creationId xmlns:a16="http://schemas.microsoft.com/office/drawing/2014/main" id="{5258820E-D2AE-6AE9-CDB9-EAC898D35AC7}"/>
                </a:ext>
              </a:extLst>
            </p:cNvPr>
            <p:cNvSpPr txBox="1">
              <a:spLocks/>
            </p:cNvSpPr>
            <p:nvPr/>
          </p:nvSpPr>
          <p:spPr>
            <a:xfrm>
              <a:off x="10041147" y="6185410"/>
              <a:ext cx="2060228" cy="474323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 err="1">
                  <a:solidFill>
                    <a:schemeClr val="bg1">
                      <a:lumMod val="65000"/>
                    </a:schemeClr>
                  </a:solidFill>
                </a:rPr>
                <a:t>scottsauber</a:t>
              </a:r>
              <a:endParaRPr lang="en-US" dirty="0">
                <a:solidFill>
                  <a:schemeClr val="bg1">
                    <a:lumMod val="65000"/>
                  </a:schemeClr>
                </a:solidFill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5D74B29E-2554-BA60-5B26-1A510C83F47E}"/>
                </a:ext>
              </a:extLst>
            </p:cNvPr>
            <p:cNvSpPr/>
            <p:nvPr/>
          </p:nvSpPr>
          <p:spPr>
            <a:xfrm>
              <a:off x="9970651" y="6285411"/>
              <a:ext cx="347472" cy="274320"/>
            </a:xfrm>
            <a:prstGeom prst="rect">
              <a:avLst/>
            </a:prstGeom>
            <a:blipFill dpi="0" rotWithShape="1">
              <a:blip r:embed="rId3">
                <a:alphaModFix amt="50000"/>
              </a:blip>
              <a:srcRect/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205299130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What does GitHub Actions Look Like?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B04A2ACA-FF87-8A20-6F8F-BFF8BF708272}"/>
              </a:ext>
            </a:extLst>
          </p:cNvPr>
          <p:cNvGrpSpPr/>
          <p:nvPr/>
        </p:nvGrpSpPr>
        <p:grpSpPr>
          <a:xfrm>
            <a:off x="9970651" y="6185410"/>
            <a:ext cx="2130724" cy="474323"/>
            <a:chOff x="9970651" y="6185410"/>
            <a:chExt cx="2130724" cy="474323"/>
          </a:xfrm>
        </p:grpSpPr>
        <p:sp>
          <p:nvSpPr>
            <p:cNvPr id="5" name="Subtitle 2">
              <a:extLst>
                <a:ext uri="{FF2B5EF4-FFF2-40B4-BE49-F238E27FC236}">
                  <a16:creationId xmlns:a16="http://schemas.microsoft.com/office/drawing/2014/main" id="{5258820E-D2AE-6AE9-CDB9-EAC898D35AC7}"/>
                </a:ext>
              </a:extLst>
            </p:cNvPr>
            <p:cNvSpPr txBox="1">
              <a:spLocks/>
            </p:cNvSpPr>
            <p:nvPr/>
          </p:nvSpPr>
          <p:spPr>
            <a:xfrm>
              <a:off x="10041147" y="6185410"/>
              <a:ext cx="2060228" cy="474323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 err="1">
                  <a:solidFill>
                    <a:schemeClr val="bg1">
                      <a:lumMod val="65000"/>
                    </a:schemeClr>
                  </a:solidFill>
                </a:rPr>
                <a:t>scottsauber</a:t>
              </a:r>
              <a:endParaRPr lang="en-US" dirty="0">
                <a:solidFill>
                  <a:schemeClr val="bg1">
                    <a:lumMod val="65000"/>
                  </a:schemeClr>
                </a:solidFill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5D74B29E-2554-BA60-5B26-1A510C83F47E}"/>
                </a:ext>
              </a:extLst>
            </p:cNvPr>
            <p:cNvSpPr/>
            <p:nvPr/>
          </p:nvSpPr>
          <p:spPr>
            <a:xfrm>
              <a:off x="9970651" y="6285411"/>
              <a:ext cx="347472" cy="274320"/>
            </a:xfrm>
            <a:prstGeom prst="rect">
              <a:avLst/>
            </a:prstGeom>
            <a:blipFill dpi="0" rotWithShape="1">
              <a:blip r:embed="rId3">
                <a:alphaModFix amt="50000"/>
              </a:blip>
              <a:srcRect/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2" name="Picture 11">
            <a:extLst>
              <a:ext uri="{FF2B5EF4-FFF2-40B4-BE49-F238E27FC236}">
                <a16:creationId xmlns:a16="http://schemas.microsoft.com/office/drawing/2014/main" id="{12E483C3-3387-F5B8-CC86-CF0EDA3FA8F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74899" y="1468570"/>
            <a:ext cx="5048287" cy="5191163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2B376C2F-4ABE-A5C1-F8D9-6EE5CDE7441A}"/>
              </a:ext>
            </a:extLst>
          </p:cNvPr>
          <p:cNvSpPr/>
          <p:nvPr/>
        </p:nvSpPr>
        <p:spPr>
          <a:xfrm>
            <a:off x="3676704" y="1468571"/>
            <a:ext cx="3255839" cy="360230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4E3302D-A060-79C7-7C5B-A8ADBAD4DC89}"/>
              </a:ext>
            </a:extLst>
          </p:cNvPr>
          <p:cNvSpPr/>
          <p:nvPr/>
        </p:nvSpPr>
        <p:spPr>
          <a:xfrm>
            <a:off x="3676704" y="2023506"/>
            <a:ext cx="3255839" cy="1127198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0CADE1E-AA2F-6EA6-6E7B-C0B163227D85}"/>
              </a:ext>
            </a:extLst>
          </p:cNvPr>
          <p:cNvSpPr/>
          <p:nvPr/>
        </p:nvSpPr>
        <p:spPr>
          <a:xfrm>
            <a:off x="3676704" y="3214420"/>
            <a:ext cx="3752796" cy="1248249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715ED58-86DF-D0C0-A897-AD96E4E79251}"/>
              </a:ext>
            </a:extLst>
          </p:cNvPr>
          <p:cNvSpPr/>
          <p:nvPr/>
        </p:nvSpPr>
        <p:spPr>
          <a:xfrm>
            <a:off x="4109299" y="4600039"/>
            <a:ext cx="3320201" cy="1959692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71619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2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How do I reuse workflows?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B04A2ACA-FF87-8A20-6F8F-BFF8BF708272}"/>
              </a:ext>
            </a:extLst>
          </p:cNvPr>
          <p:cNvGrpSpPr/>
          <p:nvPr/>
        </p:nvGrpSpPr>
        <p:grpSpPr>
          <a:xfrm>
            <a:off x="9970651" y="6185410"/>
            <a:ext cx="2130724" cy="474323"/>
            <a:chOff x="9970651" y="6185410"/>
            <a:chExt cx="2130724" cy="474323"/>
          </a:xfrm>
        </p:grpSpPr>
        <p:sp>
          <p:nvSpPr>
            <p:cNvPr id="5" name="Subtitle 2">
              <a:extLst>
                <a:ext uri="{FF2B5EF4-FFF2-40B4-BE49-F238E27FC236}">
                  <a16:creationId xmlns:a16="http://schemas.microsoft.com/office/drawing/2014/main" id="{5258820E-D2AE-6AE9-CDB9-EAC898D35AC7}"/>
                </a:ext>
              </a:extLst>
            </p:cNvPr>
            <p:cNvSpPr txBox="1">
              <a:spLocks/>
            </p:cNvSpPr>
            <p:nvPr/>
          </p:nvSpPr>
          <p:spPr>
            <a:xfrm>
              <a:off x="10041147" y="6185410"/>
              <a:ext cx="2060228" cy="474323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 err="1">
                  <a:solidFill>
                    <a:schemeClr val="bg1">
                      <a:lumMod val="65000"/>
                    </a:schemeClr>
                  </a:solidFill>
                </a:rPr>
                <a:t>scottsauber</a:t>
              </a:r>
              <a:endParaRPr lang="en-US" dirty="0">
                <a:solidFill>
                  <a:schemeClr val="bg1">
                    <a:lumMod val="65000"/>
                  </a:schemeClr>
                </a:solidFill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5D74B29E-2554-BA60-5B26-1A510C83F47E}"/>
                </a:ext>
              </a:extLst>
            </p:cNvPr>
            <p:cNvSpPr/>
            <p:nvPr/>
          </p:nvSpPr>
          <p:spPr>
            <a:xfrm>
              <a:off x="9970651" y="6285411"/>
              <a:ext cx="347472" cy="274320"/>
            </a:xfrm>
            <a:prstGeom prst="rect">
              <a:avLst/>
            </a:prstGeom>
            <a:blipFill dpi="0" rotWithShape="1">
              <a:blip r:embed="rId3">
                <a:alphaModFix amt="50000"/>
              </a:blip>
              <a:srcRect/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0" name="Picture 9">
            <a:extLst>
              <a:ext uri="{FF2B5EF4-FFF2-40B4-BE49-F238E27FC236}">
                <a16:creationId xmlns:a16="http://schemas.microsoft.com/office/drawing/2014/main" id="{B3B03860-5922-F040-5AD8-1DFD4228624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59226" y="1467507"/>
            <a:ext cx="7767256" cy="5256957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AC3957D4-E9AD-EC45-88DF-65AE440E37A4}"/>
              </a:ext>
            </a:extLst>
          </p:cNvPr>
          <p:cNvSpPr/>
          <p:nvPr/>
        </p:nvSpPr>
        <p:spPr>
          <a:xfrm>
            <a:off x="4308613" y="6185409"/>
            <a:ext cx="3120887" cy="374321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72954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E88998F1-ED47-B674-9980-D0E822B4929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22922" y="1702138"/>
            <a:ext cx="6212401" cy="488925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How do I reuse workflows?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B04A2ACA-FF87-8A20-6F8F-BFF8BF708272}"/>
              </a:ext>
            </a:extLst>
          </p:cNvPr>
          <p:cNvGrpSpPr/>
          <p:nvPr/>
        </p:nvGrpSpPr>
        <p:grpSpPr>
          <a:xfrm>
            <a:off x="9970651" y="6185410"/>
            <a:ext cx="2130724" cy="474323"/>
            <a:chOff x="9970651" y="6185410"/>
            <a:chExt cx="2130724" cy="474323"/>
          </a:xfrm>
        </p:grpSpPr>
        <p:sp>
          <p:nvSpPr>
            <p:cNvPr id="5" name="Subtitle 2">
              <a:extLst>
                <a:ext uri="{FF2B5EF4-FFF2-40B4-BE49-F238E27FC236}">
                  <a16:creationId xmlns:a16="http://schemas.microsoft.com/office/drawing/2014/main" id="{5258820E-D2AE-6AE9-CDB9-EAC898D35AC7}"/>
                </a:ext>
              </a:extLst>
            </p:cNvPr>
            <p:cNvSpPr txBox="1">
              <a:spLocks/>
            </p:cNvSpPr>
            <p:nvPr/>
          </p:nvSpPr>
          <p:spPr>
            <a:xfrm>
              <a:off x="10041147" y="6185410"/>
              <a:ext cx="2060228" cy="474323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 err="1">
                  <a:solidFill>
                    <a:schemeClr val="bg1">
                      <a:lumMod val="65000"/>
                    </a:schemeClr>
                  </a:solidFill>
                </a:rPr>
                <a:t>scottsauber</a:t>
              </a:r>
              <a:endParaRPr lang="en-US" dirty="0">
                <a:solidFill>
                  <a:schemeClr val="bg1">
                    <a:lumMod val="65000"/>
                  </a:schemeClr>
                </a:solidFill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5D74B29E-2554-BA60-5B26-1A510C83F47E}"/>
                </a:ext>
              </a:extLst>
            </p:cNvPr>
            <p:cNvSpPr/>
            <p:nvPr/>
          </p:nvSpPr>
          <p:spPr>
            <a:xfrm>
              <a:off x="9970651" y="6285411"/>
              <a:ext cx="347472" cy="274320"/>
            </a:xfrm>
            <a:prstGeom prst="rect">
              <a:avLst/>
            </a:prstGeom>
            <a:blipFill dpi="0" rotWithShape="1">
              <a:blip r:embed="rId4">
                <a:alphaModFix amt="50000"/>
              </a:blip>
              <a:srcRect/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1" name="Rectangle 10">
            <a:extLst>
              <a:ext uri="{FF2B5EF4-FFF2-40B4-BE49-F238E27FC236}">
                <a16:creationId xmlns:a16="http://schemas.microsoft.com/office/drawing/2014/main" id="{AC3957D4-E9AD-EC45-88DF-65AE440E37A4}"/>
              </a:ext>
            </a:extLst>
          </p:cNvPr>
          <p:cNvSpPr/>
          <p:nvPr/>
        </p:nvSpPr>
        <p:spPr>
          <a:xfrm>
            <a:off x="2872410" y="2120302"/>
            <a:ext cx="2146852" cy="1288817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25BF272-21BE-64C2-393B-8DDF7F5D08F9}"/>
              </a:ext>
            </a:extLst>
          </p:cNvPr>
          <p:cNvSpPr/>
          <p:nvPr/>
        </p:nvSpPr>
        <p:spPr>
          <a:xfrm>
            <a:off x="4745935" y="6290186"/>
            <a:ext cx="1903343" cy="278986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21162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8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091BC896-CFD0-C5CB-370F-C287D74C06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33779" y="1952072"/>
            <a:ext cx="7705781" cy="397195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How do I consume this reusable workflow?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B04A2ACA-FF87-8A20-6F8F-BFF8BF708272}"/>
              </a:ext>
            </a:extLst>
          </p:cNvPr>
          <p:cNvGrpSpPr/>
          <p:nvPr/>
        </p:nvGrpSpPr>
        <p:grpSpPr>
          <a:xfrm>
            <a:off x="9970651" y="6185410"/>
            <a:ext cx="2130724" cy="474323"/>
            <a:chOff x="9970651" y="6185410"/>
            <a:chExt cx="2130724" cy="474323"/>
          </a:xfrm>
        </p:grpSpPr>
        <p:sp>
          <p:nvSpPr>
            <p:cNvPr id="5" name="Subtitle 2">
              <a:extLst>
                <a:ext uri="{FF2B5EF4-FFF2-40B4-BE49-F238E27FC236}">
                  <a16:creationId xmlns:a16="http://schemas.microsoft.com/office/drawing/2014/main" id="{5258820E-D2AE-6AE9-CDB9-EAC898D35AC7}"/>
                </a:ext>
              </a:extLst>
            </p:cNvPr>
            <p:cNvSpPr txBox="1">
              <a:spLocks/>
            </p:cNvSpPr>
            <p:nvPr/>
          </p:nvSpPr>
          <p:spPr>
            <a:xfrm>
              <a:off x="10041147" y="6185410"/>
              <a:ext cx="2060228" cy="474323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 err="1">
                  <a:solidFill>
                    <a:schemeClr val="bg1">
                      <a:lumMod val="65000"/>
                    </a:schemeClr>
                  </a:solidFill>
                </a:rPr>
                <a:t>scottsauber</a:t>
              </a:r>
              <a:endParaRPr lang="en-US" dirty="0">
                <a:solidFill>
                  <a:schemeClr val="bg1">
                    <a:lumMod val="65000"/>
                  </a:schemeClr>
                </a:solidFill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5D74B29E-2554-BA60-5B26-1A510C83F47E}"/>
                </a:ext>
              </a:extLst>
            </p:cNvPr>
            <p:cNvSpPr/>
            <p:nvPr/>
          </p:nvSpPr>
          <p:spPr>
            <a:xfrm>
              <a:off x="9970651" y="6285411"/>
              <a:ext cx="347472" cy="274320"/>
            </a:xfrm>
            <a:prstGeom prst="rect">
              <a:avLst/>
            </a:prstGeom>
            <a:blipFill dpi="0" rotWithShape="1">
              <a:blip r:embed="rId4">
                <a:alphaModFix amt="50000"/>
              </a:blip>
              <a:srcRect/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1" name="Rectangle 10">
            <a:extLst>
              <a:ext uri="{FF2B5EF4-FFF2-40B4-BE49-F238E27FC236}">
                <a16:creationId xmlns:a16="http://schemas.microsoft.com/office/drawing/2014/main" id="{AC3957D4-E9AD-EC45-88DF-65AE440E37A4}"/>
              </a:ext>
            </a:extLst>
          </p:cNvPr>
          <p:cNvSpPr/>
          <p:nvPr/>
        </p:nvSpPr>
        <p:spPr>
          <a:xfrm>
            <a:off x="3329610" y="4731479"/>
            <a:ext cx="6509949" cy="1090036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33347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9DD5E5B3-984E-5ED9-4FD5-AB598795EB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4006" y="1863971"/>
            <a:ext cx="8543987" cy="4048155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How do I consume this from another repo?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B04A2ACA-FF87-8A20-6F8F-BFF8BF708272}"/>
              </a:ext>
            </a:extLst>
          </p:cNvPr>
          <p:cNvGrpSpPr/>
          <p:nvPr/>
        </p:nvGrpSpPr>
        <p:grpSpPr>
          <a:xfrm>
            <a:off x="9970651" y="6185410"/>
            <a:ext cx="2130724" cy="474323"/>
            <a:chOff x="9970651" y="6185410"/>
            <a:chExt cx="2130724" cy="474323"/>
          </a:xfrm>
        </p:grpSpPr>
        <p:sp>
          <p:nvSpPr>
            <p:cNvPr id="5" name="Subtitle 2">
              <a:extLst>
                <a:ext uri="{FF2B5EF4-FFF2-40B4-BE49-F238E27FC236}">
                  <a16:creationId xmlns:a16="http://schemas.microsoft.com/office/drawing/2014/main" id="{5258820E-D2AE-6AE9-CDB9-EAC898D35AC7}"/>
                </a:ext>
              </a:extLst>
            </p:cNvPr>
            <p:cNvSpPr txBox="1">
              <a:spLocks/>
            </p:cNvSpPr>
            <p:nvPr/>
          </p:nvSpPr>
          <p:spPr>
            <a:xfrm>
              <a:off x="10041147" y="6185410"/>
              <a:ext cx="2060228" cy="474323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 err="1">
                  <a:solidFill>
                    <a:schemeClr val="bg1">
                      <a:lumMod val="65000"/>
                    </a:schemeClr>
                  </a:solidFill>
                </a:rPr>
                <a:t>scottsauber</a:t>
              </a:r>
              <a:endParaRPr lang="en-US" dirty="0">
                <a:solidFill>
                  <a:schemeClr val="bg1">
                    <a:lumMod val="65000"/>
                  </a:schemeClr>
                </a:solidFill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5D74B29E-2554-BA60-5B26-1A510C83F47E}"/>
                </a:ext>
              </a:extLst>
            </p:cNvPr>
            <p:cNvSpPr/>
            <p:nvPr/>
          </p:nvSpPr>
          <p:spPr>
            <a:xfrm>
              <a:off x="9970651" y="6285411"/>
              <a:ext cx="347472" cy="274320"/>
            </a:xfrm>
            <a:prstGeom prst="rect">
              <a:avLst/>
            </a:prstGeom>
            <a:blipFill dpi="0" rotWithShape="1">
              <a:blip r:embed="rId4">
                <a:alphaModFix amt="50000"/>
              </a:blip>
              <a:srcRect/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1" name="Rectangle 10">
            <a:extLst>
              <a:ext uri="{FF2B5EF4-FFF2-40B4-BE49-F238E27FC236}">
                <a16:creationId xmlns:a16="http://schemas.microsoft.com/office/drawing/2014/main" id="{AC3957D4-E9AD-EC45-88DF-65AE440E37A4}"/>
              </a:ext>
            </a:extLst>
          </p:cNvPr>
          <p:cNvSpPr/>
          <p:nvPr/>
        </p:nvSpPr>
        <p:spPr>
          <a:xfrm>
            <a:off x="3091071" y="4607240"/>
            <a:ext cx="6879580" cy="446808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36491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69B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FC9CC28-360D-1240-68CF-6260726747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509207-38AF-F6CE-BADB-3547AE49661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326910"/>
            <a:ext cx="12192000" cy="2747938"/>
          </a:xfrm>
        </p:spPr>
        <p:txBody>
          <a:bodyPr>
            <a:normAutofit/>
          </a:bodyPr>
          <a:lstStyle/>
          <a:p>
            <a:r>
              <a:rPr lang="en-US" sz="9600" b="1" dirty="0">
                <a:solidFill>
                  <a:schemeClr val="bg1"/>
                </a:solidFill>
                <a:latin typeface="+mn-lt"/>
                <a:ea typeface="Open Sans" panose="020B0606030504020204" pitchFamily="34" charset="0"/>
                <a:cs typeface="Open Sans" panose="020B0606030504020204" pitchFamily="34" charset="0"/>
              </a:rPr>
              <a:t>Live Demo</a:t>
            </a:r>
          </a:p>
        </p:txBody>
      </p:sp>
      <p:pic>
        <p:nvPicPr>
          <p:cNvPr id="3" name="Picture 2" descr="What is GitHub? — Pythia Foundations">
            <a:extLst>
              <a:ext uri="{FF2B5EF4-FFF2-40B4-BE49-F238E27FC236}">
                <a16:creationId xmlns:a16="http://schemas.microsoft.com/office/drawing/2014/main" id="{AA2AA4E1-6BF5-2584-FDE9-C0ED85CA588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06373" y="3259442"/>
            <a:ext cx="5579253" cy="31383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36350851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69B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FE7171-AFDD-4862-9A69-284665CD33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326910"/>
            <a:ext cx="12192000" cy="2747938"/>
          </a:xfrm>
        </p:spPr>
        <p:txBody>
          <a:bodyPr>
            <a:normAutofit/>
          </a:bodyPr>
          <a:lstStyle/>
          <a:p>
            <a:r>
              <a:rPr lang="en-US" sz="9600" b="1" dirty="0">
                <a:solidFill>
                  <a:schemeClr val="bg1"/>
                </a:solidFill>
                <a:latin typeface="+mn-lt"/>
                <a:ea typeface="Open Sans" panose="020B0606030504020204" pitchFamily="34" charset="0"/>
                <a:cs typeface="Open Sans" panose="020B0606030504020204" pitchFamily="34" charset="0"/>
              </a:rPr>
              <a:t>Questions?</a:t>
            </a:r>
          </a:p>
        </p:txBody>
      </p:sp>
      <p:pic>
        <p:nvPicPr>
          <p:cNvPr id="3" name="Picture 2" descr="What is GitHub? — Pythia Foundations">
            <a:extLst>
              <a:ext uri="{FF2B5EF4-FFF2-40B4-BE49-F238E27FC236}">
                <a16:creationId xmlns:a16="http://schemas.microsoft.com/office/drawing/2014/main" id="{CAAB97A4-36EF-EB87-AD87-F16A790C96E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06373" y="3259442"/>
            <a:ext cx="5579253" cy="31383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26695376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69B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9357601-8C0F-6219-BB68-03BF361F15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4AF928-2986-608E-005F-9A9A0C42110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326910"/>
            <a:ext cx="12192000" cy="2747938"/>
          </a:xfrm>
        </p:spPr>
        <p:txBody>
          <a:bodyPr>
            <a:normAutofit fontScale="90000"/>
          </a:bodyPr>
          <a:lstStyle/>
          <a:p>
            <a:r>
              <a:rPr lang="en-US" sz="9600" b="1" dirty="0">
                <a:solidFill>
                  <a:schemeClr val="bg1"/>
                </a:solidFill>
                <a:latin typeface="+mn-lt"/>
                <a:ea typeface="Open Sans" panose="020B0606030504020204" pitchFamily="34" charset="0"/>
                <a:cs typeface="Open Sans" panose="020B0606030504020204" pitchFamily="34" charset="0"/>
              </a:rPr>
              <a:t>Hands On for 45 mins</a:t>
            </a:r>
            <a:br>
              <a:rPr lang="en-US" sz="9600" b="1" dirty="0">
                <a:solidFill>
                  <a:schemeClr val="bg1"/>
                </a:solidFill>
                <a:latin typeface="+mn-lt"/>
                <a:ea typeface="Open Sans" panose="020B0606030504020204" pitchFamily="34" charset="0"/>
                <a:cs typeface="Open Sans" panose="020B0606030504020204" pitchFamily="34" charset="0"/>
              </a:rPr>
            </a:br>
            <a:r>
              <a:rPr lang="en-US" sz="4000" b="1" dirty="0">
                <a:solidFill>
                  <a:schemeClr val="bg1"/>
                </a:solidFill>
                <a:latin typeface="+mn-lt"/>
                <a:ea typeface="Open Sans" panose="020B0606030504020204" pitchFamily="34" charset="0"/>
                <a:cs typeface="Open Sans" panose="020B0606030504020204" pitchFamily="34" charset="0"/>
              </a:rPr>
              <a:t>Module 6:</a:t>
            </a:r>
            <a:br>
              <a:rPr lang="en-US" sz="4000" b="1" dirty="0">
                <a:solidFill>
                  <a:schemeClr val="bg1"/>
                </a:solidFill>
                <a:latin typeface="+mn-lt"/>
                <a:ea typeface="Open Sans" panose="020B0606030504020204" pitchFamily="34" charset="0"/>
                <a:cs typeface="Open Sans" panose="020B0606030504020204" pitchFamily="34" charset="0"/>
              </a:rPr>
            </a:br>
            <a:r>
              <a:rPr lang="en-US" sz="3300" b="1" dirty="0">
                <a:solidFill>
                  <a:schemeClr val="bg1"/>
                </a:solidFill>
                <a:latin typeface="+mn-lt"/>
                <a:ea typeface="Open Sans" panose="020B0606030504020204" pitchFamily="34" charset="0"/>
                <a:cs typeface="Open Sans" panose="020B0606030504020204" pitchFamily="34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https://github.com/scottsauber/workshop-dotnet-azure-github-bicep</a:t>
            </a:r>
            <a:r>
              <a:rPr lang="en-US" sz="3300" b="1" dirty="0">
                <a:solidFill>
                  <a:schemeClr val="bg1"/>
                </a:solidFill>
                <a:latin typeface="+mn-lt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</a:p>
        </p:txBody>
      </p:sp>
      <p:pic>
        <p:nvPicPr>
          <p:cNvPr id="3" name="Picture 2" descr="What is GitHub? — Pythia Foundations">
            <a:extLst>
              <a:ext uri="{FF2B5EF4-FFF2-40B4-BE49-F238E27FC236}">
                <a16:creationId xmlns:a16="http://schemas.microsoft.com/office/drawing/2014/main" id="{25A8298F-1A6F-6124-FAF8-8E6D4328DFE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06373" y="3259442"/>
            <a:ext cx="5579253" cy="31383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23346690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863876" cy="1325563"/>
          </a:xfrm>
        </p:spPr>
        <p:txBody>
          <a:bodyPr/>
          <a:lstStyle/>
          <a:p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Bonus: Additional .NET Integrations in modules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4"/>
            <a:ext cx="10863876" cy="4779637"/>
          </a:xfrm>
        </p:spPr>
        <p:txBody>
          <a:bodyPr>
            <a:normAutofit/>
          </a:bodyPr>
          <a:lstStyle/>
          <a:p>
            <a:r>
              <a:rPr lang="en-US" dirty="0"/>
              <a:t>.NET integrations with:</a:t>
            </a:r>
          </a:p>
          <a:p>
            <a:pPr lvl="1"/>
            <a:r>
              <a:rPr lang="en-US" sz="2000" dirty="0"/>
              <a:t>Health Checks</a:t>
            </a:r>
          </a:p>
          <a:p>
            <a:pPr lvl="1"/>
            <a:r>
              <a:rPr lang="en-US" sz="2000" dirty="0"/>
              <a:t>Azure Key Vault</a:t>
            </a:r>
          </a:p>
          <a:p>
            <a:pPr lvl="1"/>
            <a:r>
              <a:rPr lang="en-US" sz="2000" dirty="0"/>
              <a:t>Azure Log Analytics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7DE5378A-6FF0-4624-8085-FEF4C35499EF}"/>
              </a:ext>
            </a:extLst>
          </p:cNvPr>
          <p:cNvGrpSpPr/>
          <p:nvPr/>
        </p:nvGrpSpPr>
        <p:grpSpPr>
          <a:xfrm>
            <a:off x="9970651" y="6185410"/>
            <a:ext cx="2130724" cy="474323"/>
            <a:chOff x="9970651" y="6185410"/>
            <a:chExt cx="2130724" cy="474323"/>
          </a:xfrm>
        </p:grpSpPr>
        <p:sp>
          <p:nvSpPr>
            <p:cNvPr id="6" name="Subtitle 2">
              <a:extLst>
                <a:ext uri="{FF2B5EF4-FFF2-40B4-BE49-F238E27FC236}">
                  <a16:creationId xmlns:a16="http://schemas.microsoft.com/office/drawing/2014/main" id="{9DA2B4CB-38FE-4C6E-8BEE-075F81D8685C}"/>
                </a:ext>
              </a:extLst>
            </p:cNvPr>
            <p:cNvSpPr txBox="1">
              <a:spLocks/>
            </p:cNvSpPr>
            <p:nvPr/>
          </p:nvSpPr>
          <p:spPr>
            <a:xfrm>
              <a:off x="10041147" y="6185410"/>
              <a:ext cx="2060228" cy="474323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 err="1">
                  <a:solidFill>
                    <a:schemeClr val="bg1">
                      <a:lumMod val="65000"/>
                    </a:schemeClr>
                  </a:solidFill>
                </a:rPr>
                <a:t>scottsauber</a:t>
              </a:r>
              <a:endParaRPr lang="en-US" dirty="0">
                <a:solidFill>
                  <a:schemeClr val="bg1">
                    <a:lumMod val="65000"/>
                  </a:schemeClr>
                </a:solidFill>
              </a:endParaRP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2CC1E2DB-378E-4A94-AC9A-4A7142A30669}"/>
                </a:ext>
              </a:extLst>
            </p:cNvPr>
            <p:cNvSpPr/>
            <p:nvPr/>
          </p:nvSpPr>
          <p:spPr>
            <a:xfrm>
              <a:off x="9970651" y="6285411"/>
              <a:ext cx="347472" cy="274320"/>
            </a:xfrm>
            <a:prstGeom prst="rect">
              <a:avLst/>
            </a:prstGeom>
            <a:blipFill dpi="0" rotWithShape="1">
              <a:blip r:embed="rId3">
                <a:alphaModFix amt="50000"/>
              </a:blip>
              <a:srcRect/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5177257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B2B2B2"/>
                                      </p:to>
                                    </p:animClr>
                                  </p:sub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B2B2B2"/>
                                      </p:to>
                                    </p:animClr>
                                  </p:sub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B2B2B2"/>
                                      </p:to>
                                    </p:animClr>
                                  </p:sub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B2B2B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157B52-0575-C499-7191-B6155784DF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897530-6481-CA04-CD5C-F03FC53227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Bonus: GitHub Environments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29F2E1-023B-4526-CB41-57DBF9D731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863876" cy="4779637"/>
          </a:xfrm>
        </p:spPr>
        <p:txBody>
          <a:bodyPr>
            <a:normAutofit/>
          </a:bodyPr>
          <a:lstStyle/>
          <a:p>
            <a:r>
              <a:rPr lang="en-US" dirty="0"/>
              <a:t>GitHub natively has the concept of Environments</a:t>
            </a:r>
          </a:p>
          <a:p>
            <a:r>
              <a:rPr lang="en-US" dirty="0"/>
              <a:t>These environments can have secrets</a:t>
            </a:r>
          </a:p>
          <a:p>
            <a:r>
              <a:rPr lang="en-US" dirty="0"/>
              <a:t>You can also set up Protection Rules on environments</a:t>
            </a:r>
          </a:p>
          <a:p>
            <a:r>
              <a:rPr lang="en-US" dirty="0"/>
              <a:t>Let’s refactor our code to use Environments!</a:t>
            </a:r>
            <a:endParaRPr lang="en-US" sz="2400" dirty="0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E0AD48BA-3376-4011-B9D4-32F90DF3845C}"/>
              </a:ext>
            </a:extLst>
          </p:cNvPr>
          <p:cNvGrpSpPr/>
          <p:nvPr/>
        </p:nvGrpSpPr>
        <p:grpSpPr>
          <a:xfrm>
            <a:off x="9970651" y="6185410"/>
            <a:ext cx="2130724" cy="474323"/>
            <a:chOff x="9970651" y="6185410"/>
            <a:chExt cx="2130724" cy="474323"/>
          </a:xfrm>
        </p:grpSpPr>
        <p:sp>
          <p:nvSpPr>
            <p:cNvPr id="6" name="Subtitle 2">
              <a:extLst>
                <a:ext uri="{FF2B5EF4-FFF2-40B4-BE49-F238E27FC236}">
                  <a16:creationId xmlns:a16="http://schemas.microsoft.com/office/drawing/2014/main" id="{DB638F2D-775B-6336-F9EB-ADE08D0257C9}"/>
                </a:ext>
              </a:extLst>
            </p:cNvPr>
            <p:cNvSpPr txBox="1">
              <a:spLocks/>
            </p:cNvSpPr>
            <p:nvPr/>
          </p:nvSpPr>
          <p:spPr>
            <a:xfrm>
              <a:off x="10041147" y="6185410"/>
              <a:ext cx="2060228" cy="474323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 err="1">
                  <a:solidFill>
                    <a:schemeClr val="bg1">
                      <a:lumMod val="65000"/>
                    </a:schemeClr>
                  </a:solidFill>
                </a:rPr>
                <a:t>scottsauber</a:t>
              </a:r>
              <a:endParaRPr lang="en-US" dirty="0">
                <a:solidFill>
                  <a:schemeClr val="bg1">
                    <a:lumMod val="65000"/>
                  </a:schemeClr>
                </a:solidFill>
              </a:endParaRP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3D4230C3-6A7E-84A7-DCA0-05C5CF5A2702}"/>
                </a:ext>
              </a:extLst>
            </p:cNvPr>
            <p:cNvSpPr/>
            <p:nvPr/>
          </p:nvSpPr>
          <p:spPr>
            <a:xfrm>
              <a:off x="9970651" y="6285411"/>
              <a:ext cx="347472" cy="274320"/>
            </a:xfrm>
            <a:prstGeom prst="rect">
              <a:avLst/>
            </a:prstGeom>
            <a:blipFill dpi="0" rotWithShape="1">
              <a:blip r:embed="rId3">
                <a:alphaModFix amt="50000"/>
              </a:blip>
              <a:srcRect/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4425617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B2B2B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B2B2B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B2B2B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B2B2B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3F1D05-7E9B-49CD-DC12-129B27AFA9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06103B-99A3-ABCE-61CA-2F2D9F50A6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Bonus: PR Checks for Infrastructure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2F8EA2-C1F5-5570-A320-D0B2C92A8E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863876" cy="4779637"/>
          </a:xfrm>
        </p:spPr>
        <p:txBody>
          <a:bodyPr>
            <a:normAutofit/>
          </a:bodyPr>
          <a:lstStyle/>
          <a:p>
            <a:r>
              <a:rPr lang="en-US" dirty="0"/>
              <a:t>When you change some Bicep it’d be nice to know what it’s going to do</a:t>
            </a:r>
          </a:p>
          <a:p>
            <a:r>
              <a:rPr lang="en-US" dirty="0"/>
              <a:t>--</a:t>
            </a:r>
            <a:r>
              <a:rPr lang="en-US" dirty="0" err="1"/>
              <a:t>whatif</a:t>
            </a:r>
            <a:r>
              <a:rPr lang="en-US" dirty="0"/>
              <a:t> for PR’s</a:t>
            </a:r>
          </a:p>
          <a:p>
            <a:r>
              <a:rPr lang="en-US" dirty="0"/>
              <a:t>Have the –</a:t>
            </a:r>
            <a:r>
              <a:rPr lang="en-US" dirty="0" err="1"/>
              <a:t>whatif</a:t>
            </a:r>
            <a:r>
              <a:rPr lang="en-US" dirty="0"/>
              <a:t> comment back on the PR what it’s going to do</a:t>
            </a:r>
          </a:p>
          <a:p>
            <a:r>
              <a:rPr lang="en-US" dirty="0">
                <a:hlinkClick r:id="rId3"/>
              </a:rPr>
              <a:t>Example</a:t>
            </a:r>
            <a:endParaRPr lang="en-US" sz="2400" dirty="0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AC9624F7-7F02-1FBA-A49E-2BEC39CBB8E0}"/>
              </a:ext>
            </a:extLst>
          </p:cNvPr>
          <p:cNvGrpSpPr/>
          <p:nvPr/>
        </p:nvGrpSpPr>
        <p:grpSpPr>
          <a:xfrm>
            <a:off x="9970651" y="6185410"/>
            <a:ext cx="2130724" cy="474323"/>
            <a:chOff x="9970651" y="6185410"/>
            <a:chExt cx="2130724" cy="474323"/>
          </a:xfrm>
        </p:grpSpPr>
        <p:sp>
          <p:nvSpPr>
            <p:cNvPr id="6" name="Subtitle 2">
              <a:extLst>
                <a:ext uri="{FF2B5EF4-FFF2-40B4-BE49-F238E27FC236}">
                  <a16:creationId xmlns:a16="http://schemas.microsoft.com/office/drawing/2014/main" id="{DC7918BF-1A84-ED8C-EB20-E781A4EE80B2}"/>
                </a:ext>
              </a:extLst>
            </p:cNvPr>
            <p:cNvSpPr txBox="1">
              <a:spLocks/>
            </p:cNvSpPr>
            <p:nvPr/>
          </p:nvSpPr>
          <p:spPr>
            <a:xfrm>
              <a:off x="10041147" y="6185410"/>
              <a:ext cx="2060228" cy="474323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 err="1">
                  <a:solidFill>
                    <a:schemeClr val="bg1">
                      <a:lumMod val="65000"/>
                    </a:schemeClr>
                  </a:solidFill>
                </a:rPr>
                <a:t>scottsauber</a:t>
              </a:r>
              <a:endParaRPr lang="en-US" dirty="0">
                <a:solidFill>
                  <a:schemeClr val="bg1">
                    <a:lumMod val="65000"/>
                  </a:schemeClr>
                </a:solidFill>
              </a:endParaRP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57D55A10-AD43-4B0E-F8A8-EAFAE83F0E60}"/>
                </a:ext>
              </a:extLst>
            </p:cNvPr>
            <p:cNvSpPr/>
            <p:nvPr/>
          </p:nvSpPr>
          <p:spPr>
            <a:xfrm>
              <a:off x="9970651" y="6285411"/>
              <a:ext cx="347472" cy="274320"/>
            </a:xfrm>
            <a:prstGeom prst="rect">
              <a:avLst/>
            </a:prstGeom>
            <a:blipFill dpi="0" rotWithShape="1">
              <a:blip r:embed="rId4">
                <a:alphaModFix amt="50000"/>
              </a:blip>
              <a:srcRect/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7573950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B2B2B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B2B2B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B2B2B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B2B2B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3F81C8-D5EB-142A-2A39-99035EA19C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E30283-8992-25FA-5EBC-A04E617193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Bonus: PR Checks for Infrastructure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6C97D9-D372-AFF3-28C0-37C44CEF83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863876" cy="4779637"/>
          </a:xfrm>
        </p:spPr>
        <p:txBody>
          <a:bodyPr>
            <a:normAutofit/>
          </a:bodyPr>
          <a:lstStyle/>
          <a:p>
            <a:r>
              <a:rPr lang="en-US" dirty="0" err="1"/>
              <a:t>Checkov</a:t>
            </a:r>
            <a:r>
              <a:rPr lang="en-US" dirty="0"/>
              <a:t> security scanner</a:t>
            </a:r>
          </a:p>
          <a:p>
            <a:r>
              <a:rPr lang="en-US" dirty="0"/>
              <a:t>Tells you if something is misconfigured</a:t>
            </a:r>
          </a:p>
          <a:p>
            <a:r>
              <a:rPr lang="en-US" dirty="0" err="1"/>
              <a:t>ie</a:t>
            </a:r>
            <a:r>
              <a:rPr lang="en-US" dirty="0"/>
              <a:t> TLS 1.2 is not the minimum TLS setting for an App Service</a:t>
            </a:r>
          </a:p>
          <a:p>
            <a:r>
              <a:rPr lang="en-US" dirty="0"/>
              <a:t>Public Storage Accounts</a:t>
            </a:r>
            <a:endParaRPr lang="en-US" sz="2400" dirty="0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6BC782FD-6C6E-2B00-77F3-ED7224477F9F}"/>
              </a:ext>
            </a:extLst>
          </p:cNvPr>
          <p:cNvGrpSpPr/>
          <p:nvPr/>
        </p:nvGrpSpPr>
        <p:grpSpPr>
          <a:xfrm>
            <a:off x="9970651" y="6185410"/>
            <a:ext cx="2130724" cy="474323"/>
            <a:chOff x="9970651" y="6185410"/>
            <a:chExt cx="2130724" cy="474323"/>
          </a:xfrm>
        </p:grpSpPr>
        <p:sp>
          <p:nvSpPr>
            <p:cNvPr id="6" name="Subtitle 2">
              <a:extLst>
                <a:ext uri="{FF2B5EF4-FFF2-40B4-BE49-F238E27FC236}">
                  <a16:creationId xmlns:a16="http://schemas.microsoft.com/office/drawing/2014/main" id="{57C0FD0A-94C2-A4DB-A149-CCA804C5F334}"/>
                </a:ext>
              </a:extLst>
            </p:cNvPr>
            <p:cNvSpPr txBox="1">
              <a:spLocks/>
            </p:cNvSpPr>
            <p:nvPr/>
          </p:nvSpPr>
          <p:spPr>
            <a:xfrm>
              <a:off x="10041147" y="6185410"/>
              <a:ext cx="2060228" cy="474323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 err="1">
                  <a:solidFill>
                    <a:schemeClr val="bg1">
                      <a:lumMod val="65000"/>
                    </a:schemeClr>
                  </a:solidFill>
                </a:rPr>
                <a:t>scottsauber</a:t>
              </a:r>
              <a:endParaRPr lang="en-US" dirty="0">
                <a:solidFill>
                  <a:schemeClr val="bg1">
                    <a:lumMod val="65000"/>
                  </a:schemeClr>
                </a:solidFill>
              </a:endParaRP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C7F491CC-9C52-7110-DDE4-8D9FD5ED782E}"/>
                </a:ext>
              </a:extLst>
            </p:cNvPr>
            <p:cNvSpPr/>
            <p:nvPr/>
          </p:nvSpPr>
          <p:spPr>
            <a:xfrm>
              <a:off x="9970651" y="6285411"/>
              <a:ext cx="347472" cy="274320"/>
            </a:xfrm>
            <a:prstGeom prst="rect">
              <a:avLst/>
            </a:prstGeom>
            <a:blipFill dpi="0" rotWithShape="1">
              <a:blip r:embed="rId3">
                <a:alphaModFix amt="50000"/>
              </a:blip>
              <a:srcRect/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5796752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B2B2B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B2B2B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B2B2B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B2B2B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80FD0D-3470-7DB6-F3C4-0E8886BD10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C625C394-36AF-D3C4-2D5D-E1AF66602A29}"/>
              </a:ext>
            </a:extLst>
          </p:cNvPr>
          <p:cNvGrpSpPr/>
          <p:nvPr/>
        </p:nvGrpSpPr>
        <p:grpSpPr>
          <a:xfrm>
            <a:off x="9970651" y="6185410"/>
            <a:ext cx="2130724" cy="474323"/>
            <a:chOff x="9970651" y="6185410"/>
            <a:chExt cx="2130724" cy="474323"/>
          </a:xfrm>
        </p:grpSpPr>
        <p:sp>
          <p:nvSpPr>
            <p:cNvPr id="6" name="Subtitle 2">
              <a:extLst>
                <a:ext uri="{FF2B5EF4-FFF2-40B4-BE49-F238E27FC236}">
                  <a16:creationId xmlns:a16="http://schemas.microsoft.com/office/drawing/2014/main" id="{AC344116-A660-25DD-F218-04913C0A5DFE}"/>
                </a:ext>
              </a:extLst>
            </p:cNvPr>
            <p:cNvSpPr txBox="1">
              <a:spLocks/>
            </p:cNvSpPr>
            <p:nvPr/>
          </p:nvSpPr>
          <p:spPr>
            <a:xfrm>
              <a:off x="10041147" y="6185410"/>
              <a:ext cx="2060228" cy="474323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 err="1">
                  <a:solidFill>
                    <a:schemeClr val="bg1">
                      <a:lumMod val="65000"/>
                    </a:schemeClr>
                  </a:solidFill>
                </a:rPr>
                <a:t>scottsauber</a:t>
              </a:r>
              <a:endParaRPr lang="en-US" dirty="0">
                <a:solidFill>
                  <a:schemeClr val="bg1">
                    <a:lumMod val="65000"/>
                  </a:schemeClr>
                </a:solidFill>
              </a:endParaRP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BB6CF897-8EF2-9ECF-BA82-2592AFAB9970}"/>
                </a:ext>
              </a:extLst>
            </p:cNvPr>
            <p:cNvSpPr/>
            <p:nvPr/>
          </p:nvSpPr>
          <p:spPr>
            <a:xfrm>
              <a:off x="9970651" y="6285411"/>
              <a:ext cx="347472" cy="274320"/>
            </a:xfrm>
            <a:prstGeom prst="rect">
              <a:avLst/>
            </a:prstGeom>
            <a:blipFill dpi="0" rotWithShape="1">
              <a:blip r:embed="rId3">
                <a:alphaModFix amt="50000"/>
              </a:blip>
              <a:srcRect/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1" name="Picture 2">
            <a:extLst>
              <a:ext uri="{FF2B5EF4-FFF2-40B4-BE49-F238E27FC236}">
                <a16:creationId xmlns:a16="http://schemas.microsoft.com/office/drawing/2014/main" id="{ADCB336C-F1FC-5BEC-837B-6981A2BE1C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07703" y="306193"/>
            <a:ext cx="7568135" cy="64375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82762603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33B7DF-1AE0-27F8-E7B7-BADB7D4EEA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62584B-8A71-1A27-F7CF-D15042EA78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Takeaways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F97955-F0F2-9135-F362-F556F92E7F4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863876" cy="4779637"/>
          </a:xfrm>
        </p:spPr>
        <p:txBody>
          <a:bodyPr>
            <a:normAutofit/>
          </a:bodyPr>
          <a:lstStyle/>
          <a:p>
            <a:r>
              <a:rPr lang="en-US" dirty="0"/>
              <a:t>How to leverage Azure</a:t>
            </a:r>
          </a:p>
          <a:p>
            <a:r>
              <a:rPr lang="en-US" dirty="0"/>
              <a:t>Why IAC is useful and how Bicep works</a:t>
            </a:r>
          </a:p>
          <a:p>
            <a:r>
              <a:rPr lang="en-US" dirty="0"/>
              <a:t>How to create GitHub Actions and applies IAC to Azure</a:t>
            </a:r>
          </a:p>
          <a:p>
            <a:r>
              <a:rPr lang="en-US" dirty="0"/>
              <a:t>Some takeaway tips even if you had experience with this stuff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C604581C-E8EA-3C98-F204-B21CB5C629EC}"/>
              </a:ext>
            </a:extLst>
          </p:cNvPr>
          <p:cNvGrpSpPr/>
          <p:nvPr/>
        </p:nvGrpSpPr>
        <p:grpSpPr>
          <a:xfrm>
            <a:off x="9970651" y="6185410"/>
            <a:ext cx="2130724" cy="474323"/>
            <a:chOff x="9970651" y="6185410"/>
            <a:chExt cx="2130724" cy="474323"/>
          </a:xfrm>
        </p:grpSpPr>
        <p:sp>
          <p:nvSpPr>
            <p:cNvPr id="6" name="Subtitle 2">
              <a:extLst>
                <a:ext uri="{FF2B5EF4-FFF2-40B4-BE49-F238E27FC236}">
                  <a16:creationId xmlns:a16="http://schemas.microsoft.com/office/drawing/2014/main" id="{001441B3-659F-409B-2C88-43F8A0BCF1B3}"/>
                </a:ext>
              </a:extLst>
            </p:cNvPr>
            <p:cNvSpPr txBox="1">
              <a:spLocks/>
            </p:cNvSpPr>
            <p:nvPr/>
          </p:nvSpPr>
          <p:spPr>
            <a:xfrm>
              <a:off x="10041147" y="6185410"/>
              <a:ext cx="2060228" cy="474323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 err="1">
                  <a:solidFill>
                    <a:schemeClr val="bg1">
                      <a:lumMod val="65000"/>
                    </a:schemeClr>
                  </a:solidFill>
                </a:rPr>
                <a:t>scottsauber</a:t>
              </a:r>
              <a:endParaRPr lang="en-US" dirty="0">
                <a:solidFill>
                  <a:schemeClr val="bg1">
                    <a:lumMod val="65000"/>
                  </a:schemeClr>
                </a:solidFill>
              </a:endParaRP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743303B4-4D14-8815-4FB9-35327CDEE9F5}"/>
                </a:ext>
              </a:extLst>
            </p:cNvPr>
            <p:cNvSpPr/>
            <p:nvPr/>
          </p:nvSpPr>
          <p:spPr>
            <a:xfrm>
              <a:off x="9970651" y="6285411"/>
              <a:ext cx="347472" cy="274320"/>
            </a:xfrm>
            <a:prstGeom prst="rect">
              <a:avLst/>
            </a:prstGeom>
            <a:blipFill dpi="0" rotWithShape="1">
              <a:blip r:embed="rId3">
                <a:alphaModFix amt="50000"/>
              </a:blip>
              <a:srcRect/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4222287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B2B2B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B2B2B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B2B2B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B2B2B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Resources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749836"/>
          </a:xfrm>
        </p:spPr>
        <p:txBody>
          <a:bodyPr>
            <a:normAutofit/>
          </a:bodyPr>
          <a:lstStyle/>
          <a:p>
            <a:r>
              <a:rPr lang="en-US" dirty="0"/>
              <a:t>Slides at scottsauber.com (and in the repo)</a:t>
            </a:r>
          </a:p>
          <a:p>
            <a:r>
              <a:rPr lang="en-US" dirty="0">
                <a:hlinkClick r:id="rId3"/>
              </a:rPr>
              <a:t>https://github.com/scottsauber/workshop-dotnet-azure-github-bicep</a:t>
            </a:r>
            <a:endParaRPr lang="en-US" dirty="0"/>
          </a:p>
          <a:p>
            <a:pPr lvl="1"/>
            <a:r>
              <a:rPr lang="en-US" dirty="0"/>
              <a:t>Main has the “final” state of things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97F2377D-8218-3741-EFFB-1572225ED4C4}"/>
              </a:ext>
            </a:extLst>
          </p:cNvPr>
          <p:cNvGrpSpPr/>
          <p:nvPr/>
        </p:nvGrpSpPr>
        <p:grpSpPr>
          <a:xfrm>
            <a:off x="9970651" y="6160243"/>
            <a:ext cx="2130724" cy="474323"/>
            <a:chOff x="9970651" y="6185410"/>
            <a:chExt cx="2130724" cy="474323"/>
          </a:xfrm>
        </p:grpSpPr>
        <p:sp>
          <p:nvSpPr>
            <p:cNvPr id="5" name="Subtitle 2">
              <a:extLst>
                <a:ext uri="{FF2B5EF4-FFF2-40B4-BE49-F238E27FC236}">
                  <a16:creationId xmlns:a16="http://schemas.microsoft.com/office/drawing/2014/main" id="{8B9D374A-FF4E-DE7F-6593-C9FBFDCBB9D1}"/>
                </a:ext>
              </a:extLst>
            </p:cNvPr>
            <p:cNvSpPr txBox="1">
              <a:spLocks/>
            </p:cNvSpPr>
            <p:nvPr/>
          </p:nvSpPr>
          <p:spPr>
            <a:xfrm>
              <a:off x="10041147" y="6185410"/>
              <a:ext cx="2060228" cy="474323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 err="1">
                  <a:solidFill>
                    <a:schemeClr val="bg1">
                      <a:lumMod val="65000"/>
                    </a:schemeClr>
                  </a:solidFill>
                </a:rPr>
                <a:t>scottsauber</a:t>
              </a:r>
              <a:endParaRPr lang="en-US" dirty="0">
                <a:solidFill>
                  <a:schemeClr val="bg1">
                    <a:lumMod val="65000"/>
                  </a:schemeClr>
                </a:solidFill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9D0155F0-0364-C9C2-3587-5645836F2572}"/>
                </a:ext>
              </a:extLst>
            </p:cNvPr>
            <p:cNvSpPr/>
            <p:nvPr/>
          </p:nvSpPr>
          <p:spPr>
            <a:xfrm>
              <a:off x="9970651" y="6285411"/>
              <a:ext cx="347472" cy="274320"/>
            </a:xfrm>
            <a:prstGeom prst="rect">
              <a:avLst/>
            </a:prstGeom>
            <a:blipFill dpi="0" rotWithShape="1">
              <a:blip r:embed="rId4">
                <a:alphaModFix amt="50000"/>
              </a:blip>
              <a:srcRect/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97620338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69B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961254-86DC-4239-85AC-F87EEB565B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027511"/>
          </a:xfrm>
        </p:spPr>
        <p:txBody>
          <a:bodyPr>
            <a:normAutofit/>
          </a:bodyPr>
          <a:lstStyle/>
          <a:p>
            <a:pPr algn="ctr"/>
            <a:r>
              <a:rPr lang="en-US" sz="7200" dirty="0">
                <a:solidFill>
                  <a:schemeClr val="bg1"/>
                </a:solidFill>
                <a:latin typeface="+mn-lt"/>
              </a:rPr>
              <a:t>Questions?</a:t>
            </a:r>
            <a:br>
              <a:rPr lang="en-US" sz="7200" dirty="0">
                <a:solidFill>
                  <a:schemeClr val="bg1"/>
                </a:solidFill>
                <a:latin typeface="+mn-lt"/>
              </a:rPr>
            </a:br>
            <a:r>
              <a:rPr lang="en-US" sz="2400" dirty="0">
                <a:solidFill>
                  <a:schemeClr val="bg1"/>
                </a:solidFill>
                <a:latin typeface="+mn-lt"/>
              </a:rPr>
              <a:t>Contact: ssauber@leantechniques.com</a:t>
            </a:r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097882A2-4820-4881-9C23-D09EE5DE1AF4}"/>
              </a:ext>
            </a:extLst>
          </p:cNvPr>
          <p:cNvSpPr txBox="1">
            <a:spLocks/>
          </p:cNvSpPr>
          <p:nvPr/>
        </p:nvSpPr>
        <p:spPr>
          <a:xfrm>
            <a:off x="90625" y="3418380"/>
            <a:ext cx="12192000" cy="33710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sz="3600" dirty="0">
              <a:solidFill>
                <a:schemeClr val="bg1"/>
              </a:solidFill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endParaRPr lang="en-US" sz="4000" dirty="0">
              <a:solidFill>
                <a:schemeClr val="bg1"/>
              </a:solidFill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endParaRPr lang="en-US" dirty="0">
              <a:solidFill>
                <a:schemeClr val="bg1"/>
              </a:solidFill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endParaRPr lang="en-US" dirty="0">
              <a:solidFill>
                <a:schemeClr val="bg1"/>
              </a:solidFill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0" indent="0">
              <a:buNone/>
            </a:pPr>
            <a:endParaRPr lang="en-US" dirty="0">
              <a:solidFill>
                <a:schemeClr val="bg1"/>
              </a:solidFill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0" indent="0">
              <a:buNone/>
            </a:pPr>
            <a:r>
              <a:rPr lang="en-US" dirty="0">
                <a:solidFill>
                  <a:schemeClr val="bg1"/>
                </a:solidFill>
                <a:ea typeface="Open Sans" panose="020B0606030504020204" pitchFamily="34" charset="0"/>
                <a:cs typeface="Open Sans" panose="020B0606030504020204" pitchFamily="34" charset="0"/>
              </a:rPr>
              <a:t>Slides at scottsauber.com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339EB71-3B00-E620-7999-0E0B56EBC58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72206" y="2189601"/>
            <a:ext cx="2971936" cy="3060291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77142A0-7D55-44AD-E129-1BB9F7B444D3}"/>
              </a:ext>
            </a:extLst>
          </p:cNvPr>
          <p:cNvSpPr txBox="1"/>
          <p:nvPr/>
        </p:nvSpPr>
        <p:spPr>
          <a:xfrm>
            <a:off x="10160899" y="1792817"/>
            <a:ext cx="22786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Feedback: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CAEDCF79-6369-3312-C72B-E492C2FFC565}"/>
              </a:ext>
            </a:extLst>
          </p:cNvPr>
          <p:cNvSpPr txBox="1">
            <a:spLocks/>
          </p:cNvSpPr>
          <p:nvPr/>
        </p:nvSpPr>
        <p:spPr>
          <a:xfrm>
            <a:off x="5043951" y="4156198"/>
            <a:ext cx="2060228" cy="47432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solidFill>
                  <a:schemeClr val="bg1"/>
                </a:solidFill>
              </a:rPr>
              <a:t>@scottsauber</a:t>
            </a:r>
          </a:p>
        </p:txBody>
      </p:sp>
      <p:pic>
        <p:nvPicPr>
          <p:cNvPr id="1026" name="Picture 2" descr="X Logo, symbol, meaning, history, PNG, brand">
            <a:extLst>
              <a:ext uri="{FF2B5EF4-FFF2-40B4-BE49-F238E27FC236}">
                <a16:creationId xmlns:a16="http://schemas.microsoft.com/office/drawing/2014/main" id="{F43D63E0-A688-C307-CCD2-BB6EF250651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94122" y="4254507"/>
            <a:ext cx="493701" cy="2777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Bluesky and your brand by Heidi Waterhouse">
            <a:extLst>
              <a:ext uri="{FF2B5EF4-FFF2-40B4-BE49-F238E27FC236}">
                <a16:creationId xmlns:a16="http://schemas.microsoft.com/office/drawing/2014/main" id="{1CC8890B-0833-1285-D911-117258AB33F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94122" y="4695819"/>
            <a:ext cx="474323" cy="4743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Subtitle 2">
            <a:extLst>
              <a:ext uri="{FF2B5EF4-FFF2-40B4-BE49-F238E27FC236}">
                <a16:creationId xmlns:a16="http://schemas.microsoft.com/office/drawing/2014/main" id="{17DCEF15-AD0C-D5B5-B282-2784AFF9A20C}"/>
              </a:ext>
            </a:extLst>
          </p:cNvPr>
          <p:cNvSpPr txBox="1">
            <a:spLocks/>
          </p:cNvSpPr>
          <p:nvPr/>
        </p:nvSpPr>
        <p:spPr>
          <a:xfrm>
            <a:off x="4984959" y="4697791"/>
            <a:ext cx="2785071" cy="47432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solidFill>
                  <a:schemeClr val="bg1"/>
                </a:solidFill>
              </a:rPr>
              <a:t>@scottsauber.com</a:t>
            </a:r>
          </a:p>
        </p:txBody>
      </p:sp>
    </p:spTree>
    <p:extLst>
      <p:ext uri="{BB962C8B-B14F-4D97-AF65-F5344CB8AC3E}">
        <p14:creationId xmlns:p14="http://schemas.microsoft.com/office/powerpoint/2010/main" val="910988735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69B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961254-86DC-4239-85AC-F87EEB565B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027511"/>
          </a:xfrm>
        </p:spPr>
        <p:txBody>
          <a:bodyPr>
            <a:normAutofit/>
          </a:bodyPr>
          <a:lstStyle/>
          <a:p>
            <a:pPr algn="ctr"/>
            <a:r>
              <a:rPr lang="en-US" sz="7200" dirty="0">
                <a:solidFill>
                  <a:schemeClr val="bg1"/>
                </a:solidFill>
                <a:latin typeface="+mn-lt"/>
              </a:rPr>
              <a:t>Thanks!</a:t>
            </a: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FD62362D-55B2-4103-A7AF-54CC41B415B4}"/>
              </a:ext>
            </a:extLst>
          </p:cNvPr>
          <p:cNvSpPr txBox="1">
            <a:spLocks/>
          </p:cNvSpPr>
          <p:nvPr/>
        </p:nvSpPr>
        <p:spPr>
          <a:xfrm>
            <a:off x="90625" y="3418380"/>
            <a:ext cx="12192000" cy="33710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sz="3600" dirty="0">
              <a:solidFill>
                <a:schemeClr val="bg1"/>
              </a:solidFill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endParaRPr lang="en-US" sz="4000" dirty="0">
              <a:solidFill>
                <a:schemeClr val="bg1"/>
              </a:solidFill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endParaRPr lang="en-US" dirty="0">
              <a:solidFill>
                <a:schemeClr val="bg1"/>
              </a:solidFill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endParaRPr lang="en-US" dirty="0">
              <a:solidFill>
                <a:schemeClr val="bg1"/>
              </a:solidFill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0" indent="0">
              <a:buNone/>
            </a:pPr>
            <a:endParaRPr lang="en-US" dirty="0">
              <a:solidFill>
                <a:schemeClr val="bg1"/>
              </a:solidFill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0" indent="0">
              <a:buNone/>
            </a:pPr>
            <a:r>
              <a:rPr lang="en-US" dirty="0">
                <a:solidFill>
                  <a:schemeClr val="bg1"/>
                </a:solidFill>
                <a:ea typeface="Open Sans" panose="020B0606030504020204" pitchFamily="34" charset="0"/>
                <a:cs typeface="Open Sans" panose="020B0606030504020204" pitchFamily="34" charset="0"/>
              </a:rPr>
              <a:t>Slides at scottsauber.com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CE0D3713-F3EF-9907-AE2C-81CAE8EE1032}"/>
              </a:ext>
            </a:extLst>
          </p:cNvPr>
          <p:cNvGrpSpPr/>
          <p:nvPr/>
        </p:nvGrpSpPr>
        <p:grpSpPr>
          <a:xfrm>
            <a:off x="10061276" y="6255713"/>
            <a:ext cx="2130724" cy="474323"/>
            <a:chOff x="9970651" y="6185410"/>
            <a:chExt cx="2130724" cy="474323"/>
          </a:xfrm>
        </p:grpSpPr>
        <p:sp>
          <p:nvSpPr>
            <p:cNvPr id="8" name="Subtitle 2">
              <a:extLst>
                <a:ext uri="{FF2B5EF4-FFF2-40B4-BE49-F238E27FC236}">
                  <a16:creationId xmlns:a16="http://schemas.microsoft.com/office/drawing/2014/main" id="{AC058655-0A4D-A435-8AF1-E64E0CA276B5}"/>
                </a:ext>
              </a:extLst>
            </p:cNvPr>
            <p:cNvSpPr txBox="1">
              <a:spLocks/>
            </p:cNvSpPr>
            <p:nvPr/>
          </p:nvSpPr>
          <p:spPr>
            <a:xfrm>
              <a:off x="10041147" y="6185410"/>
              <a:ext cx="2060228" cy="474323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 err="1">
                  <a:solidFill>
                    <a:schemeClr val="bg1"/>
                  </a:solidFill>
                </a:rPr>
                <a:t>scottsauber</a:t>
              </a:r>
              <a:endParaRPr lang="en-US" dirty="0">
                <a:solidFill>
                  <a:schemeClr val="bg1"/>
                </a:solidFill>
              </a:endParaRP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813CAB7E-EB4B-279D-5799-DD0F5243C897}"/>
                </a:ext>
              </a:extLst>
            </p:cNvPr>
            <p:cNvSpPr/>
            <p:nvPr/>
          </p:nvSpPr>
          <p:spPr>
            <a:xfrm>
              <a:off x="9970651" y="6285411"/>
              <a:ext cx="347472" cy="274320"/>
            </a:xfrm>
            <a:prstGeom prst="rect">
              <a:avLst/>
            </a:prstGeom>
            <a:blipFill dpi="0" rotWithShape="1">
              <a:blip r:embed="rId2">
                <a:alphaModFix amt="50000"/>
              </a:blip>
              <a:srcRect/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5" name="Picture 4">
            <a:extLst>
              <a:ext uri="{FF2B5EF4-FFF2-40B4-BE49-F238E27FC236}">
                <a16:creationId xmlns:a16="http://schemas.microsoft.com/office/drawing/2014/main" id="{B2FD6811-DCF1-447D-DA25-EAD18ADD354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72206" y="2189601"/>
            <a:ext cx="2971936" cy="306029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CD7E392F-D126-962A-9E84-ADACEBEDEFFB}"/>
              </a:ext>
            </a:extLst>
          </p:cNvPr>
          <p:cNvSpPr txBox="1"/>
          <p:nvPr/>
        </p:nvSpPr>
        <p:spPr>
          <a:xfrm>
            <a:off x="10160899" y="1792817"/>
            <a:ext cx="22786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Feedback:</a:t>
            </a:r>
          </a:p>
        </p:txBody>
      </p:sp>
    </p:spTree>
    <p:extLst>
      <p:ext uri="{BB962C8B-B14F-4D97-AF65-F5344CB8AC3E}">
        <p14:creationId xmlns:p14="http://schemas.microsoft.com/office/powerpoint/2010/main" val="1819475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52319</TotalTime>
  <Words>1871</Words>
  <Application>Microsoft Office PowerPoint</Application>
  <PresentationFormat>Widescreen</PresentationFormat>
  <Paragraphs>417</Paragraphs>
  <Slides>75</Slides>
  <Notes>74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75</vt:i4>
      </vt:variant>
    </vt:vector>
  </HeadingPairs>
  <TitlesOfParts>
    <vt:vector size="81" baseType="lpstr">
      <vt:lpstr>Arial</vt:lpstr>
      <vt:lpstr>Calibri</vt:lpstr>
      <vt:lpstr>Calibri Light</vt:lpstr>
      <vt:lpstr>Open Sans</vt:lpstr>
      <vt:lpstr>Slack-Lato</vt:lpstr>
      <vt:lpstr>Office Theme</vt:lpstr>
      <vt:lpstr>Deploying a .NET 10 App to Azure using  Bicep and GitHub Actions</vt:lpstr>
      <vt:lpstr>What you need</vt:lpstr>
      <vt:lpstr>What we all need</vt:lpstr>
      <vt:lpstr>Audience</vt:lpstr>
      <vt:lpstr>Poll</vt:lpstr>
      <vt:lpstr>Agenda</vt:lpstr>
      <vt:lpstr>Goals</vt:lpstr>
      <vt:lpstr>Who am I? </vt:lpstr>
      <vt:lpstr>What are we building?</vt:lpstr>
      <vt:lpstr>Features of What We’re Building</vt:lpstr>
      <vt:lpstr>Why is this important?</vt:lpstr>
      <vt:lpstr>PowerPoint Presentation</vt:lpstr>
      <vt:lpstr>PowerPoint Presentation</vt:lpstr>
      <vt:lpstr>Azure</vt:lpstr>
      <vt:lpstr>What is Azure?</vt:lpstr>
      <vt:lpstr>PowerPoint Presentation</vt:lpstr>
      <vt:lpstr>Subscriptions</vt:lpstr>
      <vt:lpstr>Resource Groups</vt:lpstr>
      <vt:lpstr>PowerPoint Presentation</vt:lpstr>
      <vt:lpstr>Questions?</vt:lpstr>
      <vt:lpstr>Azure App Service</vt:lpstr>
      <vt:lpstr>What is Azure App Service?</vt:lpstr>
      <vt:lpstr>What is an Azure App Service Plan?</vt:lpstr>
      <vt:lpstr>$ an issue?</vt:lpstr>
      <vt:lpstr>PowerPoint Presentation</vt:lpstr>
      <vt:lpstr>PowerPoint Presentation</vt:lpstr>
      <vt:lpstr>PowerPoint Presentation</vt:lpstr>
      <vt:lpstr>PowerPoint Presentation</vt:lpstr>
      <vt:lpstr>Live Demo</vt:lpstr>
      <vt:lpstr>Questions?</vt:lpstr>
      <vt:lpstr>Bicep</vt:lpstr>
      <vt:lpstr>Infrastructure as Code (IaC)</vt:lpstr>
      <vt:lpstr>Without IAC</vt:lpstr>
      <vt:lpstr>What is Azure Bicep?</vt:lpstr>
      <vt:lpstr>What does Bicep look like?</vt:lpstr>
      <vt:lpstr>PowerPoint Presentation</vt:lpstr>
      <vt:lpstr>PowerPoint Presentation</vt:lpstr>
      <vt:lpstr>PowerPoint Presentation</vt:lpstr>
      <vt:lpstr>dev.biccepparam file</vt:lpstr>
      <vt:lpstr>But how do I deploy it?</vt:lpstr>
      <vt:lpstr>Key Concepts – Quiz time!</vt:lpstr>
      <vt:lpstr>Benefits</vt:lpstr>
      <vt:lpstr>Additional Resources</vt:lpstr>
      <vt:lpstr>Live Demo</vt:lpstr>
      <vt:lpstr>Questions?</vt:lpstr>
      <vt:lpstr>Break then Hands On</vt:lpstr>
      <vt:lpstr>Hands On for 25 mins Module 4: https://github.com/scottsauber/workshop-dotnet-azure-github-bicep </vt:lpstr>
      <vt:lpstr>CI/CD Pipelines</vt:lpstr>
      <vt:lpstr>Continuous Integration</vt:lpstr>
      <vt:lpstr>Continuous Delivery</vt:lpstr>
      <vt:lpstr>Continuous Deployment</vt:lpstr>
      <vt:lpstr>Confident Green</vt:lpstr>
      <vt:lpstr>Before CI/CD</vt:lpstr>
      <vt:lpstr>After CI/CD</vt:lpstr>
      <vt:lpstr>What’s in a Pipeline?</vt:lpstr>
      <vt:lpstr>GitHub Actions</vt:lpstr>
      <vt:lpstr>What is GitHub Actions?</vt:lpstr>
      <vt:lpstr>Concepts</vt:lpstr>
      <vt:lpstr>What does GitHub Actions Look Like?</vt:lpstr>
      <vt:lpstr>How do I reuse workflows?</vt:lpstr>
      <vt:lpstr>How do I reuse workflows?</vt:lpstr>
      <vt:lpstr>How do I consume this reusable workflow?</vt:lpstr>
      <vt:lpstr>How do I consume this from another repo?</vt:lpstr>
      <vt:lpstr>Live Demo</vt:lpstr>
      <vt:lpstr>Questions?</vt:lpstr>
      <vt:lpstr>Hands On for 45 mins Module 6: https://github.com/scottsauber/workshop-dotnet-azure-github-bicep </vt:lpstr>
      <vt:lpstr>Bonus: Additional .NET Integrations in modules</vt:lpstr>
      <vt:lpstr>Bonus: GitHub Environments</vt:lpstr>
      <vt:lpstr>Bonus: PR Checks for Infrastructure</vt:lpstr>
      <vt:lpstr>Bonus: PR Checks for Infrastructure</vt:lpstr>
      <vt:lpstr>PowerPoint Presentation</vt:lpstr>
      <vt:lpstr>Takeaways</vt:lpstr>
      <vt:lpstr>Resources</vt:lpstr>
      <vt:lpstr>Questions? Contact: ssauber@leantechniques.com</vt:lpstr>
      <vt:lpstr>Thanks!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AzureDotNetBicep Workshop</dc:title>
  <dc:creator>Scott Sauber</dc:creator>
  <cp:lastModifiedBy>Sauber, Scott</cp:lastModifiedBy>
  <cp:revision>535</cp:revision>
  <dcterms:created xsi:type="dcterms:W3CDTF">2020-03-08T20:31:35Z</dcterms:created>
  <dcterms:modified xsi:type="dcterms:W3CDTF">2026-01-13T05:35:50Z</dcterms:modified>
</cp:coreProperties>
</file>